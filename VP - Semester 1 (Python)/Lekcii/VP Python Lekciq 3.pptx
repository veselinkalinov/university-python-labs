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b="def" i="def"/>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b="def" i="def"/>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b="def" i="def"/>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1270000" y="1638300"/>
            <a:ext cx="10464800" cy="3302000"/>
          </a:xfrm>
          <a:prstGeom prst="rect">
            <a:avLst/>
          </a:prstGeom>
        </p:spPr>
        <p:txBody>
          <a:bodyPr anchor="b"/>
          <a:lstStyle/>
          <a:p>
            <a:pPr/>
            <a:r>
              <a:t>Title Text</a:t>
            </a:r>
          </a:p>
        </p:txBody>
      </p:sp>
      <p:sp>
        <p:nvSpPr>
          <p:cNvPr id="12" name="Body Level One…"/>
          <p:cNvSpPr txBox="1"/>
          <p:nvPr>
            <p:ph type="body" sz="quarter" idx="1"/>
          </p:nvPr>
        </p:nvSpPr>
        <p:spPr>
          <a:xfrm>
            <a:off x="1270000" y="5029200"/>
            <a:ext cx="10464800" cy="11303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Image"/>
          <p:cNvSpPr/>
          <p:nvPr>
            <p:ph type="pic" idx="21"/>
          </p:nvPr>
        </p:nvSpPr>
        <p:spPr>
          <a:xfrm>
            <a:off x="1606550" y="635000"/>
            <a:ext cx="9779000" cy="6522729"/>
          </a:xfrm>
          <a:prstGeom prst="rect">
            <a:avLst/>
          </a:prstGeom>
        </p:spPr>
        <p:txBody>
          <a:bodyPr lIns="91439" tIns="45719" rIns="91439" bIns="45719" anchor="t">
            <a:noAutofit/>
          </a:bodyPr>
          <a:lstStyle/>
          <a:p>
            <a:pPr/>
          </a:p>
        </p:txBody>
      </p:sp>
      <p:sp>
        <p:nvSpPr>
          <p:cNvPr id="21" name="Title Text"/>
          <p:cNvSpPr txBox="1"/>
          <p:nvPr>
            <p:ph type="title"/>
          </p:nvPr>
        </p:nvSpPr>
        <p:spPr>
          <a:xfrm>
            <a:off x="1270000" y="6718300"/>
            <a:ext cx="10464800" cy="1422400"/>
          </a:xfrm>
          <a:prstGeom prst="rect">
            <a:avLst/>
          </a:prstGeom>
        </p:spPr>
        <p:txBody>
          <a:bodyPr anchor="b"/>
          <a:lstStyle/>
          <a:p>
            <a:pPr/>
            <a:r>
              <a:t>Title Text</a:t>
            </a:r>
          </a:p>
        </p:txBody>
      </p:sp>
      <p:sp>
        <p:nvSpPr>
          <p:cNvPr id="22" name="Body Level One…"/>
          <p:cNvSpPr txBox="1"/>
          <p:nvPr>
            <p:ph type="body" sz="quarter" idx="1"/>
          </p:nvPr>
        </p:nvSpPr>
        <p:spPr>
          <a:xfrm>
            <a:off x="1270000" y="8191500"/>
            <a:ext cx="10464800" cy="11303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xfrm>
            <a:off x="6311798" y="9245600"/>
            <a:ext cx="368504" cy="3810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er">
    <p:spTree>
      <p:nvGrpSpPr>
        <p:cNvPr id="1" name=""/>
        <p:cNvGrpSpPr/>
        <p:nvPr/>
      </p:nvGrpSpPr>
      <p:grpSpPr>
        <a:xfrm>
          <a:off x="0" y="0"/>
          <a:ext cx="0" cy="0"/>
          <a:chOff x="0" y="0"/>
          <a:chExt cx="0" cy="0"/>
        </a:xfrm>
      </p:grpSpPr>
      <p:sp>
        <p:nvSpPr>
          <p:cNvPr id="30" name="Title Text"/>
          <p:cNvSpPr txBox="1"/>
          <p:nvPr>
            <p:ph type="title"/>
          </p:nvPr>
        </p:nvSpPr>
        <p:spPr>
          <a:xfrm>
            <a:off x="1270000" y="3225800"/>
            <a:ext cx="10464800" cy="33020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Image"/>
          <p:cNvSpPr/>
          <p:nvPr>
            <p:ph type="pic" idx="21"/>
          </p:nvPr>
        </p:nvSpPr>
        <p:spPr>
          <a:xfrm>
            <a:off x="2717800" y="635000"/>
            <a:ext cx="12357100" cy="8238067"/>
          </a:xfrm>
          <a:prstGeom prst="rect">
            <a:avLst/>
          </a:prstGeom>
        </p:spPr>
        <p:txBody>
          <a:bodyPr lIns="91439" tIns="45719" rIns="91439" bIns="45719" anchor="t">
            <a:noAutofit/>
          </a:bodyPr>
          <a:lstStyle/>
          <a:p>
            <a:pPr/>
          </a:p>
        </p:txBody>
      </p:sp>
      <p:sp>
        <p:nvSpPr>
          <p:cNvPr id="39" name="Title Text"/>
          <p:cNvSpPr txBox="1"/>
          <p:nvPr>
            <p:ph type="title"/>
          </p:nvPr>
        </p:nvSpPr>
        <p:spPr>
          <a:xfrm>
            <a:off x="952500" y="635000"/>
            <a:ext cx="5334000" cy="3987800"/>
          </a:xfrm>
          <a:prstGeom prst="rect">
            <a:avLst/>
          </a:prstGeom>
        </p:spPr>
        <p:txBody>
          <a:bodyPr anchor="b"/>
          <a:lstStyle>
            <a:lvl1pPr>
              <a:defRPr sz="6000"/>
            </a:lvl1pPr>
          </a:lstStyle>
          <a:p>
            <a:pPr/>
            <a:r>
              <a:t>Title Text</a:t>
            </a:r>
          </a:p>
        </p:txBody>
      </p:sp>
      <p:sp>
        <p:nvSpPr>
          <p:cNvPr id="40" name="Body Level One…"/>
          <p:cNvSpPr txBox="1"/>
          <p:nvPr>
            <p:ph type="body" sz="quarter" idx="1"/>
          </p:nvPr>
        </p:nvSpPr>
        <p:spPr>
          <a:xfrm>
            <a:off x="952500" y="4762500"/>
            <a:ext cx="5334000" cy="4102100"/>
          </a:xfrm>
          <a:prstGeom prst="rect">
            <a:avLst/>
          </a:prstGeom>
        </p:spPr>
        <p:txBody>
          <a:bodyPr anchor="t"/>
          <a:lstStyle>
            <a:lvl1pPr marL="0" indent="0" algn="ctr">
              <a:spcBef>
                <a:spcPts val="0"/>
              </a:spcBef>
              <a:buSzTx/>
              <a:buNone/>
              <a:defRPr sz="3200"/>
            </a:lvl1pPr>
            <a:lvl2pPr marL="0" indent="228600" algn="ctr">
              <a:spcBef>
                <a:spcPts val="0"/>
              </a:spcBef>
              <a:buSzTx/>
              <a:buNone/>
              <a:defRPr sz="3200"/>
            </a:lvl2pPr>
            <a:lvl3pPr marL="0" indent="457200" algn="ctr">
              <a:spcBef>
                <a:spcPts val="0"/>
              </a:spcBef>
              <a:buSzTx/>
              <a:buNone/>
              <a:defRPr sz="3200"/>
            </a:lvl3pPr>
            <a:lvl4pPr marL="0" indent="685800" algn="ctr">
              <a:spcBef>
                <a:spcPts val="0"/>
              </a:spcBef>
              <a:buSzTx/>
              <a:buNone/>
              <a:defRPr sz="3200"/>
            </a:lvl4pPr>
            <a:lvl5pPr marL="0" indent="914400" algn="ctr">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Image"/>
          <p:cNvSpPr/>
          <p:nvPr>
            <p:ph type="pic" idx="21"/>
          </p:nvPr>
        </p:nvSpPr>
        <p:spPr>
          <a:xfrm>
            <a:off x="4533900" y="2603500"/>
            <a:ext cx="9429750" cy="62865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952500" y="2603500"/>
            <a:ext cx="5334000" cy="6286500"/>
          </a:xfrm>
          <a:prstGeom prst="rect">
            <a:avLst/>
          </a:prstGeom>
        </p:spPr>
        <p:txBody>
          <a:bodyPr/>
          <a:lstStyle>
            <a:lvl1pPr marL="342900" indent="-342900">
              <a:spcBef>
                <a:spcPts val="3200"/>
              </a:spcBef>
              <a:defRPr sz="2800"/>
            </a:lvl1pPr>
            <a:lvl2pPr marL="685800" indent="-342900">
              <a:spcBef>
                <a:spcPts val="3200"/>
              </a:spcBef>
              <a:defRPr sz="2800"/>
            </a:lvl2pPr>
            <a:lvl3pPr marL="1028700" indent="-342900">
              <a:spcBef>
                <a:spcPts val="3200"/>
              </a:spcBef>
              <a:defRPr sz="2800"/>
            </a:lvl3pPr>
            <a:lvl4pPr marL="1371600" indent="-342900">
              <a:spcBef>
                <a:spcPts val="3200"/>
              </a:spcBef>
              <a:defRPr sz="2800"/>
            </a:lvl4pPr>
            <a:lvl5pPr marL="1714500" indent="-342900">
              <a:spcBef>
                <a:spcPts val="32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952500" y="1270000"/>
            <a:ext cx="11099800" cy="72136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Image"/>
          <p:cNvSpPr/>
          <p:nvPr>
            <p:ph type="pic" sz="quarter" idx="21"/>
          </p:nvPr>
        </p:nvSpPr>
        <p:spPr>
          <a:xfrm>
            <a:off x="6680200" y="5026947"/>
            <a:ext cx="6057901" cy="4040705"/>
          </a:xfrm>
          <a:prstGeom prst="rect">
            <a:avLst/>
          </a:prstGeom>
        </p:spPr>
        <p:txBody>
          <a:bodyPr lIns="91439" tIns="45719" rIns="91439" bIns="45719" anchor="t">
            <a:noAutofit/>
          </a:bodyPr>
          <a:lstStyle/>
          <a:p>
            <a:pPr/>
          </a:p>
        </p:txBody>
      </p:sp>
      <p:sp>
        <p:nvSpPr>
          <p:cNvPr id="84" name="Image"/>
          <p:cNvSpPr/>
          <p:nvPr>
            <p:ph type="pic" sz="quarter" idx="22"/>
          </p:nvPr>
        </p:nvSpPr>
        <p:spPr>
          <a:xfrm>
            <a:off x="6502400" y="886747"/>
            <a:ext cx="5867400" cy="3911601"/>
          </a:xfrm>
          <a:prstGeom prst="rect">
            <a:avLst/>
          </a:prstGeom>
        </p:spPr>
        <p:txBody>
          <a:bodyPr lIns="91439" tIns="45719" rIns="91439" bIns="45719" anchor="t">
            <a:noAutofit/>
          </a:bodyPr>
          <a:lstStyle/>
          <a:p>
            <a:pPr/>
          </a:p>
        </p:txBody>
      </p:sp>
      <p:sp>
        <p:nvSpPr>
          <p:cNvPr id="85" name="Image"/>
          <p:cNvSpPr/>
          <p:nvPr>
            <p:ph type="pic" idx="23"/>
          </p:nvPr>
        </p:nvSpPr>
        <p:spPr>
          <a:xfrm>
            <a:off x="-2374900" y="889000"/>
            <a:ext cx="11976100" cy="7984067"/>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Johnny Appleseed"/>
          <p:cNvSpPr txBox="1"/>
          <p:nvPr>
            <p:ph type="body" sz="quarter" idx="21"/>
          </p:nvPr>
        </p:nvSpPr>
        <p:spPr>
          <a:xfrm>
            <a:off x="1270000" y="6362700"/>
            <a:ext cx="10464800" cy="469900"/>
          </a:xfrm>
          <a:prstGeom prst="rect">
            <a:avLst/>
          </a:prstGeom>
        </p:spPr>
        <p:txBody>
          <a:bodyPr anchor="t">
            <a:spAutoFit/>
          </a:bodyPr>
          <a:lstStyle>
            <a:lvl1pPr marL="0" indent="0" algn="ctr">
              <a:spcBef>
                <a:spcPts val="0"/>
              </a:spcBef>
              <a:buSzTx/>
              <a:buNone/>
              <a:defRPr sz="2400">
                <a:latin typeface="Helvetica"/>
                <a:ea typeface="Helvetica"/>
                <a:cs typeface="Helvetica"/>
                <a:sym typeface="Helvetica"/>
              </a:defRPr>
            </a:lvl1pPr>
          </a:lstStyle>
          <a:p>
            <a:pPr/>
            <a:r>
              <a:t>–Johnny Appleseed</a:t>
            </a:r>
          </a:p>
        </p:txBody>
      </p:sp>
      <p:sp>
        <p:nvSpPr>
          <p:cNvPr id="94" name="“Type a quote here.”"/>
          <p:cNvSpPr txBox="1"/>
          <p:nvPr>
            <p:ph type="body" sz="quarter" idx="22"/>
          </p:nvPr>
        </p:nvSpPr>
        <p:spPr>
          <a:xfrm>
            <a:off x="1270000" y="4267200"/>
            <a:ext cx="10464800" cy="685800"/>
          </a:xfrm>
          <a:prstGeom prst="rect">
            <a:avLst/>
          </a:prstGeom>
        </p:spPr>
        <p:txBody>
          <a:bodyPr>
            <a:spAutoFit/>
          </a:bodyPr>
          <a:lstStyle>
            <a:lvl1pPr marL="0" indent="0" algn="ctr">
              <a:spcBef>
                <a:spcPts val="0"/>
              </a:spcBef>
              <a:buSzTx/>
              <a:buNone/>
              <a:defRPr sz="3800"/>
            </a:lvl1pPr>
          </a:lstStyle>
          <a:p>
            <a:pPr/>
            <a:r>
              <a:t>“Type a quote here.” </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Image"/>
          <p:cNvSpPr/>
          <p:nvPr>
            <p:ph type="pic" idx="21"/>
          </p:nvPr>
        </p:nvSpPr>
        <p:spPr>
          <a:xfrm>
            <a:off x="-812800" y="0"/>
            <a:ext cx="15232066" cy="101600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311798" y="9251950"/>
            <a:ext cx="368504" cy="381000"/>
          </a:xfrm>
          <a:prstGeom prst="rect">
            <a:avLst/>
          </a:prstGeom>
          <a:ln w="12700">
            <a:miter lim="400000"/>
          </a:ln>
        </p:spPr>
        <p:txBody>
          <a:bodyPr wrap="none" lIns="50800" tIns="50800" rIns="50800" bIns="50800">
            <a:spAutoFit/>
          </a:bodyPr>
          <a:lstStyle>
            <a:lvl1pPr>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n-lt"/>
          <a:ea typeface="+mn-ea"/>
          <a:cs typeface="+mn-cs"/>
          <a:sym typeface="Helvetica Light"/>
        </a:defRPr>
      </a:lvl9pPr>
    </p:titleStyle>
    <p:bodyStyle>
      <a:lvl1pPr marL="4445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1pPr>
      <a:lvl2pPr marL="8890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2pPr>
      <a:lvl3pPr marL="13335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3pPr>
      <a:lvl4pPr marL="17780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4pPr>
      <a:lvl5pPr marL="22225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5pPr>
      <a:lvl6pPr marL="26670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6pPr>
      <a:lvl7pPr marL="31115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7pPr>
      <a:lvl8pPr marL="35560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8pPr>
      <a:lvl9pPr marL="4000500" marR="0" indent="-444500" algn="l" defTabSz="584200" rtl="0" latinLnBrk="0">
        <a:lnSpc>
          <a:spcPct val="100000"/>
        </a:lnSpc>
        <a:spcBef>
          <a:spcPts val="4200"/>
        </a:spcBef>
        <a:spcAft>
          <a:spcPts val="0"/>
        </a:spcAft>
        <a:buClrTx/>
        <a:buSzPct val="75000"/>
        <a:buFontTx/>
        <a:buChar char="•"/>
        <a:tabLst/>
        <a:defRPr b="0" baseline="0" cap="none" i="0" spc="0" strike="noStrike" sz="3600" u="none">
          <a:solidFill>
            <a:srgbClr val="000000"/>
          </a:solidFill>
          <a:uFillTx/>
          <a:latin typeface="+mn-lt"/>
          <a:ea typeface="+mn-ea"/>
          <a:cs typeface="+mn-cs"/>
          <a:sym typeface="Helvetica Light"/>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s>

</file>

<file path=ppt/slides/_rels/slide6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png"/></Relationships>

</file>

<file path=ppt/slides/_rels/slide6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s>

</file>

<file path=ppt/slides/_rels/slide6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s>

</file>

<file path=ppt/slides/_rels/slide7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s>

</file>

<file path=ppt/slides/_rels/slide7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s>

</file>

<file path=ppt/slides/_rels/slide7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s>

</file>

<file path=ppt/slides/_rels/slide7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s>

</file>

<file path=ppt/slides/_rels/slide7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s>

</file>

<file path=ppt/slides/_rels/slide7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s>

</file>

<file path=ppt/slides/_rels/slide7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png"/></Relationships>

</file>

<file path=ppt/slides/_rels/slide7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s>

</file>

<file path=ppt/slides/_rels/slide8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s>

</file>

<file path=ppt/slides/_rels/slide8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s>

</file>

<file path=ppt/slides/_rels/slide8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s>

</file>

<file path=ppt/slides/_rels/slide8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s>

</file>

<file path=ppt/slides/_rels/slide9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s>

</file>

<file path=ppt/slides/_rels/slide9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s>

</file>

<file path=ppt/slides/_rels/slide9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s>

</file>

<file path=ppt/slides/_rels/slide9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s>

</file>

<file path=ppt/slides/_rels/slide9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s>

</file>

<file path=ppt/slides/_rels/slide9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png"/></Relationships>

</file>

<file path=ppt/slides/_rels/slide9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png"/></Relationships>

</file>

<file path=ppt/slides/_rels/slide9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s>

</file>

<file path=ppt/slides/_rels/slide10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s>

</file>

<file path=ppt/slides/_rels/slide10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s>

</file>

<file path=ppt/slides/_rels/slide10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s>

</file>

<file path=ppt/slides/_rels/slide10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s>

</file>

<file path=ppt/slides/_rels/slide10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s>

</file>

<file path=ppt/slides/_rels/slide10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s>

</file>

<file path=ppt/slides/_rels/slide10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s>

</file>

<file path=ppt/slides/_rels/slide10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s>

</file>

<file path=ppt/slides/_rels/slide11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s>

</file>

<file path=ppt/slides/_rels/slide1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s>

</file>

<file path=ppt/slides/_rels/slide1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s>

</file>

<file path=ppt/slides/_rels/slide1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s>

</file>

<file path=ppt/slides/_rels/slide1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s>

</file>

<file path=ppt/slides/_rels/slide11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s>

</file>

<file path=ppt/slides/_rels/slide11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s>

</file>

<file path=ppt/slides/_rels/slide1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1.png"/></Relationships>

</file>

<file path=ppt/slides/_rels/slide12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s>

</file>

<file path=ppt/slides/_rels/slide12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s>

</file>

<file path=ppt/slides/_rels/slide12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s>

</file>

<file path=ppt/slides/_rels/slide13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s>

</file>

<file path=ppt/slides/_rels/slide13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3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7.png"/></Relationships>

</file>

<file path=ppt/slides/_rels/slide13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8.png"/></Relationships>

</file>

<file path=ppt/slides/_rels/slide13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s>

</file>

<file path=ppt/slides/_rels/slide14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0.png"/></Relationships>

</file>

<file path=ppt/slides/_rels/slide14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1.png"/></Relationships>

</file>

<file path=ppt/slides/_rels/slide14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2.png"/></Relationships>

</file>

<file path=ppt/slides/_rels/slide14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3.png"/></Relationships>

</file>

<file path=ppt/slides/_rels/slide14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4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4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4.png"/></Relationships>

</file>

<file path=ppt/slides/_rels/slide14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5.png"/></Relationships>

</file>

<file path=ppt/slides/_rels/slide14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50.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5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6.png"/></Relationships>

</file>

<file path=ppt/slides/_rels/slide15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7.png"/></Relationships>

</file>

<file path=ppt/slides/_rels/slide15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5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8.png"/></Relationships>

</file>

<file path=ppt/slides/_rels/slide15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5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Python 3"/>
          <p:cNvSpPr txBox="1"/>
          <p:nvPr>
            <p:ph type="ctrTitle"/>
          </p:nvPr>
        </p:nvSpPr>
        <p:spPr>
          <a:prstGeom prst="rect">
            <a:avLst/>
          </a:prstGeom>
        </p:spPr>
        <p:txBody>
          <a:bodyPr/>
          <a:lstStyle/>
          <a:p>
            <a:pPr/>
            <a:r>
              <a:t>Python 3</a:t>
            </a:r>
          </a:p>
        </p:txBody>
      </p:sp>
      <p:sp>
        <p:nvSpPr>
          <p:cNvPr id="120" name="Double-click to edit"/>
          <p:cNvSpPr txBox="1"/>
          <p:nvPr>
            <p:ph type="subTitle" sz="quarter"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Структури от данни…"/>
          <p:cNvSpPr txBox="1"/>
          <p:nvPr>
            <p:ph type="title"/>
          </p:nvPr>
        </p:nvSpPr>
        <p:spPr>
          <a:prstGeom prst="rect">
            <a:avLst/>
          </a:prstGeom>
        </p:spPr>
        <p:txBody>
          <a:bodyPr/>
          <a:lstStyle/>
          <a:p>
            <a:pPr defTabSz="414781">
              <a:defRPr sz="5680"/>
            </a:pPr>
            <a:r>
              <a:t>Структури от данни</a:t>
            </a:r>
          </a:p>
          <a:p>
            <a:pPr defTabSz="414781">
              <a:defRPr sz="5680"/>
            </a:pPr>
            <a:r>
              <a:t>Методи за обработка на списъци</a:t>
            </a:r>
          </a:p>
        </p:txBody>
      </p:sp>
      <p:sp>
        <p:nvSpPr>
          <p:cNvPr id="123" name="list.append(x)…"/>
          <p:cNvSpPr txBox="1"/>
          <p:nvPr>
            <p:ph type="body" idx="1"/>
          </p:nvPr>
        </p:nvSpPr>
        <p:spPr>
          <a:prstGeom prst="rect">
            <a:avLst/>
          </a:prstGeom>
        </p:spPr>
        <p:txBody>
          <a:bodyPr/>
          <a:lstStyle/>
          <a:p>
            <a:pPr marL="311150" indent="-311150" defTabSz="408940">
              <a:spcBef>
                <a:spcPts val="2900"/>
              </a:spcBef>
              <a:defRPr sz="2520"/>
            </a:pPr>
            <a:r>
              <a:rPr b="1">
                <a:latin typeface="Helvetica"/>
                <a:ea typeface="Helvetica"/>
                <a:cs typeface="Helvetica"/>
                <a:sym typeface="Helvetica"/>
              </a:rPr>
              <a:t>list.append</a:t>
            </a:r>
            <a:r>
              <a:t>(x)</a:t>
            </a:r>
          </a:p>
          <a:p>
            <a:pPr lvl="1" marL="622300" indent="-311150" defTabSz="408940">
              <a:spcBef>
                <a:spcPts val="2900"/>
              </a:spcBef>
              <a:defRPr sz="2520"/>
            </a:pPr>
            <a:r>
              <a:t>Добавя елемент в края на списък. Еквивалентен е на:</a:t>
            </a:r>
            <a:br/>
            <a:r>
              <a:t> a[len(a):] = [x].</a:t>
            </a:r>
          </a:p>
          <a:p>
            <a:pPr marL="311150" indent="-311150" defTabSz="408940">
              <a:spcBef>
                <a:spcPts val="2900"/>
              </a:spcBef>
              <a:defRPr sz="2520"/>
            </a:pPr>
            <a:r>
              <a:rPr b="1">
                <a:latin typeface="Helvetica"/>
                <a:ea typeface="Helvetica"/>
                <a:cs typeface="Helvetica"/>
                <a:sym typeface="Helvetica"/>
              </a:rPr>
              <a:t>list.extend</a:t>
            </a:r>
            <a:r>
              <a:t>(iterable)</a:t>
            </a:r>
          </a:p>
          <a:p>
            <a:pPr lvl="1" marL="622300" indent="-311150" defTabSz="408940">
              <a:spcBef>
                <a:spcPts val="2900"/>
              </a:spcBef>
              <a:defRPr sz="2520"/>
            </a:pPr>
            <a:r>
              <a:t>Разширява списъка с добавяне на всички елементи от iterable. Еквиовалентен е на: a[len(a):] = iterable.</a:t>
            </a:r>
          </a:p>
          <a:p>
            <a:pPr marL="311150" indent="-311150" defTabSz="408940">
              <a:spcBef>
                <a:spcPts val="2900"/>
              </a:spcBef>
              <a:defRPr sz="2520"/>
            </a:pPr>
            <a:r>
              <a:rPr b="1">
                <a:latin typeface="Helvetica"/>
                <a:ea typeface="Helvetica"/>
                <a:cs typeface="Helvetica"/>
                <a:sym typeface="Helvetica"/>
              </a:rPr>
              <a:t>list.insert</a:t>
            </a:r>
            <a:r>
              <a:t>(i, x)</a:t>
            </a:r>
          </a:p>
          <a:p>
            <a:pPr lvl="1" marL="622300" indent="-311150" defTabSz="408940">
              <a:spcBef>
                <a:spcPts val="2900"/>
              </a:spcBef>
              <a:defRPr sz="2520"/>
            </a:pPr>
            <a:r>
              <a:t>Вмъква елемент на зададена позиция. Първият аргумент е индекс на елемента, ПРЕДИ който трябва да се вмъкне x, така че a.insert(0, x) вмъква елемент в началото на списъка, докато a.insert(len(a), x) е еквивалентен на a.append(x).</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Методи за обработка на списъци"/>
          <p:cNvSpPr txBox="1"/>
          <p:nvPr>
            <p:ph type="title"/>
          </p:nvPr>
        </p:nvSpPr>
        <p:spPr>
          <a:prstGeom prst="rect">
            <a:avLst/>
          </a:prstGeom>
        </p:spPr>
        <p:txBody>
          <a:bodyPr/>
          <a:lstStyle>
            <a:lvl1pPr defTabSz="490727">
              <a:defRPr sz="6719"/>
            </a:lvl1pPr>
          </a:lstStyle>
          <a:p>
            <a:pPr/>
            <a:r>
              <a:t>Методи за обработка на списъци</a:t>
            </a:r>
          </a:p>
        </p:txBody>
      </p:sp>
      <p:sp>
        <p:nvSpPr>
          <p:cNvPr id="126" name="list.remove(x)…"/>
          <p:cNvSpPr txBox="1"/>
          <p:nvPr>
            <p:ph type="body" idx="1"/>
          </p:nvPr>
        </p:nvSpPr>
        <p:spPr>
          <a:prstGeom prst="rect">
            <a:avLst/>
          </a:prstGeom>
        </p:spPr>
        <p:txBody>
          <a:bodyPr/>
          <a:lstStyle/>
          <a:p>
            <a:pPr marL="328929" indent="-328929" defTabSz="432308">
              <a:spcBef>
                <a:spcPts val="3100"/>
              </a:spcBef>
              <a:defRPr sz="2664"/>
            </a:pPr>
            <a:r>
              <a:rPr b="1">
                <a:latin typeface="Helvetica"/>
                <a:ea typeface="Helvetica"/>
                <a:cs typeface="Helvetica"/>
                <a:sym typeface="Helvetica"/>
              </a:rPr>
              <a:t>list.remove</a:t>
            </a:r>
            <a:r>
              <a:t>(x)</a:t>
            </a:r>
          </a:p>
          <a:p>
            <a:pPr lvl="1" marL="657859" indent="-328929" defTabSz="432308">
              <a:spcBef>
                <a:spcPts val="3100"/>
              </a:spcBef>
              <a:defRPr sz="2664"/>
            </a:pPr>
            <a:r>
              <a:t>Изтрива първият елемент от списъка, чиято стойност е x. Генерира ValueError, ако няма елемент с такава стойност.</a:t>
            </a:r>
          </a:p>
          <a:p>
            <a:pPr marL="328929" indent="-328929" defTabSz="432308">
              <a:spcBef>
                <a:spcPts val="3100"/>
              </a:spcBef>
              <a:defRPr sz="2664"/>
            </a:pPr>
            <a:r>
              <a:rPr b="1">
                <a:latin typeface="Helvetica"/>
                <a:ea typeface="Helvetica"/>
                <a:cs typeface="Helvetica"/>
                <a:sym typeface="Helvetica"/>
              </a:rPr>
              <a:t>list.pop</a:t>
            </a:r>
            <a:r>
              <a:t>([i])</a:t>
            </a:r>
          </a:p>
          <a:p>
            <a:pPr lvl="1" marL="657859" indent="-328929" defTabSz="432308">
              <a:spcBef>
                <a:spcPts val="3100"/>
              </a:spcBef>
              <a:defRPr sz="2664"/>
            </a:pPr>
            <a:r>
              <a:t>Изтрива елемент на зададена позиция в списъка и го връща. Ако не се зададе индекс, напр. a.pop(), се изтрива и връща последния елемент от списъка. (Квадратните скоби около параметъра i показват, че той не е задължителен.)</a:t>
            </a:r>
          </a:p>
          <a:p>
            <a:pPr marL="328929" indent="-328929" defTabSz="432308">
              <a:spcBef>
                <a:spcPts val="3100"/>
              </a:spcBef>
              <a:defRPr sz="2664"/>
            </a:pPr>
            <a:r>
              <a:rPr b="1">
                <a:latin typeface="Helvetica"/>
                <a:ea typeface="Helvetica"/>
                <a:cs typeface="Helvetica"/>
                <a:sym typeface="Helvetica"/>
              </a:rPr>
              <a:t>list.clear</a:t>
            </a:r>
            <a:r>
              <a:t>()</a:t>
            </a:r>
          </a:p>
          <a:p>
            <a:pPr lvl="1" marL="657859" indent="-328929" defTabSz="432308">
              <a:spcBef>
                <a:spcPts val="3100"/>
              </a:spcBef>
              <a:defRPr sz="2664"/>
            </a:pPr>
            <a:r>
              <a:t>Изтрива всички елементи от списъка. Еквивалентен е на: del a[:].</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Методи за обработка на списъци"/>
          <p:cNvSpPr txBox="1"/>
          <p:nvPr>
            <p:ph type="title"/>
          </p:nvPr>
        </p:nvSpPr>
        <p:spPr>
          <a:prstGeom prst="rect">
            <a:avLst/>
          </a:prstGeom>
        </p:spPr>
        <p:txBody>
          <a:bodyPr/>
          <a:lstStyle>
            <a:lvl1pPr defTabSz="490727">
              <a:defRPr sz="6719"/>
            </a:lvl1pPr>
          </a:lstStyle>
          <a:p>
            <a:pPr/>
            <a:r>
              <a:t>Методи за обработка на списъци</a:t>
            </a:r>
          </a:p>
        </p:txBody>
      </p:sp>
      <p:sp>
        <p:nvSpPr>
          <p:cNvPr id="129" name="list.index(x[, start[, end]])…"/>
          <p:cNvSpPr txBox="1"/>
          <p:nvPr>
            <p:ph type="body" idx="1"/>
          </p:nvPr>
        </p:nvSpPr>
        <p:spPr>
          <a:prstGeom prst="rect">
            <a:avLst/>
          </a:prstGeom>
        </p:spPr>
        <p:txBody>
          <a:bodyPr/>
          <a:lstStyle/>
          <a:p>
            <a:pPr marL="391159" indent="-391159" defTabSz="514095">
              <a:spcBef>
                <a:spcPts val="3600"/>
              </a:spcBef>
              <a:defRPr sz="3168"/>
            </a:pPr>
            <a:r>
              <a:rPr b="1">
                <a:latin typeface="Helvetica"/>
                <a:ea typeface="Helvetica"/>
                <a:cs typeface="Helvetica"/>
                <a:sym typeface="Helvetica"/>
              </a:rPr>
              <a:t>list.index</a:t>
            </a:r>
            <a:r>
              <a:t>(x[, start[, end]])</a:t>
            </a:r>
          </a:p>
          <a:p>
            <a:pPr lvl="1" marL="782319" indent="-391159" defTabSz="514095">
              <a:spcBef>
                <a:spcPts val="3600"/>
              </a:spcBef>
              <a:defRPr sz="3168"/>
            </a:pPr>
            <a:r>
              <a:t>Връща нулево-базиран индекс в списъка на първия елемент със стойност x. Генерира ValueError, ако няма такъв елемент. Опционните аргументи start и end се интерпретират като slice нотация и се използват за ограничаване на търсенето в подсписък. Връщаният индекс е изчислен спрямо началото на целия списък, а не спрямо start.</a:t>
            </a:r>
          </a:p>
          <a:p>
            <a:pPr marL="391159" indent="-391159" defTabSz="514095">
              <a:spcBef>
                <a:spcPts val="3600"/>
              </a:spcBef>
              <a:defRPr sz="3168"/>
            </a:pPr>
            <a:r>
              <a:rPr b="1">
                <a:latin typeface="Helvetica"/>
                <a:ea typeface="Helvetica"/>
                <a:cs typeface="Helvetica"/>
                <a:sym typeface="Helvetica"/>
              </a:rPr>
              <a:t>list.count</a:t>
            </a:r>
            <a:r>
              <a:t>(x)</a:t>
            </a:r>
          </a:p>
          <a:p>
            <a:pPr lvl="1" marL="782319" indent="-391159" defTabSz="514095">
              <a:spcBef>
                <a:spcPts val="3600"/>
              </a:spcBef>
              <a:defRPr sz="3168"/>
            </a:pPr>
            <a:r>
              <a:t>Връща колко пъти x  се среща в списъка.</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Методи за обработка на списъци"/>
          <p:cNvSpPr txBox="1"/>
          <p:nvPr>
            <p:ph type="title"/>
          </p:nvPr>
        </p:nvSpPr>
        <p:spPr>
          <a:prstGeom prst="rect">
            <a:avLst/>
          </a:prstGeom>
        </p:spPr>
        <p:txBody>
          <a:bodyPr/>
          <a:lstStyle>
            <a:lvl1pPr defTabSz="490727">
              <a:defRPr sz="6719"/>
            </a:lvl1pPr>
          </a:lstStyle>
          <a:p>
            <a:pPr/>
            <a:r>
              <a:t>Методи за обработка на списъци</a:t>
            </a:r>
          </a:p>
        </p:txBody>
      </p:sp>
      <p:sp>
        <p:nvSpPr>
          <p:cNvPr id="132" name="list.sort(key=None, reverse=False)…"/>
          <p:cNvSpPr txBox="1"/>
          <p:nvPr>
            <p:ph type="body" idx="1"/>
          </p:nvPr>
        </p:nvSpPr>
        <p:spPr>
          <a:prstGeom prst="rect">
            <a:avLst/>
          </a:prstGeom>
        </p:spPr>
        <p:txBody>
          <a:bodyPr/>
          <a:lstStyle/>
          <a:p>
            <a:pPr marL="360045" indent="-360045" defTabSz="473201">
              <a:spcBef>
                <a:spcPts val="3400"/>
              </a:spcBef>
              <a:defRPr sz="2916"/>
            </a:pPr>
            <a:r>
              <a:rPr b="1">
                <a:latin typeface="Helvetica"/>
                <a:ea typeface="Helvetica"/>
                <a:cs typeface="Helvetica"/>
                <a:sym typeface="Helvetica"/>
              </a:rPr>
              <a:t>list.sort</a:t>
            </a:r>
            <a:r>
              <a:t>(key=None, reverse=False)</a:t>
            </a:r>
          </a:p>
          <a:p>
            <a:pPr lvl="1" marL="720090" indent="-360045" defTabSz="473201">
              <a:spcBef>
                <a:spcPts val="3400"/>
              </a:spcBef>
              <a:defRPr sz="2916"/>
            </a:pPr>
            <a:r>
              <a:t>Подрежда елементите на списъка на място. Аргументите се използват за настройка на сортировката: key - функция, използвана за подреждане; reverse - ред на подреждане: нарастващ или намаляващ. </a:t>
            </a:r>
          </a:p>
          <a:p>
            <a:pPr marL="360045" indent="-360045" defTabSz="473201">
              <a:spcBef>
                <a:spcPts val="3400"/>
              </a:spcBef>
              <a:defRPr sz="2916"/>
            </a:pPr>
            <a:r>
              <a:rPr b="1">
                <a:latin typeface="Helvetica"/>
                <a:ea typeface="Helvetica"/>
                <a:cs typeface="Helvetica"/>
                <a:sym typeface="Helvetica"/>
              </a:rPr>
              <a:t>list.reverse</a:t>
            </a:r>
            <a:r>
              <a:t>()</a:t>
            </a:r>
          </a:p>
          <a:p>
            <a:pPr lvl="1" marL="720090" indent="-360045" defTabSz="473201">
              <a:spcBef>
                <a:spcPts val="3400"/>
              </a:spcBef>
              <a:defRPr sz="2916"/>
            </a:pPr>
            <a:r>
              <a:t>Обръща елементите на списъка на място.</a:t>
            </a:r>
          </a:p>
          <a:p>
            <a:pPr marL="360045" indent="-360045" defTabSz="473201">
              <a:spcBef>
                <a:spcPts val="3400"/>
              </a:spcBef>
              <a:defRPr sz="2916"/>
            </a:pPr>
            <a:r>
              <a:rPr b="1">
                <a:latin typeface="Helvetica"/>
                <a:ea typeface="Helvetica"/>
                <a:cs typeface="Helvetica"/>
                <a:sym typeface="Helvetica"/>
              </a:rPr>
              <a:t>list.copy</a:t>
            </a:r>
            <a:r>
              <a:t>()</a:t>
            </a:r>
          </a:p>
          <a:p>
            <a:pPr lvl="1" marL="720090" indent="-360045" defTabSz="473201">
              <a:spcBef>
                <a:spcPts val="3400"/>
              </a:spcBef>
              <a:defRPr sz="2916"/>
            </a:pPr>
            <a:r>
              <a:t>Връща копие на списъка. Еквивалентен е на a[:].</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Примери"/>
          <p:cNvSpPr txBox="1"/>
          <p:nvPr>
            <p:ph type="title"/>
          </p:nvPr>
        </p:nvSpPr>
        <p:spPr>
          <a:prstGeom prst="rect">
            <a:avLst/>
          </a:prstGeom>
        </p:spPr>
        <p:txBody>
          <a:bodyPr/>
          <a:lstStyle/>
          <a:p>
            <a:pPr/>
            <a:r>
              <a:t>Примери</a:t>
            </a:r>
          </a:p>
        </p:txBody>
      </p:sp>
      <p:sp>
        <p:nvSpPr>
          <p:cNvPr id="135" name="Double-click to edit"/>
          <p:cNvSpPr txBox="1"/>
          <p:nvPr>
            <p:ph type="body" idx="1"/>
          </p:nvPr>
        </p:nvSpPr>
        <p:spPr>
          <a:prstGeom prst="rect">
            <a:avLst/>
          </a:prstGeom>
        </p:spPr>
        <p:txBody>
          <a:bodyPr/>
          <a:lstStyle/>
          <a:p>
            <a:pPr/>
          </a:p>
        </p:txBody>
      </p:sp>
      <p:pic>
        <p:nvPicPr>
          <p:cNvPr id="136" name="Image" descr="Image"/>
          <p:cNvPicPr>
            <a:picLocks noChangeAspect="1"/>
          </p:cNvPicPr>
          <p:nvPr/>
        </p:nvPicPr>
        <p:blipFill>
          <a:blip r:embed="rId2">
            <a:extLst/>
          </a:blip>
          <a:stretch>
            <a:fillRect/>
          </a:stretch>
        </p:blipFill>
        <p:spPr>
          <a:xfrm>
            <a:off x="0" y="2663715"/>
            <a:ext cx="13004800" cy="616607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Методи за обработка на списъци"/>
          <p:cNvSpPr txBox="1"/>
          <p:nvPr>
            <p:ph type="title"/>
          </p:nvPr>
        </p:nvSpPr>
        <p:spPr>
          <a:prstGeom prst="rect">
            <a:avLst/>
          </a:prstGeom>
        </p:spPr>
        <p:txBody>
          <a:bodyPr/>
          <a:lstStyle>
            <a:lvl1pPr defTabSz="490727">
              <a:defRPr sz="6719"/>
            </a:lvl1pPr>
          </a:lstStyle>
          <a:p>
            <a:pPr/>
            <a:r>
              <a:t>Методи за обработка на списъци</a:t>
            </a:r>
          </a:p>
        </p:txBody>
      </p:sp>
      <p:sp>
        <p:nvSpPr>
          <p:cNvPr id="139" name="Част от методите като insert, remove или sort променят сисъка на място и не връщат резултат. Ако се разпечти връщаната стойност от тях ще излезе None.…"/>
          <p:cNvSpPr txBox="1"/>
          <p:nvPr>
            <p:ph type="body" idx="1"/>
          </p:nvPr>
        </p:nvSpPr>
        <p:spPr>
          <a:prstGeom prst="rect">
            <a:avLst/>
          </a:prstGeom>
        </p:spPr>
        <p:txBody>
          <a:bodyPr/>
          <a:lstStyle/>
          <a:p>
            <a:pPr marL="417830" indent="-417830" defTabSz="549148">
              <a:spcBef>
                <a:spcPts val="3900"/>
              </a:spcBef>
              <a:defRPr sz="3384"/>
            </a:pPr>
            <a:r>
              <a:t>Част от методите като insert, remove или sort променят сисъка на място и не връщат резултат. Ако се разпечти връщаната стойност от тях ще излезе None.</a:t>
            </a:r>
          </a:p>
          <a:p>
            <a:pPr marL="417830" indent="-417830" defTabSz="549148">
              <a:spcBef>
                <a:spcPts val="3900"/>
              </a:spcBef>
              <a:defRPr sz="3384"/>
            </a:pPr>
            <a:r>
              <a:t>Не всички данни могат да се сравняват или сортират. Например, [None, 'hello', 10] не може да се подреди, защот няма как да се сравняват цели числа с низове и None не може да се сравнява с другите типове. Има и типове, които нямат дефиниран ред. Например, 3+4j &lt; 5+7j iне е валидно сравнение.</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Lists като Stacks"/>
          <p:cNvSpPr txBox="1"/>
          <p:nvPr>
            <p:ph type="title"/>
          </p:nvPr>
        </p:nvSpPr>
        <p:spPr>
          <a:prstGeom prst="rect">
            <a:avLst/>
          </a:prstGeom>
        </p:spPr>
        <p:txBody>
          <a:bodyPr/>
          <a:lstStyle/>
          <a:p>
            <a:pPr/>
            <a:r>
              <a:t>Lists като Stacks</a:t>
            </a:r>
          </a:p>
        </p:txBody>
      </p:sp>
      <p:sp>
        <p:nvSpPr>
          <p:cNvPr id="142" name="Методите на списъчните структури могат да се използват за създаване на организация LIFO (stack), където последния добавен елемент се извлича първи (“last-in, first-out”). За да се добави елемент на върха на стека, се използва append(). За извличане на ел"/>
          <p:cNvSpPr txBox="1"/>
          <p:nvPr>
            <p:ph type="body" sz="half" idx="1"/>
          </p:nvPr>
        </p:nvSpPr>
        <p:spPr>
          <a:prstGeom prst="rect">
            <a:avLst/>
          </a:prstGeom>
        </p:spPr>
        <p:txBody>
          <a:bodyPr/>
          <a:lstStyle/>
          <a:p>
            <a:pPr/>
            <a:r>
              <a:t>Методите на списъчните структури могат да се използват за създаване на организация LIFO (stack), където последния добавен елемент се извлича първи (“last-in, first-out”). За да се добави елемент на върха на стека, се използва append(). За извличане на елемент от върха на стека, се използва pop() без подаден индекс. Пример:</a:t>
            </a:r>
          </a:p>
        </p:txBody>
      </p:sp>
      <p:pic>
        <p:nvPicPr>
          <p:cNvPr id="143" name="Image" descr="Image"/>
          <p:cNvPicPr>
            <a:picLocks noChangeAspect="1"/>
          </p:cNvPicPr>
          <p:nvPr/>
        </p:nvPicPr>
        <p:blipFill>
          <a:blip r:embed="rId2">
            <a:extLst/>
          </a:blip>
          <a:stretch>
            <a:fillRect/>
          </a:stretch>
        </p:blipFill>
        <p:spPr>
          <a:xfrm>
            <a:off x="6592086" y="3546907"/>
            <a:ext cx="5334001" cy="4907963"/>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Lists като Queues"/>
          <p:cNvSpPr txBox="1"/>
          <p:nvPr>
            <p:ph type="title"/>
          </p:nvPr>
        </p:nvSpPr>
        <p:spPr>
          <a:prstGeom prst="rect">
            <a:avLst/>
          </a:prstGeom>
        </p:spPr>
        <p:txBody>
          <a:bodyPr/>
          <a:lstStyle/>
          <a:p>
            <a:pPr/>
            <a:r>
              <a:t>Lists като Queues</a:t>
            </a:r>
          </a:p>
        </p:txBody>
      </p:sp>
      <p:sp>
        <p:nvSpPr>
          <p:cNvPr id="146" name="Списъкът може да се използва и като опашка (queue) с организация FIFO, където първият добавен елемент се извлича първи (“first-in, first-out”). Списъкът не е ефективен за създаване на опашки. Добавянето и извличането на последен елемент са бързи операции"/>
          <p:cNvSpPr txBox="1"/>
          <p:nvPr>
            <p:ph type="body" idx="1"/>
          </p:nvPr>
        </p:nvSpPr>
        <p:spPr>
          <a:prstGeom prst="rect">
            <a:avLst/>
          </a:prstGeom>
        </p:spPr>
        <p:txBody>
          <a:bodyPr/>
          <a:lstStyle/>
          <a:p>
            <a:pPr marL="404495" indent="-404495" defTabSz="531622">
              <a:spcBef>
                <a:spcPts val="3800"/>
              </a:spcBef>
              <a:defRPr sz="3276"/>
            </a:pPr>
            <a:r>
              <a:t>Списъкът може да се използва и като опашка (queue) с организация FIFO, където първият добавен елемент се извлича първи (“first-in, first-out”). Списъкът не е ефективен за създаване на опашки. Добавянето и извличането на последен елемент са бързи операции, но вмъкването и извличането в началоти на списъка е бавна операция, защото се налага елементите да се преместват с един.</a:t>
            </a:r>
          </a:p>
          <a:p>
            <a:pPr marL="404495" indent="-404495" defTabSz="531622">
              <a:spcBef>
                <a:spcPts val="3800"/>
              </a:spcBef>
              <a:defRPr sz="3276"/>
            </a:pPr>
            <a:r>
              <a:t>За реализация на queue се използва collections.deque който тип е създаден специално да има бързо добавяне и извличане в двата края на колекцията.</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Lists като Queues"/>
          <p:cNvSpPr txBox="1"/>
          <p:nvPr>
            <p:ph type="title"/>
          </p:nvPr>
        </p:nvSpPr>
        <p:spPr>
          <a:prstGeom prst="rect">
            <a:avLst/>
          </a:prstGeom>
        </p:spPr>
        <p:txBody>
          <a:bodyPr/>
          <a:lstStyle/>
          <a:p>
            <a:pPr/>
            <a:r>
              <a:t>Lists като Queues</a:t>
            </a:r>
          </a:p>
        </p:txBody>
      </p:sp>
      <p:sp>
        <p:nvSpPr>
          <p:cNvPr id="149" name="Пример:"/>
          <p:cNvSpPr txBox="1"/>
          <p:nvPr>
            <p:ph type="body" idx="1"/>
          </p:nvPr>
        </p:nvSpPr>
        <p:spPr>
          <a:prstGeom prst="rect">
            <a:avLst/>
          </a:prstGeom>
        </p:spPr>
        <p:txBody>
          <a:bodyPr/>
          <a:lstStyle/>
          <a:p>
            <a:pPr/>
            <a:r>
              <a:t>Пример:</a:t>
            </a:r>
          </a:p>
          <a:p>
            <a:pPr/>
          </a:p>
          <a:p>
            <a:pPr/>
          </a:p>
          <a:p>
            <a:pPr/>
          </a:p>
        </p:txBody>
      </p:sp>
      <p:pic>
        <p:nvPicPr>
          <p:cNvPr id="150" name="Image" descr="Image"/>
          <p:cNvPicPr>
            <a:picLocks noChangeAspect="1"/>
          </p:cNvPicPr>
          <p:nvPr/>
        </p:nvPicPr>
        <p:blipFill>
          <a:blip r:embed="rId2">
            <a:extLst/>
          </a:blip>
          <a:stretch>
            <a:fillRect/>
          </a:stretch>
        </p:blipFill>
        <p:spPr>
          <a:xfrm>
            <a:off x="0" y="4551445"/>
            <a:ext cx="13004800" cy="364791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List Comprehensions"/>
          <p:cNvSpPr txBox="1"/>
          <p:nvPr>
            <p:ph type="title"/>
          </p:nvPr>
        </p:nvSpPr>
        <p:spPr>
          <a:prstGeom prst="rect">
            <a:avLst/>
          </a:prstGeom>
        </p:spPr>
        <p:txBody>
          <a:bodyPr/>
          <a:lstStyle/>
          <a:p>
            <a:pPr/>
            <a:r>
              <a:t>List Comprehensions</a:t>
            </a:r>
          </a:p>
        </p:txBody>
      </p:sp>
      <p:sp>
        <p:nvSpPr>
          <p:cNvPr id="153" name="List comprehensions предоставя сбит начин за създаване на списъци. Често срещано приложение е създаване на нови списъци, където всеки елемент е резултат от някои операции, приложени към всеки елемент на друга последователност или итеруема данна, или за с"/>
          <p:cNvSpPr txBox="1"/>
          <p:nvPr>
            <p:ph type="body" idx="1"/>
          </p:nvPr>
        </p:nvSpPr>
        <p:spPr>
          <a:prstGeom prst="rect">
            <a:avLst/>
          </a:prstGeom>
        </p:spPr>
        <p:txBody>
          <a:bodyPr/>
          <a:lstStyle/>
          <a:p>
            <a:pPr marL="386715" indent="-386715" defTabSz="508254">
              <a:spcBef>
                <a:spcPts val="3600"/>
              </a:spcBef>
              <a:defRPr sz="3132"/>
            </a:pPr>
            <a:r>
              <a:t>List comprehensions предоставя сбит начин за създаване на списъци. Често срещано приложение е създаване на нови списъци, където всеки елемент е резултат от някои операции, приложени към всеки елемент на друга последователност или итеруема данна, или за създаване на подпоследователност на тези елементи, които удовлетворяват някакво условие. Например:</a:t>
            </a:r>
          </a:p>
          <a:p>
            <a:pPr marL="386715" indent="-386715" defTabSz="508254">
              <a:spcBef>
                <a:spcPts val="3600"/>
              </a:spcBef>
              <a:defRPr sz="3132"/>
            </a:pPr>
          </a:p>
          <a:p>
            <a:pPr marL="386715" indent="-386715" defTabSz="508254">
              <a:spcBef>
                <a:spcPts val="3600"/>
              </a:spcBef>
              <a:defRPr sz="3132"/>
            </a:pPr>
          </a:p>
        </p:txBody>
      </p:sp>
      <p:pic>
        <p:nvPicPr>
          <p:cNvPr id="154" name="Image" descr="Image"/>
          <p:cNvPicPr>
            <a:picLocks noChangeAspect="1"/>
          </p:cNvPicPr>
          <p:nvPr/>
        </p:nvPicPr>
        <p:blipFill>
          <a:blip r:embed="rId2">
            <a:extLst/>
          </a:blip>
          <a:stretch>
            <a:fillRect/>
          </a:stretch>
        </p:blipFill>
        <p:spPr>
          <a:xfrm>
            <a:off x="2108200" y="6515100"/>
            <a:ext cx="9321800" cy="312420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List Comprehensions"/>
          <p:cNvSpPr txBox="1"/>
          <p:nvPr>
            <p:ph type="title"/>
          </p:nvPr>
        </p:nvSpPr>
        <p:spPr>
          <a:prstGeom prst="rect">
            <a:avLst/>
          </a:prstGeom>
        </p:spPr>
        <p:txBody>
          <a:bodyPr/>
          <a:lstStyle/>
          <a:p>
            <a:pPr/>
            <a:r>
              <a:t>List Comprehensions</a:t>
            </a:r>
          </a:p>
        </p:txBody>
      </p:sp>
      <p:sp>
        <p:nvSpPr>
          <p:cNvPr id="157" name="Показаният код на предходния слайд създава или припокрива променлива с име x, която все още съществува след края на цикъла. Така може да се направи списък от квадратите на елементите на списък без странични ефекти:…"/>
          <p:cNvSpPr txBox="1"/>
          <p:nvPr>
            <p:ph type="body" idx="1"/>
          </p:nvPr>
        </p:nvSpPr>
        <p:spPr>
          <a:prstGeom prst="rect">
            <a:avLst/>
          </a:prstGeom>
        </p:spPr>
        <p:txBody>
          <a:bodyPr/>
          <a:lstStyle/>
          <a:p>
            <a:pPr/>
            <a:r>
              <a:t>Показаният код на предходния слайд създава или припокрива променлива с име x, която все още съществува след края на цикъла. Така може да се направи списък от квадратите на елементите на списък без странични ефекти:</a:t>
            </a:r>
          </a:p>
          <a:p>
            <a:pPr/>
          </a:p>
          <a:p>
            <a:pPr/>
            <a:r>
              <a:t>Или записано по друг начин:</a:t>
            </a:r>
          </a:p>
        </p:txBody>
      </p:sp>
      <p:pic>
        <p:nvPicPr>
          <p:cNvPr id="158" name="Image" descr="Image"/>
          <p:cNvPicPr>
            <a:picLocks noChangeAspect="1"/>
          </p:cNvPicPr>
          <p:nvPr/>
        </p:nvPicPr>
        <p:blipFill>
          <a:blip r:embed="rId2">
            <a:extLst/>
          </a:blip>
          <a:stretch>
            <a:fillRect/>
          </a:stretch>
        </p:blipFill>
        <p:spPr>
          <a:xfrm>
            <a:off x="876300" y="5556250"/>
            <a:ext cx="11582400" cy="1117600"/>
          </a:xfrm>
          <a:prstGeom prst="rect">
            <a:avLst/>
          </a:prstGeom>
          <a:ln w="12700">
            <a:miter lim="400000"/>
          </a:ln>
        </p:spPr>
      </p:pic>
      <p:pic>
        <p:nvPicPr>
          <p:cNvPr id="159" name="Image" descr="Image"/>
          <p:cNvPicPr>
            <a:picLocks noChangeAspect="1"/>
          </p:cNvPicPr>
          <p:nvPr/>
        </p:nvPicPr>
        <p:blipFill>
          <a:blip r:embed="rId3">
            <a:extLst/>
          </a:blip>
          <a:stretch>
            <a:fillRect/>
          </a:stretch>
        </p:blipFill>
        <p:spPr>
          <a:xfrm>
            <a:off x="2108200" y="7702550"/>
            <a:ext cx="8788400" cy="99060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List Comprehensions"/>
          <p:cNvSpPr txBox="1"/>
          <p:nvPr>
            <p:ph type="title"/>
          </p:nvPr>
        </p:nvSpPr>
        <p:spPr>
          <a:prstGeom prst="rect">
            <a:avLst/>
          </a:prstGeom>
        </p:spPr>
        <p:txBody>
          <a:bodyPr/>
          <a:lstStyle/>
          <a:p>
            <a:pPr/>
            <a:r>
              <a:t>List Comprehensions</a:t>
            </a:r>
          </a:p>
        </p:txBody>
      </p:sp>
      <p:sp>
        <p:nvSpPr>
          <p:cNvPr id="162" name="list comprehension се състои от [ ], в които се записва изразм, последван от клауза for, след нея нула или повече клаузи for или if. Резултатът е нов списък, получен от изчислението на израза в контекста на клаузи for и if. Например listcomp комбинира ел"/>
          <p:cNvSpPr txBox="1"/>
          <p:nvPr>
            <p:ph type="body" idx="1"/>
          </p:nvPr>
        </p:nvSpPr>
        <p:spPr>
          <a:prstGeom prst="rect">
            <a:avLst/>
          </a:prstGeom>
        </p:spPr>
        <p:txBody>
          <a:bodyPr/>
          <a:lstStyle/>
          <a:p>
            <a:pPr/>
            <a:r>
              <a:t>list comprehension се състои от [ ], в които се записва изразм, последван от клауза for, след нея нула или повече клаузи for или if. Резултатът е нов списък, получен от изчислението на израза в контекста на клаузи for и if. Например listcomp комбинира елементите на двата списъка, които не съвпадат:</a:t>
            </a:r>
          </a:p>
          <a:p>
            <a:pPr/>
          </a:p>
        </p:txBody>
      </p:sp>
      <p:pic>
        <p:nvPicPr>
          <p:cNvPr id="163" name="Image" descr="Image"/>
          <p:cNvPicPr>
            <a:picLocks noChangeAspect="1"/>
          </p:cNvPicPr>
          <p:nvPr/>
        </p:nvPicPr>
        <p:blipFill>
          <a:blip r:embed="rId2">
            <a:extLst/>
          </a:blip>
          <a:stretch>
            <a:fillRect/>
          </a:stretch>
        </p:blipFill>
        <p:spPr>
          <a:xfrm>
            <a:off x="0" y="6710907"/>
            <a:ext cx="13004800" cy="1310186"/>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List Comprehensions"/>
          <p:cNvSpPr txBox="1"/>
          <p:nvPr>
            <p:ph type="title"/>
          </p:nvPr>
        </p:nvSpPr>
        <p:spPr>
          <a:prstGeom prst="rect">
            <a:avLst/>
          </a:prstGeom>
        </p:spPr>
        <p:txBody>
          <a:bodyPr/>
          <a:lstStyle/>
          <a:p>
            <a:pPr/>
            <a:r>
              <a:t>List Comprehensions</a:t>
            </a:r>
          </a:p>
        </p:txBody>
      </p:sp>
      <p:sp>
        <p:nvSpPr>
          <p:cNvPr id="166" name="Този пример може да бъде записан и чрез:…"/>
          <p:cNvSpPr txBox="1"/>
          <p:nvPr>
            <p:ph type="body" idx="1"/>
          </p:nvPr>
        </p:nvSpPr>
        <p:spPr>
          <a:prstGeom prst="rect">
            <a:avLst/>
          </a:prstGeom>
        </p:spPr>
        <p:txBody>
          <a:bodyPr/>
          <a:lstStyle/>
          <a:p>
            <a:pPr/>
            <a:r>
              <a:t>Този пример може да бъде записан и чрез:</a:t>
            </a:r>
          </a:p>
          <a:p>
            <a:pPr/>
          </a:p>
          <a:p>
            <a:pPr/>
          </a:p>
          <a:p>
            <a:pPr/>
          </a:p>
          <a:p>
            <a:pPr/>
            <a:r>
              <a:t>Ако изразът е tuple (т.е. (x, y) в предходния пример), трябва да се използват скоби.</a:t>
            </a:r>
          </a:p>
        </p:txBody>
      </p:sp>
      <p:pic>
        <p:nvPicPr>
          <p:cNvPr id="167" name="Image" descr="Image"/>
          <p:cNvPicPr>
            <a:picLocks noChangeAspect="1"/>
          </p:cNvPicPr>
          <p:nvPr/>
        </p:nvPicPr>
        <p:blipFill>
          <a:blip r:embed="rId2">
            <a:extLst/>
          </a:blip>
          <a:stretch>
            <a:fillRect/>
          </a:stretch>
        </p:blipFill>
        <p:spPr>
          <a:xfrm>
            <a:off x="1091381" y="3750914"/>
            <a:ext cx="10822038" cy="3297957"/>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List Comprehensions"/>
          <p:cNvSpPr txBox="1"/>
          <p:nvPr>
            <p:ph type="title"/>
          </p:nvPr>
        </p:nvSpPr>
        <p:spPr>
          <a:prstGeom prst="rect">
            <a:avLst/>
          </a:prstGeom>
        </p:spPr>
        <p:txBody>
          <a:bodyPr/>
          <a:lstStyle/>
          <a:p>
            <a:pPr/>
            <a:r>
              <a:t>List Comprehensions</a:t>
            </a:r>
          </a:p>
        </p:txBody>
      </p:sp>
      <p:sp>
        <p:nvSpPr>
          <p:cNvPr id="170" name="Double-click to edit"/>
          <p:cNvSpPr txBox="1"/>
          <p:nvPr>
            <p:ph type="body" idx="1"/>
          </p:nvPr>
        </p:nvSpPr>
        <p:spPr>
          <a:prstGeom prst="rect">
            <a:avLst/>
          </a:prstGeom>
        </p:spPr>
        <p:txBody>
          <a:bodyPr/>
          <a:lstStyle/>
          <a:p>
            <a:pPr/>
          </a:p>
        </p:txBody>
      </p:sp>
      <p:pic>
        <p:nvPicPr>
          <p:cNvPr id="171" name="Image" descr="Image"/>
          <p:cNvPicPr>
            <a:picLocks noChangeAspect="1"/>
          </p:cNvPicPr>
          <p:nvPr/>
        </p:nvPicPr>
        <p:blipFill>
          <a:blip r:embed="rId2">
            <a:extLst/>
          </a:blip>
          <a:stretch>
            <a:fillRect/>
          </a:stretch>
        </p:blipFill>
        <p:spPr>
          <a:xfrm>
            <a:off x="1627148" y="2112635"/>
            <a:ext cx="9750504" cy="770410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List Comprehensions"/>
          <p:cNvSpPr txBox="1"/>
          <p:nvPr>
            <p:ph type="title"/>
          </p:nvPr>
        </p:nvSpPr>
        <p:spPr>
          <a:prstGeom prst="rect">
            <a:avLst/>
          </a:prstGeom>
        </p:spPr>
        <p:txBody>
          <a:bodyPr/>
          <a:lstStyle/>
          <a:p>
            <a:pPr/>
            <a:r>
              <a:t>List Comprehensions</a:t>
            </a:r>
          </a:p>
        </p:txBody>
      </p:sp>
      <p:sp>
        <p:nvSpPr>
          <p:cNvPr id="174" name="List comprehensions могат да съдържат сложни изрази и вложени функции:"/>
          <p:cNvSpPr txBox="1"/>
          <p:nvPr>
            <p:ph type="body" idx="1"/>
          </p:nvPr>
        </p:nvSpPr>
        <p:spPr>
          <a:prstGeom prst="rect">
            <a:avLst/>
          </a:prstGeom>
        </p:spPr>
        <p:txBody>
          <a:bodyPr/>
          <a:lstStyle/>
          <a:p>
            <a:pPr/>
            <a:r>
              <a:t>List comprehensions могат да съдържат сложни изрази и вложени функции:</a:t>
            </a:r>
          </a:p>
          <a:p>
            <a:pPr/>
          </a:p>
        </p:txBody>
      </p:sp>
      <p:pic>
        <p:nvPicPr>
          <p:cNvPr id="175" name="Image" descr="Image"/>
          <p:cNvPicPr>
            <a:picLocks noChangeAspect="1"/>
          </p:cNvPicPr>
          <p:nvPr/>
        </p:nvPicPr>
        <p:blipFill>
          <a:blip r:embed="rId2">
            <a:extLst/>
          </a:blip>
          <a:stretch>
            <a:fillRect/>
          </a:stretch>
        </p:blipFill>
        <p:spPr>
          <a:xfrm>
            <a:off x="863600" y="5905500"/>
            <a:ext cx="11277600" cy="180340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Вложени List Comprehensions"/>
          <p:cNvSpPr txBox="1"/>
          <p:nvPr>
            <p:ph type="title"/>
          </p:nvPr>
        </p:nvSpPr>
        <p:spPr>
          <a:prstGeom prst="rect">
            <a:avLst/>
          </a:prstGeom>
        </p:spPr>
        <p:txBody>
          <a:bodyPr/>
          <a:lstStyle>
            <a:lvl1pPr defTabSz="490727">
              <a:defRPr sz="6719"/>
            </a:lvl1pPr>
          </a:lstStyle>
          <a:p>
            <a:pPr/>
            <a:r>
              <a:t>Вложени List Comprehensions</a:t>
            </a:r>
          </a:p>
        </p:txBody>
      </p:sp>
      <p:sp>
        <p:nvSpPr>
          <p:cNvPr id="178" name="Началният израз в list comprehension може да бъде произволен, включително друг list comprehension.…"/>
          <p:cNvSpPr txBox="1"/>
          <p:nvPr>
            <p:ph type="body" idx="1"/>
          </p:nvPr>
        </p:nvSpPr>
        <p:spPr>
          <a:prstGeom prst="rect">
            <a:avLst/>
          </a:prstGeom>
        </p:spPr>
        <p:txBody>
          <a:bodyPr/>
          <a:lstStyle/>
          <a:p>
            <a:pPr/>
            <a:r>
              <a:t>Началният израз в list comprehension може да бъде произволен, включително друг list comprehension.</a:t>
            </a:r>
          </a:p>
          <a:p>
            <a:pPr/>
            <a:r>
              <a:t>Пример: ако е дадена матрица 3x4, може да се реализира чрез списък от 3 списъка, всеки от по 4 елемента:</a:t>
            </a:r>
          </a:p>
          <a:p>
            <a:pPr/>
          </a:p>
        </p:txBody>
      </p:sp>
      <p:pic>
        <p:nvPicPr>
          <p:cNvPr id="179" name="Image" descr="Image"/>
          <p:cNvPicPr>
            <a:picLocks noChangeAspect="1"/>
          </p:cNvPicPr>
          <p:nvPr/>
        </p:nvPicPr>
        <p:blipFill>
          <a:blip r:embed="rId2">
            <a:extLst/>
          </a:blip>
          <a:stretch>
            <a:fillRect/>
          </a:stretch>
        </p:blipFill>
        <p:spPr>
          <a:xfrm>
            <a:off x="4254500" y="6197600"/>
            <a:ext cx="6705600" cy="2768600"/>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Вложени List Comprehensions"/>
          <p:cNvSpPr txBox="1"/>
          <p:nvPr>
            <p:ph type="title"/>
          </p:nvPr>
        </p:nvSpPr>
        <p:spPr>
          <a:prstGeom prst="rect">
            <a:avLst/>
          </a:prstGeom>
        </p:spPr>
        <p:txBody>
          <a:bodyPr/>
          <a:lstStyle>
            <a:lvl1pPr defTabSz="490727">
              <a:defRPr sz="6719"/>
            </a:lvl1pPr>
          </a:lstStyle>
          <a:p>
            <a:pPr/>
            <a:r>
              <a:t>Вложени List Comprehensions</a:t>
            </a:r>
          </a:p>
        </p:txBody>
      </p:sp>
      <p:sp>
        <p:nvSpPr>
          <p:cNvPr id="182" name="Примерът по-долу транспонира матрицата:"/>
          <p:cNvSpPr txBox="1"/>
          <p:nvPr>
            <p:ph type="body" idx="1"/>
          </p:nvPr>
        </p:nvSpPr>
        <p:spPr>
          <a:prstGeom prst="rect">
            <a:avLst/>
          </a:prstGeom>
        </p:spPr>
        <p:txBody>
          <a:bodyPr/>
          <a:lstStyle/>
          <a:p>
            <a:pPr/>
            <a:r>
              <a:t>Примерът по-долу транспонира матрицата:</a:t>
            </a:r>
          </a:p>
          <a:p>
            <a:pPr/>
          </a:p>
        </p:txBody>
      </p:sp>
      <p:pic>
        <p:nvPicPr>
          <p:cNvPr id="183" name="Image" descr="Image"/>
          <p:cNvPicPr>
            <a:picLocks noChangeAspect="1"/>
          </p:cNvPicPr>
          <p:nvPr/>
        </p:nvPicPr>
        <p:blipFill>
          <a:blip r:embed="rId2">
            <a:extLst/>
          </a:blip>
          <a:stretch>
            <a:fillRect/>
          </a:stretch>
        </p:blipFill>
        <p:spPr>
          <a:xfrm>
            <a:off x="304800" y="5892800"/>
            <a:ext cx="12395200" cy="1270000"/>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Вложени List Comprehensions"/>
          <p:cNvSpPr txBox="1"/>
          <p:nvPr>
            <p:ph type="title"/>
          </p:nvPr>
        </p:nvSpPr>
        <p:spPr>
          <a:prstGeom prst="rect">
            <a:avLst/>
          </a:prstGeom>
        </p:spPr>
        <p:txBody>
          <a:bodyPr/>
          <a:lstStyle>
            <a:lvl1pPr defTabSz="490727">
              <a:defRPr sz="6719"/>
            </a:lvl1pPr>
          </a:lstStyle>
          <a:p>
            <a:pPr/>
            <a:r>
              <a:t>Вложени List Comprehensions</a:t>
            </a:r>
          </a:p>
        </p:txBody>
      </p:sp>
      <p:sp>
        <p:nvSpPr>
          <p:cNvPr id="186" name="Както бе показано на предходния слайд, вложеният listcomp се изчислява в контекста на for. Следователно примерът може да бъде записан като:"/>
          <p:cNvSpPr txBox="1"/>
          <p:nvPr>
            <p:ph type="body" idx="1"/>
          </p:nvPr>
        </p:nvSpPr>
        <p:spPr>
          <a:prstGeom prst="rect">
            <a:avLst/>
          </a:prstGeom>
        </p:spPr>
        <p:txBody>
          <a:bodyPr/>
          <a:lstStyle/>
          <a:p>
            <a:pPr/>
            <a:r>
              <a:t>Както бе показано на предходния слайд, вложеният listcomp се изчислява в контекста на for. Следователно примерът може да бъде записан като:</a:t>
            </a:r>
          </a:p>
          <a:p>
            <a:pPr/>
          </a:p>
        </p:txBody>
      </p:sp>
      <p:pic>
        <p:nvPicPr>
          <p:cNvPr id="187" name="Image" descr="Image"/>
          <p:cNvPicPr>
            <a:picLocks noChangeAspect="1"/>
          </p:cNvPicPr>
          <p:nvPr/>
        </p:nvPicPr>
        <p:blipFill>
          <a:blip r:embed="rId2">
            <a:extLst/>
          </a:blip>
          <a:stretch>
            <a:fillRect/>
          </a:stretch>
        </p:blipFill>
        <p:spPr>
          <a:xfrm>
            <a:off x="101600" y="5880100"/>
            <a:ext cx="12801600" cy="3251200"/>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Вложени List Comprehensions"/>
          <p:cNvSpPr txBox="1"/>
          <p:nvPr>
            <p:ph type="title"/>
          </p:nvPr>
        </p:nvSpPr>
        <p:spPr>
          <a:prstGeom prst="rect">
            <a:avLst/>
          </a:prstGeom>
        </p:spPr>
        <p:txBody>
          <a:bodyPr/>
          <a:lstStyle>
            <a:lvl1pPr defTabSz="490727">
              <a:defRPr sz="6719"/>
            </a:lvl1pPr>
          </a:lstStyle>
          <a:p>
            <a:pPr/>
            <a:r>
              <a:t>Вложени List Comprehensions</a:t>
            </a:r>
          </a:p>
        </p:txBody>
      </p:sp>
      <p:sp>
        <p:nvSpPr>
          <p:cNvPr id="190" name="Или чрез кода:"/>
          <p:cNvSpPr txBox="1"/>
          <p:nvPr>
            <p:ph type="body" idx="1"/>
          </p:nvPr>
        </p:nvSpPr>
        <p:spPr>
          <a:prstGeom prst="rect">
            <a:avLst/>
          </a:prstGeom>
        </p:spPr>
        <p:txBody>
          <a:bodyPr/>
          <a:lstStyle/>
          <a:p>
            <a:pPr/>
            <a:r>
              <a:t>Или чрез кода:</a:t>
            </a:r>
          </a:p>
          <a:p>
            <a:pPr/>
          </a:p>
          <a:p>
            <a:pPr/>
          </a:p>
          <a:p>
            <a:pPr/>
          </a:p>
        </p:txBody>
      </p:sp>
      <p:pic>
        <p:nvPicPr>
          <p:cNvPr id="191" name="Image" descr="Image"/>
          <p:cNvPicPr>
            <a:picLocks noChangeAspect="1"/>
          </p:cNvPicPr>
          <p:nvPr/>
        </p:nvPicPr>
        <p:blipFill>
          <a:blip r:embed="rId2">
            <a:extLst/>
          </a:blip>
          <a:stretch>
            <a:fillRect/>
          </a:stretch>
        </p:blipFill>
        <p:spPr>
          <a:xfrm>
            <a:off x="0" y="4219914"/>
            <a:ext cx="13004800" cy="4437972"/>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Вложени List Comprehensions"/>
          <p:cNvSpPr txBox="1"/>
          <p:nvPr>
            <p:ph type="title"/>
          </p:nvPr>
        </p:nvSpPr>
        <p:spPr>
          <a:prstGeom prst="rect">
            <a:avLst/>
          </a:prstGeom>
        </p:spPr>
        <p:txBody>
          <a:bodyPr/>
          <a:lstStyle>
            <a:lvl1pPr defTabSz="490727">
              <a:defRPr sz="6719"/>
            </a:lvl1pPr>
          </a:lstStyle>
          <a:p>
            <a:pPr/>
            <a:r>
              <a:t>Вложени List Comprehensions</a:t>
            </a:r>
          </a:p>
        </p:txBody>
      </p:sp>
      <p:sp>
        <p:nvSpPr>
          <p:cNvPr id="194" name="В реалните примери се препоръчва използване на вградени функции за комплексни изчисления. Функцията zip() може да бъде използвана за подобни случаи:"/>
          <p:cNvSpPr txBox="1"/>
          <p:nvPr>
            <p:ph type="body" idx="1"/>
          </p:nvPr>
        </p:nvSpPr>
        <p:spPr>
          <a:prstGeom prst="rect">
            <a:avLst/>
          </a:prstGeom>
        </p:spPr>
        <p:txBody>
          <a:bodyPr/>
          <a:lstStyle/>
          <a:p>
            <a:pPr/>
            <a:r>
              <a:t>В реалните примери се препоръчва използване на вградени функции за комплексни изчисления. Функцията zip() може да бъде използвана за подобни случаи:</a:t>
            </a:r>
          </a:p>
          <a:p>
            <a:pPr/>
          </a:p>
        </p:txBody>
      </p:sp>
      <p:pic>
        <p:nvPicPr>
          <p:cNvPr id="195" name="Image" descr="Image"/>
          <p:cNvPicPr>
            <a:picLocks noChangeAspect="1"/>
          </p:cNvPicPr>
          <p:nvPr/>
        </p:nvPicPr>
        <p:blipFill>
          <a:blip r:embed="rId2">
            <a:extLst/>
          </a:blip>
          <a:stretch>
            <a:fillRect/>
          </a:stretch>
        </p:blipFill>
        <p:spPr>
          <a:xfrm>
            <a:off x="457200" y="5892800"/>
            <a:ext cx="12090400" cy="1473200"/>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Оператор del"/>
          <p:cNvSpPr txBox="1"/>
          <p:nvPr>
            <p:ph type="title"/>
          </p:nvPr>
        </p:nvSpPr>
        <p:spPr>
          <a:prstGeom prst="rect">
            <a:avLst/>
          </a:prstGeom>
        </p:spPr>
        <p:txBody>
          <a:bodyPr/>
          <a:lstStyle/>
          <a:p>
            <a:pPr/>
            <a:r>
              <a:t>Оператор del</a:t>
            </a:r>
          </a:p>
        </p:txBody>
      </p:sp>
      <p:sp>
        <p:nvSpPr>
          <p:cNvPr id="198" name="Премахването на елемент от списък по зададен индекс става с оператор del. За разлика от метода pop(), който връща стойност, del не връща нищо. Операторът del може да изтрива и подсписък или целия списък. Например:"/>
          <p:cNvSpPr txBox="1"/>
          <p:nvPr>
            <p:ph type="body" idx="1"/>
          </p:nvPr>
        </p:nvSpPr>
        <p:spPr>
          <a:prstGeom prst="rect">
            <a:avLst/>
          </a:prstGeom>
        </p:spPr>
        <p:txBody>
          <a:bodyPr/>
          <a:lstStyle/>
          <a:p>
            <a:pPr/>
            <a:r>
              <a:t>Премахването на елемент от списък по зададен индекс става с оператор del. За разлика от метода pop(), който връща стойност, del не връща нищо. Операторът del може да изтрива и подсписък или целия списък. Например:</a:t>
            </a:r>
          </a:p>
          <a:p>
            <a:pPr/>
          </a:p>
          <a:p>
            <a:pPr/>
          </a:p>
        </p:txBody>
      </p:sp>
      <p:pic>
        <p:nvPicPr>
          <p:cNvPr id="199" name="Image" descr="Image"/>
          <p:cNvPicPr>
            <a:picLocks noChangeAspect="1"/>
          </p:cNvPicPr>
          <p:nvPr/>
        </p:nvPicPr>
        <p:blipFill>
          <a:blip r:embed="rId2">
            <a:extLst/>
          </a:blip>
          <a:stretch>
            <a:fillRect/>
          </a:stretch>
        </p:blipFill>
        <p:spPr>
          <a:xfrm>
            <a:off x="2639040" y="5594601"/>
            <a:ext cx="7726720" cy="3943847"/>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Оператор del"/>
          <p:cNvSpPr txBox="1"/>
          <p:nvPr>
            <p:ph type="title"/>
          </p:nvPr>
        </p:nvSpPr>
        <p:spPr>
          <a:prstGeom prst="rect">
            <a:avLst/>
          </a:prstGeom>
        </p:spPr>
        <p:txBody>
          <a:bodyPr/>
          <a:lstStyle/>
          <a:p>
            <a:pPr/>
            <a:r>
              <a:t>Оператор del</a:t>
            </a:r>
          </a:p>
        </p:txBody>
      </p:sp>
      <p:sp>
        <p:nvSpPr>
          <p:cNvPr id="202" name="del може да се използва за изтриване на променлива:…"/>
          <p:cNvSpPr txBox="1"/>
          <p:nvPr>
            <p:ph type="body" idx="1"/>
          </p:nvPr>
        </p:nvSpPr>
        <p:spPr>
          <a:prstGeom prst="rect">
            <a:avLst/>
          </a:prstGeom>
        </p:spPr>
        <p:txBody>
          <a:bodyPr/>
          <a:lstStyle/>
          <a:p>
            <a:pPr/>
            <a:r>
              <a:t>del може да се използва за изтриване на променлива:</a:t>
            </a:r>
          </a:p>
          <a:p>
            <a:pPr/>
          </a:p>
          <a:p>
            <a:pPr/>
            <a:r>
              <a:t>Използването на променливата след del дава грешка, докато не й бъде присвоена нова стойност. </a:t>
            </a:r>
          </a:p>
        </p:txBody>
      </p:sp>
      <p:pic>
        <p:nvPicPr>
          <p:cNvPr id="203" name="Image" descr="Image"/>
          <p:cNvPicPr>
            <a:picLocks noChangeAspect="1"/>
          </p:cNvPicPr>
          <p:nvPr/>
        </p:nvPicPr>
        <p:blipFill>
          <a:blip r:embed="rId2">
            <a:extLst/>
          </a:blip>
          <a:stretch>
            <a:fillRect/>
          </a:stretch>
        </p:blipFill>
        <p:spPr>
          <a:xfrm>
            <a:off x="4533900" y="4927600"/>
            <a:ext cx="3937000" cy="990600"/>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Tuples и Sequences"/>
          <p:cNvSpPr txBox="1"/>
          <p:nvPr>
            <p:ph type="title"/>
          </p:nvPr>
        </p:nvSpPr>
        <p:spPr>
          <a:prstGeom prst="rect">
            <a:avLst/>
          </a:prstGeom>
        </p:spPr>
        <p:txBody>
          <a:bodyPr/>
          <a:lstStyle/>
          <a:p>
            <a:pPr/>
            <a:r>
              <a:t>Tuples и Sequences</a:t>
            </a:r>
          </a:p>
        </p:txBody>
      </p:sp>
      <p:sp>
        <p:nvSpPr>
          <p:cNvPr id="206" name="Списъците и низовете имат много общи характеристики, като индексиране и slicing. Те са два примера на тип данни последователност. Python разполага и с друга стандартна последователност: tuple."/>
          <p:cNvSpPr txBox="1"/>
          <p:nvPr>
            <p:ph type="body" idx="1"/>
          </p:nvPr>
        </p:nvSpPr>
        <p:spPr>
          <a:prstGeom prst="rect">
            <a:avLst/>
          </a:prstGeom>
        </p:spPr>
        <p:txBody>
          <a:bodyPr/>
          <a:lstStyle/>
          <a:p>
            <a:pPr/>
            <a:r>
              <a:t>Списъците и низовете имат много общи характеристики, като индексиране и slicing. Те са два примера на тип данни последователност. Python разполага и с друга стандартна последователност: tuple.</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Tuples и Sequences"/>
          <p:cNvSpPr txBox="1"/>
          <p:nvPr>
            <p:ph type="title"/>
          </p:nvPr>
        </p:nvSpPr>
        <p:spPr>
          <a:prstGeom prst="rect">
            <a:avLst/>
          </a:prstGeom>
        </p:spPr>
        <p:txBody>
          <a:bodyPr/>
          <a:lstStyle/>
          <a:p>
            <a:pPr/>
            <a:r>
              <a:t>Tuples и Sequences</a:t>
            </a:r>
          </a:p>
        </p:txBody>
      </p:sp>
      <p:sp>
        <p:nvSpPr>
          <p:cNvPr id="209" name="Данната tuple се състои от стойности, разделени със запетая, например:"/>
          <p:cNvSpPr txBox="1"/>
          <p:nvPr>
            <p:ph type="body" idx="1"/>
          </p:nvPr>
        </p:nvSpPr>
        <p:spPr>
          <a:prstGeom prst="rect">
            <a:avLst/>
          </a:prstGeom>
        </p:spPr>
        <p:txBody>
          <a:bodyPr/>
          <a:lstStyle/>
          <a:p>
            <a:pPr marL="422275" indent="-422275" defTabSz="554990">
              <a:spcBef>
                <a:spcPts val="3900"/>
              </a:spcBef>
              <a:defRPr sz="3420"/>
            </a:pPr>
            <a:r>
              <a:t>Данната tuple се състои от стойности, разделени със запетая, например:</a:t>
            </a:r>
          </a:p>
          <a:p>
            <a:pPr marL="422275" indent="-422275" defTabSz="554990">
              <a:spcBef>
                <a:spcPts val="3900"/>
              </a:spcBef>
              <a:defRPr sz="3420"/>
            </a:pPr>
          </a:p>
          <a:p>
            <a:pPr marL="422275" indent="-422275" defTabSz="554990">
              <a:spcBef>
                <a:spcPts val="3900"/>
              </a:spcBef>
              <a:defRPr sz="3420"/>
            </a:pPr>
          </a:p>
          <a:p>
            <a:pPr marL="422275" indent="-422275" defTabSz="554990">
              <a:spcBef>
                <a:spcPts val="3900"/>
              </a:spcBef>
              <a:defRPr sz="3420"/>
            </a:pPr>
          </a:p>
          <a:p>
            <a:pPr marL="422275" indent="-422275" defTabSz="554990">
              <a:spcBef>
                <a:spcPts val="3900"/>
              </a:spcBef>
              <a:defRPr sz="3420"/>
            </a:pPr>
          </a:p>
        </p:txBody>
      </p:sp>
      <p:pic>
        <p:nvPicPr>
          <p:cNvPr id="210" name="Image" descr="Image"/>
          <p:cNvPicPr>
            <a:picLocks noChangeAspect="1"/>
          </p:cNvPicPr>
          <p:nvPr/>
        </p:nvPicPr>
        <p:blipFill>
          <a:blip r:embed="rId2">
            <a:extLst/>
          </a:blip>
          <a:stretch>
            <a:fillRect/>
          </a:stretch>
        </p:blipFill>
        <p:spPr>
          <a:xfrm>
            <a:off x="1747382" y="3787947"/>
            <a:ext cx="9510036" cy="5852331"/>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Tuples и Sequences"/>
          <p:cNvSpPr txBox="1"/>
          <p:nvPr>
            <p:ph type="title"/>
          </p:nvPr>
        </p:nvSpPr>
        <p:spPr>
          <a:prstGeom prst="rect">
            <a:avLst/>
          </a:prstGeom>
        </p:spPr>
        <p:txBody>
          <a:bodyPr/>
          <a:lstStyle/>
          <a:p>
            <a:pPr/>
            <a:r>
              <a:t>Tuples и Sequences</a:t>
            </a:r>
          </a:p>
        </p:txBody>
      </p:sp>
      <p:sp>
        <p:nvSpPr>
          <p:cNvPr id="213" name="Важно е да се отбележи, че  при печат tuples винаги са поставени в скоби, така че вложените tuples да се интерпретират коректно. Те могат да се въвеждат със или без скоби are interpreted correctly; they may be input with or without surround; независимо о"/>
          <p:cNvSpPr txBox="1"/>
          <p:nvPr>
            <p:ph type="body" idx="1"/>
          </p:nvPr>
        </p:nvSpPr>
        <p:spPr>
          <a:prstGeom prst="rect">
            <a:avLst/>
          </a:prstGeom>
        </p:spPr>
        <p:txBody>
          <a:bodyPr/>
          <a:lstStyle/>
          <a:p>
            <a:pPr marL="342264" indent="-342264" defTabSz="449833">
              <a:spcBef>
                <a:spcPts val="3200"/>
              </a:spcBef>
              <a:defRPr sz="2772"/>
            </a:pPr>
            <a:r>
              <a:t>Важно е да се отбележи, че  при печат tuples винаги са поставени в скоби, така че вложените tuples да се интерпретират коректно. Те могат да се въвеждат със или без скоби are interpreted correctly; they may be input with or without surround; независимо от това скобите се поставят често за по-лесно разчитане. Не е допустимо да се сменя стойността на елементите на tuple, но е възможно да се създаде tuple от mutable objects, като списъци.</a:t>
            </a:r>
          </a:p>
          <a:p>
            <a:pPr marL="342264" indent="-342264" defTabSz="449833">
              <a:spcBef>
                <a:spcPts val="3200"/>
              </a:spcBef>
              <a:defRPr sz="2772"/>
            </a:pPr>
            <a:r>
              <a:t>Независимо, че tuples изглеждат като списъци, често се използват в различни ситуации и за различни цели. Tuples са immutable и обикновено съдържат хетерогенна последователност от елементи, която се достъпва чрез unpacking или indexing. Списъците са mutable, техните елементи обикновено са хомогенници достъпадо тях е чрез итерация.</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Tuples и Sequences"/>
          <p:cNvSpPr txBox="1"/>
          <p:nvPr>
            <p:ph type="title"/>
          </p:nvPr>
        </p:nvSpPr>
        <p:spPr>
          <a:prstGeom prst="rect">
            <a:avLst/>
          </a:prstGeom>
        </p:spPr>
        <p:txBody>
          <a:bodyPr/>
          <a:lstStyle/>
          <a:p>
            <a:pPr/>
            <a:r>
              <a:t>Tuples и Sequences</a:t>
            </a:r>
          </a:p>
        </p:txBody>
      </p:sp>
      <p:sp>
        <p:nvSpPr>
          <p:cNvPr id="216" name="Един специален проблем е конструирането на tuple, съдържащ 0 или 1 елемент. Празният tuple се предствя като пазни скоби: ( ); tuple с един елемент се създава чрез стойност, последвана от запетая (не е достатъчно да се загради в скоби). Например:"/>
          <p:cNvSpPr txBox="1"/>
          <p:nvPr>
            <p:ph type="body" idx="1"/>
          </p:nvPr>
        </p:nvSpPr>
        <p:spPr>
          <a:prstGeom prst="rect">
            <a:avLst/>
          </a:prstGeom>
        </p:spPr>
        <p:txBody>
          <a:bodyPr/>
          <a:lstStyle/>
          <a:p>
            <a:pPr marL="426719" indent="-426719" defTabSz="560831">
              <a:spcBef>
                <a:spcPts val="4000"/>
              </a:spcBef>
              <a:defRPr sz="3455"/>
            </a:pPr>
            <a:r>
              <a:t>Един специален проблем е конструирането на tuple, съдържащ 0 или 1 елемент. Празният tuple се предствя като пазни скоби: ( ); tuple с един елемент се създава чрез стойност, последвана от запетая (не е достатъчно да се загради в скоби). Например:</a:t>
            </a:r>
          </a:p>
          <a:p>
            <a:pPr marL="426719" indent="-426719" defTabSz="560831">
              <a:spcBef>
                <a:spcPts val="4000"/>
              </a:spcBef>
              <a:defRPr sz="3455"/>
            </a:pPr>
          </a:p>
          <a:p>
            <a:pPr marL="426719" indent="-426719" defTabSz="560831">
              <a:spcBef>
                <a:spcPts val="4000"/>
              </a:spcBef>
              <a:defRPr sz="3455"/>
            </a:pPr>
          </a:p>
        </p:txBody>
      </p:sp>
      <p:pic>
        <p:nvPicPr>
          <p:cNvPr id="217" name="Image" descr="Image"/>
          <p:cNvPicPr>
            <a:picLocks noChangeAspect="1"/>
          </p:cNvPicPr>
          <p:nvPr/>
        </p:nvPicPr>
        <p:blipFill>
          <a:blip r:embed="rId2">
            <a:extLst/>
          </a:blip>
          <a:stretch>
            <a:fillRect/>
          </a:stretch>
        </p:blipFill>
        <p:spPr>
          <a:xfrm>
            <a:off x="1047819" y="6208215"/>
            <a:ext cx="10909162" cy="3507285"/>
          </a:xfrm>
          <a:prstGeom prst="rect">
            <a:avLst/>
          </a:prstGeom>
          <a:ln w="12700">
            <a:miter lim="400000"/>
          </a:ln>
        </p:spPr>
      </p:pic>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Tuples и Sequences"/>
          <p:cNvSpPr txBox="1"/>
          <p:nvPr>
            <p:ph type="title"/>
          </p:nvPr>
        </p:nvSpPr>
        <p:spPr>
          <a:prstGeom prst="rect">
            <a:avLst/>
          </a:prstGeom>
        </p:spPr>
        <p:txBody>
          <a:bodyPr/>
          <a:lstStyle/>
          <a:p>
            <a:pPr/>
            <a:r>
              <a:t>Tuples и Sequences</a:t>
            </a:r>
          </a:p>
        </p:txBody>
      </p:sp>
      <p:sp>
        <p:nvSpPr>
          <p:cNvPr id="220" name="Операторът t = 12345, 54321, 'hello!' е пример за tuple пакетиране: стойностите 12345, 54321 и 'hello!' са пакетирани заедно в tuple. Обратната операция също е възможна:…"/>
          <p:cNvSpPr txBox="1"/>
          <p:nvPr>
            <p:ph type="body" idx="1"/>
          </p:nvPr>
        </p:nvSpPr>
        <p:spPr>
          <a:prstGeom prst="rect">
            <a:avLst/>
          </a:prstGeom>
        </p:spPr>
        <p:txBody>
          <a:bodyPr/>
          <a:lstStyle/>
          <a:p>
            <a:pPr marL="355600" indent="-355600" defTabSz="467359">
              <a:spcBef>
                <a:spcPts val="3300"/>
              </a:spcBef>
              <a:defRPr sz="2880"/>
            </a:pPr>
            <a:r>
              <a:t>Операторът t = 12345, 54321, 'hello!' е пример за tuple пакетиране: стойностите 12345, 54321 и 'hello!' са пакетирани заедно в tuple. Обратната операция също е възможна:</a:t>
            </a:r>
          </a:p>
          <a:p>
            <a:pPr marL="355600" indent="-355600" defTabSz="467359">
              <a:spcBef>
                <a:spcPts val="3300"/>
              </a:spcBef>
              <a:defRPr sz="2880"/>
            </a:pPr>
          </a:p>
          <a:p>
            <a:pPr marL="355600" indent="-355600" defTabSz="467359">
              <a:spcBef>
                <a:spcPts val="3300"/>
              </a:spcBef>
              <a:defRPr sz="2880"/>
            </a:pPr>
          </a:p>
          <a:p>
            <a:pPr marL="355600" indent="-355600" defTabSz="467359">
              <a:spcBef>
                <a:spcPts val="3300"/>
              </a:spcBef>
              <a:defRPr sz="2880"/>
            </a:pPr>
            <a:r>
              <a:t>Тази операция се нарича sequence unpacking и работи за всяка последователност като се изпълнява отдяно наляво. Sequence unpacking изисква от дясната страна да има толкова елементи в последователността, колкото са отляво на присвояването. Множественото присвояване е комбинация от две операции: tuple packing и sequence unpacking.</a:t>
            </a:r>
          </a:p>
        </p:txBody>
      </p:sp>
      <p:pic>
        <p:nvPicPr>
          <p:cNvPr id="221" name="Image" descr="Image"/>
          <p:cNvPicPr>
            <a:picLocks noChangeAspect="1"/>
          </p:cNvPicPr>
          <p:nvPr/>
        </p:nvPicPr>
        <p:blipFill>
          <a:blip r:embed="rId2">
            <a:extLst/>
          </a:blip>
          <a:stretch>
            <a:fillRect/>
          </a:stretch>
        </p:blipFill>
        <p:spPr>
          <a:xfrm>
            <a:off x="4292600" y="4673600"/>
            <a:ext cx="4419600" cy="787400"/>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ets"/>
          <p:cNvSpPr txBox="1"/>
          <p:nvPr>
            <p:ph type="title"/>
          </p:nvPr>
        </p:nvSpPr>
        <p:spPr>
          <a:prstGeom prst="rect">
            <a:avLst/>
          </a:prstGeom>
        </p:spPr>
        <p:txBody>
          <a:bodyPr/>
          <a:lstStyle/>
          <a:p>
            <a:pPr/>
            <a:r>
              <a:t>Sets</a:t>
            </a:r>
          </a:p>
        </p:txBody>
      </p:sp>
      <p:sp>
        <p:nvSpPr>
          <p:cNvPr id="224" name="Python има и данна тип множество. То е неподредена колекция без дублиране на елемнти. Основната употреба включва проверка за принадлежност и елиминиране на дублиранията. Set обектите поддържат и математически операции върху множества като обединение, сеч"/>
          <p:cNvSpPr txBox="1"/>
          <p:nvPr>
            <p:ph type="body" idx="1"/>
          </p:nvPr>
        </p:nvSpPr>
        <p:spPr>
          <a:prstGeom prst="rect">
            <a:avLst/>
          </a:prstGeom>
        </p:spPr>
        <p:txBody>
          <a:bodyPr/>
          <a:lstStyle/>
          <a:p>
            <a:pPr marL="395604" indent="-395604" defTabSz="519937">
              <a:spcBef>
                <a:spcPts val="3700"/>
              </a:spcBef>
              <a:defRPr sz="3204"/>
            </a:pPr>
            <a:r>
              <a:t>Python има и данна тип множество. То е неподредена колекция без дублиране на елемнти. Основната употреба включва проверка за принадлежност и елиминиране на дублиранията. Set обектите поддържат и математически операции върху множества като обединение, сечение, разлика и симетрична разлика (union, intersection, difference, symmetric difference).</a:t>
            </a:r>
          </a:p>
          <a:p>
            <a:pPr marL="395604" indent="-395604" defTabSz="519937">
              <a:spcBef>
                <a:spcPts val="3700"/>
              </a:spcBef>
              <a:defRPr sz="3204"/>
            </a:pPr>
            <a:r>
              <a:t>За създаване на множество се използва { } или функцията set(). За създаване на празно множество се използва set(), а не {}, защото така се създава празен речник (dictionary).</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ets"/>
          <p:cNvSpPr txBox="1"/>
          <p:nvPr>
            <p:ph type="title"/>
          </p:nvPr>
        </p:nvSpPr>
        <p:spPr>
          <a:prstGeom prst="rect">
            <a:avLst/>
          </a:prstGeom>
        </p:spPr>
        <p:txBody>
          <a:bodyPr/>
          <a:lstStyle/>
          <a:p>
            <a:pPr/>
            <a:r>
              <a:t>Sets</a:t>
            </a:r>
          </a:p>
        </p:txBody>
      </p:sp>
      <p:sp>
        <p:nvSpPr>
          <p:cNvPr id="227" name="Примери:"/>
          <p:cNvSpPr txBox="1"/>
          <p:nvPr>
            <p:ph type="body" idx="1"/>
          </p:nvPr>
        </p:nvSpPr>
        <p:spPr>
          <a:prstGeom prst="rect">
            <a:avLst/>
          </a:prstGeom>
        </p:spPr>
        <p:txBody>
          <a:bodyPr/>
          <a:lstStyle/>
          <a:p>
            <a:pPr marL="391159" indent="-391159" defTabSz="514095">
              <a:spcBef>
                <a:spcPts val="3600"/>
              </a:spcBef>
              <a:defRPr sz="3168"/>
            </a:pPr>
            <a:r>
              <a:t>Примери:</a:t>
            </a: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p>
        </p:txBody>
      </p:sp>
      <p:pic>
        <p:nvPicPr>
          <p:cNvPr id="228" name="Image" descr="Image"/>
          <p:cNvPicPr>
            <a:picLocks noChangeAspect="1"/>
          </p:cNvPicPr>
          <p:nvPr/>
        </p:nvPicPr>
        <p:blipFill>
          <a:blip r:embed="rId2">
            <a:extLst/>
          </a:blip>
          <a:stretch>
            <a:fillRect/>
          </a:stretch>
        </p:blipFill>
        <p:spPr>
          <a:xfrm>
            <a:off x="346229" y="3260157"/>
            <a:ext cx="12312342" cy="6286501"/>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ets"/>
          <p:cNvSpPr txBox="1"/>
          <p:nvPr>
            <p:ph type="title"/>
          </p:nvPr>
        </p:nvSpPr>
        <p:spPr>
          <a:prstGeom prst="rect">
            <a:avLst/>
          </a:prstGeom>
        </p:spPr>
        <p:txBody>
          <a:bodyPr/>
          <a:lstStyle/>
          <a:p>
            <a:pPr/>
            <a:r>
              <a:t>Sets</a:t>
            </a:r>
          </a:p>
        </p:txBody>
      </p:sp>
      <p:sp>
        <p:nvSpPr>
          <p:cNvPr id="231" name="Подобно на list comprehensions, съществува и set comprehensions:"/>
          <p:cNvSpPr txBox="1"/>
          <p:nvPr>
            <p:ph type="body" idx="1"/>
          </p:nvPr>
        </p:nvSpPr>
        <p:spPr>
          <a:prstGeom prst="rect">
            <a:avLst/>
          </a:prstGeom>
        </p:spPr>
        <p:txBody>
          <a:bodyPr/>
          <a:lstStyle/>
          <a:p>
            <a:pPr/>
            <a:r>
              <a:t>Подобно на list comprehensions, съществува и set comprehensions:</a:t>
            </a:r>
          </a:p>
          <a:p>
            <a:pPr/>
          </a:p>
        </p:txBody>
      </p:sp>
      <p:pic>
        <p:nvPicPr>
          <p:cNvPr id="232" name="Image" descr="Image"/>
          <p:cNvPicPr>
            <a:picLocks noChangeAspect="1"/>
          </p:cNvPicPr>
          <p:nvPr/>
        </p:nvPicPr>
        <p:blipFill>
          <a:blip r:embed="rId2">
            <a:extLst/>
          </a:blip>
          <a:stretch>
            <a:fillRect/>
          </a:stretch>
        </p:blipFill>
        <p:spPr>
          <a:xfrm>
            <a:off x="165100" y="5861050"/>
            <a:ext cx="12674600" cy="1828800"/>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Dictionaries"/>
          <p:cNvSpPr txBox="1"/>
          <p:nvPr>
            <p:ph type="title"/>
          </p:nvPr>
        </p:nvSpPr>
        <p:spPr>
          <a:prstGeom prst="rect">
            <a:avLst/>
          </a:prstGeom>
        </p:spPr>
        <p:txBody>
          <a:bodyPr/>
          <a:lstStyle/>
          <a:p>
            <a:pPr/>
            <a:r>
              <a:t>Dictionaries</a:t>
            </a:r>
          </a:p>
        </p:txBody>
      </p:sp>
      <p:sp>
        <p:nvSpPr>
          <p:cNvPr id="235" name="Друг полезен тип данни, вграден в Python е речник (dictionary). Речниците са налични в други езици за програмиране като асоциативна памет (“associative memories” или “associative arrays”). За разлика от последователностите, които се индексират по пореден"/>
          <p:cNvSpPr txBox="1"/>
          <p:nvPr>
            <p:ph type="body" idx="1"/>
          </p:nvPr>
        </p:nvSpPr>
        <p:spPr>
          <a:prstGeom prst="rect">
            <a:avLst/>
          </a:prstGeom>
        </p:spPr>
        <p:txBody>
          <a:bodyPr/>
          <a:lstStyle>
            <a:lvl1pPr marL="351155" indent="-351155" defTabSz="461518">
              <a:spcBef>
                <a:spcPts val="3300"/>
              </a:spcBef>
              <a:defRPr sz="2844"/>
            </a:lvl1pPr>
          </a:lstStyle>
          <a:p>
            <a:pPr/>
            <a:r>
              <a:t>Друг полезен тип данни, вграден в Python е речник (dictionary). Речниците са налични в други езици за програмиране като асоциативна памет (“associative memories” или “associative arrays”). За разлика от последователностите, които се индексират по пореден номер, речниците се индексират по ключ, който може да бъде  произволен immutable тип; низовете и числата винаги могат да се използват като ключове. Tuples могат да се използват като ключ, ако съдържат само низове, числа или tuples. Ако съдържат mutable обекти (директно или индиректно), не могат да бъдат използвани като ключ. Като ключове не могат да бъдат използвани списъци, защото списъците могат да се променят на място, посредством присвояване или методи като append() and extend().</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Dictionaries"/>
          <p:cNvSpPr txBox="1"/>
          <p:nvPr>
            <p:ph type="title"/>
          </p:nvPr>
        </p:nvSpPr>
        <p:spPr>
          <a:prstGeom prst="rect">
            <a:avLst/>
          </a:prstGeom>
        </p:spPr>
        <p:txBody>
          <a:bodyPr/>
          <a:lstStyle/>
          <a:p>
            <a:pPr/>
            <a:r>
              <a:t>Dictionaries</a:t>
            </a:r>
          </a:p>
        </p:txBody>
      </p:sp>
      <p:sp>
        <p:nvSpPr>
          <p:cNvPr id="238" name="Най-добрият начин, по който може да се мисли за речника е като множество от двойки ключ:стойност (set of key: value pairs) с изискването, че ключовете са уникални (в рамките на един dictionary). Празен речник се създава със {}. Записването на списък от k"/>
          <p:cNvSpPr txBox="1"/>
          <p:nvPr>
            <p:ph type="body" idx="1"/>
          </p:nvPr>
        </p:nvSpPr>
        <p:spPr>
          <a:prstGeom prst="rect">
            <a:avLst/>
          </a:prstGeom>
        </p:spPr>
        <p:txBody>
          <a:bodyPr/>
          <a:lstStyle/>
          <a:p>
            <a:pPr marL="346709" indent="-346709" defTabSz="455675">
              <a:spcBef>
                <a:spcPts val="3200"/>
              </a:spcBef>
              <a:defRPr sz="2807"/>
            </a:pPr>
            <a:r>
              <a:t>Най-добрият начин, по който може да се мисли за речника е като множество от двойки ключ:стойност (set of key: value pairs) с изискването, че ключовете са уникални (в рамките на един dictionary). Празен речник се създава със {}. Записването на списък от key:value pairs, разделени със запетая, в скобите добавя начални стойности от вида key:value pairs в dictionary. По този начин се отпечатва речника на екран.</a:t>
            </a:r>
          </a:p>
          <a:p>
            <a:pPr marL="346709" indent="-346709" defTabSz="455675">
              <a:spcBef>
                <a:spcPts val="3200"/>
              </a:spcBef>
              <a:defRPr sz="2807"/>
            </a:pPr>
            <a:r>
              <a:t>Основните операции в един речник са записване на стойност по зададен ключ и извличане на стойност по ключ. Възможно е да се изтрие key:value pair с оператора del. Ако се зададе нова стойност на съществуващ ключ, старата се премахва. Ако се направи опит за извличане на стойност по несъществуващ ключ, се генерира грешка.</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Dictionaries"/>
          <p:cNvSpPr txBox="1"/>
          <p:nvPr>
            <p:ph type="title"/>
          </p:nvPr>
        </p:nvSpPr>
        <p:spPr>
          <a:prstGeom prst="rect">
            <a:avLst/>
          </a:prstGeom>
        </p:spPr>
        <p:txBody>
          <a:bodyPr/>
          <a:lstStyle/>
          <a:p>
            <a:pPr/>
            <a:r>
              <a:t>Dictionaries</a:t>
            </a:r>
          </a:p>
        </p:txBody>
      </p:sp>
      <p:sp>
        <p:nvSpPr>
          <p:cNvPr id="241" name="Изпълнение на list(d) върху dictionary връща списък от всички ключове, използвани в речника в реда на добавянето си. Ако трябва да бъдат подредени може да се използва sorted(d) вместо list(d). За проверка дали един ключ съществува в речника, се използва "/>
          <p:cNvSpPr txBox="1"/>
          <p:nvPr>
            <p:ph type="body" sz="half" idx="1"/>
          </p:nvPr>
        </p:nvSpPr>
        <p:spPr>
          <a:xfrm>
            <a:off x="952500" y="2603500"/>
            <a:ext cx="4584714" cy="6273801"/>
          </a:xfrm>
          <a:prstGeom prst="rect">
            <a:avLst/>
          </a:prstGeom>
        </p:spPr>
        <p:txBody>
          <a:bodyPr/>
          <a:lstStyle/>
          <a:p>
            <a:pPr/>
            <a:r>
              <a:t>Изпълнение на list(d) върху dictionary връща списък от всички ключове, използвани в речника в реда на добавянето си. Ако трябва да бъдат подредени може да се използва sorted(d) вместо list(d). За проверка дали един ключ съществува в речника, се използва ключовата дума in.</a:t>
            </a:r>
          </a:p>
        </p:txBody>
      </p:sp>
      <p:pic>
        <p:nvPicPr>
          <p:cNvPr id="242" name="Image" descr="Image"/>
          <p:cNvPicPr>
            <a:picLocks noChangeAspect="1"/>
          </p:cNvPicPr>
          <p:nvPr/>
        </p:nvPicPr>
        <p:blipFill>
          <a:blip r:embed="rId2">
            <a:extLst/>
          </a:blip>
          <a:stretch>
            <a:fillRect/>
          </a:stretch>
        </p:blipFill>
        <p:spPr>
          <a:xfrm>
            <a:off x="5399709" y="3251960"/>
            <a:ext cx="6777382" cy="5447540"/>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Dictionaries"/>
          <p:cNvSpPr txBox="1"/>
          <p:nvPr>
            <p:ph type="title"/>
          </p:nvPr>
        </p:nvSpPr>
        <p:spPr>
          <a:prstGeom prst="rect">
            <a:avLst/>
          </a:prstGeom>
        </p:spPr>
        <p:txBody>
          <a:bodyPr/>
          <a:lstStyle/>
          <a:p>
            <a:pPr/>
            <a:r>
              <a:t>Dictionaries</a:t>
            </a:r>
          </a:p>
        </p:txBody>
      </p:sp>
      <p:sp>
        <p:nvSpPr>
          <p:cNvPr id="245" name="Конструкторът dict() създава dictionaries директно от последователността key-value pairs:…"/>
          <p:cNvSpPr txBox="1"/>
          <p:nvPr>
            <p:ph type="body" idx="1"/>
          </p:nvPr>
        </p:nvSpPr>
        <p:spPr>
          <a:prstGeom prst="rect">
            <a:avLst/>
          </a:prstGeom>
        </p:spPr>
        <p:txBody>
          <a:bodyPr/>
          <a:lstStyle/>
          <a:p>
            <a:pPr/>
            <a:r>
              <a:t>Конструкторът dict() създава dictionaries директно от последователността key-value pairs:</a:t>
            </a:r>
          </a:p>
          <a:p>
            <a:pPr/>
          </a:p>
          <a:p>
            <a:pPr/>
            <a:r>
              <a:t>В добавка dict comprehensions могат да бъдат използвани за създаване на речници от произволни key и value изрази:</a:t>
            </a:r>
          </a:p>
        </p:txBody>
      </p:sp>
      <p:pic>
        <p:nvPicPr>
          <p:cNvPr id="246" name="Image" descr="Image"/>
          <p:cNvPicPr>
            <a:picLocks noChangeAspect="1"/>
          </p:cNvPicPr>
          <p:nvPr/>
        </p:nvPicPr>
        <p:blipFill>
          <a:blip r:embed="rId2">
            <a:extLst/>
          </a:blip>
          <a:stretch>
            <a:fillRect/>
          </a:stretch>
        </p:blipFill>
        <p:spPr>
          <a:xfrm>
            <a:off x="692797" y="4562664"/>
            <a:ext cx="11619206" cy="1060072"/>
          </a:xfrm>
          <a:prstGeom prst="rect">
            <a:avLst/>
          </a:prstGeom>
          <a:ln w="12700">
            <a:miter lim="400000"/>
          </a:ln>
        </p:spPr>
      </p:pic>
      <p:pic>
        <p:nvPicPr>
          <p:cNvPr id="247" name="Image" descr="Image"/>
          <p:cNvPicPr>
            <a:picLocks noChangeAspect="1"/>
          </p:cNvPicPr>
          <p:nvPr/>
        </p:nvPicPr>
        <p:blipFill>
          <a:blip r:embed="rId3">
            <a:extLst/>
          </a:blip>
          <a:stretch>
            <a:fillRect/>
          </a:stretch>
        </p:blipFill>
        <p:spPr>
          <a:xfrm>
            <a:off x="2463800" y="7581900"/>
            <a:ext cx="8077200" cy="1473200"/>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Dictionaries"/>
          <p:cNvSpPr txBox="1"/>
          <p:nvPr>
            <p:ph type="title"/>
          </p:nvPr>
        </p:nvSpPr>
        <p:spPr>
          <a:prstGeom prst="rect">
            <a:avLst/>
          </a:prstGeom>
        </p:spPr>
        <p:txBody>
          <a:bodyPr/>
          <a:lstStyle/>
          <a:p>
            <a:pPr/>
            <a:r>
              <a:t>Dictionaries</a:t>
            </a:r>
          </a:p>
        </p:txBody>
      </p:sp>
      <p:sp>
        <p:nvSpPr>
          <p:cNvPr id="250" name="Когато ключовете са прости низове, двойките могат да бъдат зададени чрез ключови аргументи:"/>
          <p:cNvSpPr txBox="1"/>
          <p:nvPr>
            <p:ph type="body" idx="1"/>
          </p:nvPr>
        </p:nvSpPr>
        <p:spPr>
          <a:prstGeom prst="rect">
            <a:avLst/>
          </a:prstGeom>
        </p:spPr>
        <p:txBody>
          <a:bodyPr/>
          <a:lstStyle/>
          <a:p>
            <a:pPr/>
            <a:r>
              <a:t>Когато ключовете са прости низове, двойките могат да бъдат зададени чрез ключови аргументи:</a:t>
            </a:r>
          </a:p>
          <a:p>
            <a:pPr/>
          </a:p>
        </p:txBody>
      </p:sp>
      <p:pic>
        <p:nvPicPr>
          <p:cNvPr id="251" name="Image" descr="Image"/>
          <p:cNvPicPr>
            <a:picLocks noChangeAspect="1"/>
          </p:cNvPicPr>
          <p:nvPr/>
        </p:nvPicPr>
        <p:blipFill>
          <a:blip r:embed="rId2">
            <a:extLst/>
          </a:blip>
          <a:stretch>
            <a:fillRect/>
          </a:stretch>
        </p:blipFill>
        <p:spPr>
          <a:xfrm>
            <a:off x="1308100" y="5969000"/>
            <a:ext cx="10388600" cy="1320800"/>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Looping Techniques"/>
          <p:cNvSpPr txBox="1"/>
          <p:nvPr>
            <p:ph type="title"/>
          </p:nvPr>
        </p:nvSpPr>
        <p:spPr>
          <a:prstGeom prst="rect">
            <a:avLst/>
          </a:prstGeom>
        </p:spPr>
        <p:txBody>
          <a:bodyPr/>
          <a:lstStyle/>
          <a:p>
            <a:pPr/>
            <a:r>
              <a:t>Looping Techniques</a:t>
            </a:r>
          </a:p>
        </p:txBody>
      </p:sp>
      <p:sp>
        <p:nvSpPr>
          <p:cNvPr id="254" name="Когато се организира цикъл за обхождане на речници, ключът и съответстващата му стойност могат да се извлекат по едно и също време чрез метода items():"/>
          <p:cNvSpPr txBox="1"/>
          <p:nvPr>
            <p:ph type="body" idx="1"/>
          </p:nvPr>
        </p:nvSpPr>
        <p:spPr>
          <a:prstGeom prst="rect">
            <a:avLst/>
          </a:prstGeom>
        </p:spPr>
        <p:txBody>
          <a:bodyPr/>
          <a:lstStyle/>
          <a:p>
            <a:pPr/>
            <a:r>
              <a:t>Когато се организира цикъл за обхождане на речници, ключът и съответстващата му стойност могат да се извлекат по едно и също време чрез метода items():</a:t>
            </a:r>
          </a:p>
          <a:p>
            <a:pPr/>
          </a:p>
          <a:p>
            <a:pPr/>
          </a:p>
        </p:txBody>
      </p:sp>
      <p:pic>
        <p:nvPicPr>
          <p:cNvPr id="255" name="Image" descr="Image"/>
          <p:cNvPicPr>
            <a:picLocks noChangeAspect="1"/>
          </p:cNvPicPr>
          <p:nvPr/>
        </p:nvPicPr>
        <p:blipFill>
          <a:blip r:embed="rId2">
            <a:extLst/>
          </a:blip>
          <a:stretch>
            <a:fillRect/>
          </a:stretch>
        </p:blipFill>
        <p:spPr>
          <a:xfrm>
            <a:off x="0" y="5377358"/>
            <a:ext cx="13004800" cy="2783484"/>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Looping Techniques"/>
          <p:cNvSpPr txBox="1"/>
          <p:nvPr>
            <p:ph type="title"/>
          </p:nvPr>
        </p:nvSpPr>
        <p:spPr>
          <a:prstGeom prst="rect">
            <a:avLst/>
          </a:prstGeom>
        </p:spPr>
        <p:txBody>
          <a:bodyPr/>
          <a:lstStyle/>
          <a:p>
            <a:pPr/>
            <a:r>
              <a:t>Looping Techniques</a:t>
            </a:r>
          </a:p>
        </p:txBody>
      </p:sp>
      <p:sp>
        <p:nvSpPr>
          <p:cNvPr id="258" name="Когато се организира цикъл в последователност, индексът и съответсващата му стойност могат да се извлекат едновременно с функцията enumerate():"/>
          <p:cNvSpPr txBox="1"/>
          <p:nvPr>
            <p:ph type="body" idx="1"/>
          </p:nvPr>
        </p:nvSpPr>
        <p:spPr>
          <a:prstGeom prst="rect">
            <a:avLst/>
          </a:prstGeom>
        </p:spPr>
        <p:txBody>
          <a:bodyPr/>
          <a:lstStyle/>
          <a:p>
            <a:pPr/>
            <a:r>
              <a:t>Когато се организира цикъл в последователност, индексът и съответсващата му стойност могат да се извлекат едновременно с функцията enumerate():</a:t>
            </a:r>
          </a:p>
          <a:p>
            <a:pPr/>
          </a:p>
          <a:p>
            <a:pPr/>
          </a:p>
        </p:txBody>
      </p:sp>
      <p:pic>
        <p:nvPicPr>
          <p:cNvPr id="259" name="Image" descr="Image"/>
          <p:cNvPicPr>
            <a:picLocks noChangeAspect="1"/>
          </p:cNvPicPr>
          <p:nvPr/>
        </p:nvPicPr>
        <p:blipFill>
          <a:blip r:embed="rId2">
            <a:extLst/>
          </a:blip>
          <a:stretch>
            <a:fillRect/>
          </a:stretch>
        </p:blipFill>
        <p:spPr>
          <a:xfrm>
            <a:off x="584200" y="5511800"/>
            <a:ext cx="11836400" cy="3124200"/>
          </a:xfrm>
          <a:prstGeom prst="rect">
            <a:avLst/>
          </a:prstGeom>
          <a:ln w="12700">
            <a:miter lim="400000"/>
          </a:ln>
        </p:spPr>
      </p:pic>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Looping Techniques"/>
          <p:cNvSpPr txBox="1"/>
          <p:nvPr>
            <p:ph type="title"/>
          </p:nvPr>
        </p:nvSpPr>
        <p:spPr>
          <a:prstGeom prst="rect">
            <a:avLst/>
          </a:prstGeom>
        </p:spPr>
        <p:txBody>
          <a:bodyPr/>
          <a:lstStyle/>
          <a:p>
            <a:pPr/>
            <a:r>
              <a:t>Looping Techniques</a:t>
            </a:r>
          </a:p>
        </p:txBody>
      </p:sp>
      <p:sp>
        <p:nvSpPr>
          <p:cNvPr id="262" name="За изграждане на цикъл, с който се обхождат две или повече последователности едновременно, могат да се организират N-торки чрез функция zip():"/>
          <p:cNvSpPr txBox="1"/>
          <p:nvPr>
            <p:ph type="body" idx="1"/>
          </p:nvPr>
        </p:nvSpPr>
        <p:spPr>
          <a:prstGeom prst="rect">
            <a:avLst/>
          </a:prstGeom>
        </p:spPr>
        <p:txBody>
          <a:bodyPr/>
          <a:lstStyle/>
          <a:p>
            <a:pPr/>
            <a:r>
              <a:t>За изграждане на цикъл, с който се обхождат две или повече последователности едновременно, могат да се организират N-торки чрез функция zip():</a:t>
            </a:r>
          </a:p>
          <a:p>
            <a:pPr/>
          </a:p>
          <a:p>
            <a:pPr/>
          </a:p>
        </p:txBody>
      </p:sp>
      <p:pic>
        <p:nvPicPr>
          <p:cNvPr id="263" name="Image" descr="Image"/>
          <p:cNvPicPr>
            <a:picLocks noChangeAspect="1"/>
          </p:cNvPicPr>
          <p:nvPr/>
        </p:nvPicPr>
        <p:blipFill>
          <a:blip r:embed="rId2">
            <a:extLst/>
          </a:blip>
          <a:stretch>
            <a:fillRect/>
          </a:stretch>
        </p:blipFill>
        <p:spPr>
          <a:xfrm>
            <a:off x="0" y="5410923"/>
            <a:ext cx="13004800" cy="3656154"/>
          </a:xfrm>
          <a:prstGeom prst="rect">
            <a:avLst/>
          </a:prstGeom>
          <a:ln w="12700">
            <a:miter lim="400000"/>
          </a:ln>
        </p:spPr>
      </p:pic>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Looping Techniques"/>
          <p:cNvSpPr txBox="1"/>
          <p:nvPr>
            <p:ph type="title"/>
          </p:nvPr>
        </p:nvSpPr>
        <p:spPr>
          <a:prstGeom prst="rect">
            <a:avLst/>
          </a:prstGeom>
        </p:spPr>
        <p:txBody>
          <a:bodyPr/>
          <a:lstStyle/>
          <a:p>
            <a:pPr/>
            <a:r>
              <a:t>Looping Techniques</a:t>
            </a:r>
          </a:p>
        </p:txBody>
      </p:sp>
      <p:sp>
        <p:nvSpPr>
          <p:cNvPr id="266" name="За обхождане на последователност в обратен ред, първо се задава последователността в правилен ред, след което се използва функцията reversed():"/>
          <p:cNvSpPr txBox="1"/>
          <p:nvPr>
            <p:ph type="body" idx="1"/>
          </p:nvPr>
        </p:nvSpPr>
        <p:spPr>
          <a:prstGeom prst="rect">
            <a:avLst/>
          </a:prstGeom>
        </p:spPr>
        <p:txBody>
          <a:bodyPr/>
          <a:lstStyle/>
          <a:p>
            <a:pPr/>
            <a:r>
              <a:t>За обхождане на последователност в обратен ред, първо се задава последователността в правилен ред, след което се използва функцията reversed():</a:t>
            </a:r>
          </a:p>
          <a:p>
            <a:pPr/>
          </a:p>
          <a:p>
            <a:pPr/>
          </a:p>
        </p:txBody>
      </p:sp>
      <p:pic>
        <p:nvPicPr>
          <p:cNvPr id="267" name="Image" descr="Image"/>
          <p:cNvPicPr>
            <a:picLocks noChangeAspect="1"/>
          </p:cNvPicPr>
          <p:nvPr/>
        </p:nvPicPr>
        <p:blipFill>
          <a:blip r:embed="rId2">
            <a:extLst/>
          </a:blip>
          <a:stretch>
            <a:fillRect/>
          </a:stretch>
        </p:blipFill>
        <p:spPr>
          <a:xfrm>
            <a:off x="1803400" y="5219700"/>
            <a:ext cx="9398000" cy="4038600"/>
          </a:xfrm>
          <a:prstGeom prst="rect">
            <a:avLst/>
          </a:prstGeom>
          <a:ln w="12700">
            <a:miter lim="400000"/>
          </a:ln>
        </p:spPr>
      </p:pic>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Looping Techniques"/>
          <p:cNvSpPr txBox="1"/>
          <p:nvPr>
            <p:ph type="title"/>
          </p:nvPr>
        </p:nvSpPr>
        <p:spPr>
          <a:prstGeom prst="rect">
            <a:avLst/>
          </a:prstGeom>
        </p:spPr>
        <p:txBody>
          <a:bodyPr/>
          <a:lstStyle/>
          <a:p>
            <a:pPr/>
            <a:r>
              <a:t>Looping Techniques</a:t>
            </a:r>
          </a:p>
        </p:txBody>
      </p:sp>
      <p:sp>
        <p:nvSpPr>
          <p:cNvPr id="270" name="За обхождане на последователност в сортиран ред, се използва функцията sorted(), която връща нов подреден списък (не променя оригиналния списък):"/>
          <p:cNvSpPr txBox="1"/>
          <p:nvPr>
            <p:ph type="body" idx="1"/>
          </p:nvPr>
        </p:nvSpPr>
        <p:spPr>
          <a:prstGeom prst="rect">
            <a:avLst/>
          </a:prstGeom>
        </p:spPr>
        <p:txBody>
          <a:bodyPr/>
          <a:lstStyle/>
          <a:p>
            <a:pPr/>
            <a:r>
              <a:t>За обхождане на последователност в сортиран ред, се използва функцията sorted(), която връща нов подреден списък (не променя оригиналния списък):</a:t>
            </a:r>
          </a:p>
          <a:p>
            <a:pPr/>
          </a:p>
          <a:p>
            <a:pPr/>
          </a:p>
        </p:txBody>
      </p:sp>
      <p:pic>
        <p:nvPicPr>
          <p:cNvPr id="271" name="Image" descr="Image"/>
          <p:cNvPicPr>
            <a:picLocks noChangeAspect="1"/>
          </p:cNvPicPr>
          <p:nvPr/>
        </p:nvPicPr>
        <p:blipFill>
          <a:blip r:embed="rId2">
            <a:extLst/>
          </a:blip>
          <a:stretch>
            <a:fillRect/>
          </a:stretch>
        </p:blipFill>
        <p:spPr>
          <a:xfrm>
            <a:off x="0" y="5422027"/>
            <a:ext cx="13004800" cy="3176746"/>
          </a:xfrm>
          <a:prstGeom prst="rect">
            <a:avLst/>
          </a:prstGeom>
          <a:ln w="12700">
            <a:miter lim="400000"/>
          </a:ln>
        </p:spPr>
      </p:pic>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Looping Techniques"/>
          <p:cNvSpPr txBox="1"/>
          <p:nvPr>
            <p:ph type="title"/>
          </p:nvPr>
        </p:nvSpPr>
        <p:spPr>
          <a:prstGeom prst="rect">
            <a:avLst/>
          </a:prstGeom>
        </p:spPr>
        <p:txBody>
          <a:bodyPr/>
          <a:lstStyle/>
          <a:p>
            <a:pPr/>
            <a:r>
              <a:t>Looping Techniques</a:t>
            </a:r>
          </a:p>
        </p:txBody>
      </p:sp>
      <p:sp>
        <p:nvSpPr>
          <p:cNvPr id="274" name="Понякога е по-удобно да се промени списъка, докато се обхожда, но често е по-лесно и по-сигурно да се създаде нов списък:"/>
          <p:cNvSpPr txBox="1"/>
          <p:nvPr>
            <p:ph type="body" idx="1"/>
          </p:nvPr>
        </p:nvSpPr>
        <p:spPr>
          <a:prstGeom prst="rect">
            <a:avLst/>
          </a:prstGeom>
        </p:spPr>
        <p:txBody>
          <a:bodyPr/>
          <a:lstStyle/>
          <a:p>
            <a:pPr/>
            <a:r>
              <a:t>Понякога е по-удобно да се промени списъка, докато се обхожда, но често е по-лесно и по-сигурно да се създаде нов списък:</a:t>
            </a:r>
          </a:p>
          <a:p>
            <a:pPr/>
          </a:p>
          <a:p>
            <a:pPr/>
          </a:p>
        </p:txBody>
      </p:sp>
      <p:pic>
        <p:nvPicPr>
          <p:cNvPr id="275" name="Image" descr="Image"/>
          <p:cNvPicPr>
            <a:picLocks noChangeAspect="1"/>
          </p:cNvPicPr>
          <p:nvPr/>
        </p:nvPicPr>
        <p:blipFill>
          <a:blip r:embed="rId2">
            <a:extLst/>
          </a:blip>
          <a:stretch>
            <a:fillRect/>
          </a:stretch>
        </p:blipFill>
        <p:spPr>
          <a:xfrm>
            <a:off x="0" y="5470910"/>
            <a:ext cx="13004800" cy="3307580"/>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More on Conditions"/>
          <p:cNvSpPr txBox="1"/>
          <p:nvPr>
            <p:ph type="title"/>
          </p:nvPr>
        </p:nvSpPr>
        <p:spPr>
          <a:prstGeom prst="rect">
            <a:avLst/>
          </a:prstGeom>
        </p:spPr>
        <p:txBody>
          <a:bodyPr/>
          <a:lstStyle/>
          <a:p>
            <a:pPr/>
            <a:r>
              <a:t>More on Conditions</a:t>
            </a:r>
          </a:p>
        </p:txBody>
      </p:sp>
      <p:sp>
        <p:nvSpPr>
          <p:cNvPr id="278" name="Условията, използвани в оператори while и if могат да съдържат произволни оператори, не само сравнения.…"/>
          <p:cNvSpPr txBox="1"/>
          <p:nvPr>
            <p:ph type="body" idx="1"/>
          </p:nvPr>
        </p:nvSpPr>
        <p:spPr>
          <a:prstGeom prst="rect">
            <a:avLst/>
          </a:prstGeom>
        </p:spPr>
        <p:txBody>
          <a:bodyPr/>
          <a:lstStyle/>
          <a:p>
            <a:pPr marL="368934" indent="-368934" defTabSz="484886">
              <a:spcBef>
                <a:spcPts val="3400"/>
              </a:spcBef>
              <a:defRPr sz="2988"/>
            </a:pPr>
            <a:r>
              <a:t>Условията, използвани в оператори while и if могат да съдържат произволни оператори, не само сравнения.</a:t>
            </a:r>
          </a:p>
          <a:p>
            <a:pPr marL="368934" indent="-368934" defTabSz="484886">
              <a:spcBef>
                <a:spcPts val="3400"/>
              </a:spcBef>
              <a:defRPr sz="2988"/>
            </a:pPr>
            <a:r>
              <a:t>Операциите за сравнение in и not in проверяват дали дадена стойност я има (респективно я няма) в последователността. Операциите is и is not проверяват дали два обекта са един и същ. Това има смисъл само при mutable обекти като списъци. Всички сравнения имат един и същи приоритет, който е по-малък от всички числови операции.</a:t>
            </a:r>
          </a:p>
          <a:p>
            <a:pPr marL="368934" indent="-368934" defTabSz="484886">
              <a:spcBef>
                <a:spcPts val="3400"/>
              </a:spcBef>
              <a:defRPr sz="2988"/>
            </a:pPr>
            <a:r>
              <a:t>Сравненията могат да се навръзват едно след друго (chained). Например, a &lt; b == c проверява дали a iе по-малко от b и дали b е равно на c.</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More on Conditions"/>
          <p:cNvSpPr txBox="1"/>
          <p:nvPr>
            <p:ph type="title"/>
          </p:nvPr>
        </p:nvSpPr>
        <p:spPr>
          <a:prstGeom prst="rect">
            <a:avLst/>
          </a:prstGeom>
        </p:spPr>
        <p:txBody>
          <a:bodyPr/>
          <a:lstStyle/>
          <a:p>
            <a:pPr/>
            <a:r>
              <a:t>More on Conditions</a:t>
            </a:r>
          </a:p>
        </p:txBody>
      </p:sp>
      <p:sp>
        <p:nvSpPr>
          <p:cNvPr id="281" name="Сравненията могат да се комбинират, използвайки Boolean операции: and и or и резултатът от сравнението може да се смени чрез операцията за отрицание not. Те имат по-нисък приоритет от операциите за сравнение. Приоритетът между тях самите е: not има най-в"/>
          <p:cNvSpPr txBox="1"/>
          <p:nvPr>
            <p:ph type="body" idx="1"/>
          </p:nvPr>
        </p:nvSpPr>
        <p:spPr>
          <a:prstGeom prst="rect">
            <a:avLst/>
          </a:prstGeom>
        </p:spPr>
        <p:txBody>
          <a:bodyPr/>
          <a:lstStyle/>
          <a:p>
            <a:pPr marL="346709" indent="-346709" defTabSz="455675">
              <a:spcBef>
                <a:spcPts val="3200"/>
              </a:spcBef>
              <a:defRPr sz="2807"/>
            </a:pPr>
            <a:r>
              <a:t>Сравненията могат да се комбинират, използвайки Boolean операции: and и or и резултатът от сравнението може да се смени чрез операцията за отрицание not. Те имат по-нисък приоритет от операциите за сравнение. Приоритетът между тях самите е: not има най-висок приоритет, а  or - най-нисък, така че A and not B or C е еквивалентно на (A and (not B)) or C. Както винаги, скобите могат да сменят приоритета.</a:t>
            </a:r>
          </a:p>
          <a:p>
            <a:pPr marL="346709" indent="-346709" defTabSz="455675">
              <a:spcBef>
                <a:spcPts val="3200"/>
              </a:spcBef>
              <a:defRPr sz="2807"/>
            </a:pPr>
            <a:r>
              <a:t>Boolean операции and и or са short-circuit операции: техните аргументи се изчисляват отляво надясно като изчислението спира при достигане на резултат. Например, ако A and C е true, а B е false, то A and B and C не изчислява израза C. Когато се използват небулеви стойности, връщаният резултат на short-circuit операция е последният изчислен аргумент.</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More on Conditions"/>
          <p:cNvSpPr txBox="1"/>
          <p:nvPr>
            <p:ph type="title"/>
          </p:nvPr>
        </p:nvSpPr>
        <p:spPr>
          <a:prstGeom prst="rect">
            <a:avLst/>
          </a:prstGeom>
        </p:spPr>
        <p:txBody>
          <a:bodyPr/>
          <a:lstStyle/>
          <a:p>
            <a:pPr/>
            <a:r>
              <a:t>More on Conditions</a:t>
            </a:r>
          </a:p>
        </p:txBody>
      </p:sp>
      <p:sp>
        <p:nvSpPr>
          <p:cNvPr id="284" name="Възможно е да се присвои резултата от сравнението на променлива. Например:…"/>
          <p:cNvSpPr txBox="1"/>
          <p:nvPr>
            <p:ph type="body" idx="1"/>
          </p:nvPr>
        </p:nvSpPr>
        <p:spPr>
          <a:prstGeom prst="rect">
            <a:avLst/>
          </a:prstGeom>
        </p:spPr>
        <p:txBody>
          <a:bodyPr/>
          <a:lstStyle/>
          <a:p>
            <a:pPr marL="413384" indent="-413384" defTabSz="543305">
              <a:spcBef>
                <a:spcPts val="3900"/>
              </a:spcBef>
              <a:defRPr sz="3348"/>
            </a:pPr>
            <a:r>
              <a:t>Възможно е да се присвои резултата от сравнението на променлива. Например:</a:t>
            </a:r>
          </a:p>
          <a:p>
            <a:pPr marL="413384" indent="-413384" defTabSz="543305">
              <a:spcBef>
                <a:spcPts val="3900"/>
              </a:spcBef>
              <a:defRPr sz="3348"/>
            </a:pPr>
          </a:p>
          <a:p>
            <a:pPr marL="413384" indent="-413384" defTabSz="543305">
              <a:spcBef>
                <a:spcPts val="3900"/>
              </a:spcBef>
              <a:defRPr sz="3348"/>
            </a:pPr>
          </a:p>
          <a:p>
            <a:pPr marL="413384" indent="-413384" defTabSz="543305">
              <a:spcBef>
                <a:spcPts val="3900"/>
              </a:spcBef>
              <a:defRPr sz="3348"/>
            </a:pPr>
            <a:r>
              <a:t>В Python, за разлика от C, присвояването в израз трябва да бъде направено явно с операция :=. Това позволява да се премахнат редица проблеми, които съществуват в програмите на C: ако се напише = в израз, вместо == .</a:t>
            </a:r>
          </a:p>
        </p:txBody>
      </p:sp>
      <p:pic>
        <p:nvPicPr>
          <p:cNvPr id="285" name="Image" descr="Image"/>
          <p:cNvPicPr>
            <a:picLocks noChangeAspect="1"/>
          </p:cNvPicPr>
          <p:nvPr/>
        </p:nvPicPr>
        <p:blipFill>
          <a:blip r:embed="rId2">
            <a:extLst/>
          </a:blip>
          <a:stretch>
            <a:fillRect/>
          </a:stretch>
        </p:blipFill>
        <p:spPr>
          <a:xfrm>
            <a:off x="0" y="4059625"/>
            <a:ext cx="13004800" cy="1913750"/>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Сравнение на Sequences с други типове"/>
          <p:cNvSpPr txBox="1"/>
          <p:nvPr>
            <p:ph type="title"/>
          </p:nvPr>
        </p:nvSpPr>
        <p:spPr>
          <a:prstGeom prst="rect">
            <a:avLst/>
          </a:prstGeom>
        </p:spPr>
        <p:txBody>
          <a:bodyPr/>
          <a:lstStyle>
            <a:lvl1pPr defTabSz="490727">
              <a:defRPr sz="6719"/>
            </a:lvl1pPr>
          </a:lstStyle>
          <a:p>
            <a:pPr/>
            <a:r>
              <a:t>Сравнение на Sequences с други типове</a:t>
            </a:r>
          </a:p>
        </p:txBody>
      </p:sp>
      <p:sp>
        <p:nvSpPr>
          <p:cNvPr id="288" name="Sequence обекти могат да бъдат сравнени с други обекти от същи тип последователност. Сравнението използва лексикографски ред: първо първите два елемента се сравняват и ако те са различни това дава резултата от стравнението. Ако съвпадат, се продължава съ"/>
          <p:cNvSpPr txBox="1"/>
          <p:nvPr>
            <p:ph type="body" idx="1"/>
          </p:nvPr>
        </p:nvSpPr>
        <p:spPr>
          <a:prstGeom prst="rect">
            <a:avLst/>
          </a:prstGeom>
        </p:spPr>
        <p:txBody>
          <a:bodyPr/>
          <a:lstStyle>
            <a:lvl1pPr marL="391159" indent="-391159" defTabSz="514095">
              <a:spcBef>
                <a:spcPts val="3600"/>
              </a:spcBef>
              <a:defRPr sz="3168"/>
            </a:lvl1pPr>
          </a:lstStyle>
          <a:p>
            <a:pPr/>
            <a:r>
              <a:t>Sequence обекти могат да бъдат сравнени с други обекти от същи тип последователност. Сравнението използва лексикографски ред: първо първите два елемента се сравняват и ако те са различни това дава резултата от стравнението. Ако съвпадат, се продължава със следващите два елемента и така докато се изчерпи последователността. Този подход се прилага рекурсивно. Ако всички елементи са еднакви, резултатът е еднакви последователности. Ако едната последователност е подпоследователност на другата, по-късата последователност е по-малка. Lexicographical ordering за низове използва Unicode code за сравнение на отделните символи.</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Сравнение на Sequences с други типове"/>
          <p:cNvSpPr txBox="1"/>
          <p:nvPr>
            <p:ph type="title"/>
          </p:nvPr>
        </p:nvSpPr>
        <p:spPr>
          <a:prstGeom prst="rect">
            <a:avLst/>
          </a:prstGeom>
        </p:spPr>
        <p:txBody>
          <a:bodyPr/>
          <a:lstStyle>
            <a:lvl1pPr defTabSz="490727">
              <a:defRPr sz="6719"/>
            </a:lvl1pPr>
          </a:lstStyle>
          <a:p>
            <a:pPr/>
            <a:r>
              <a:t>Сравнение на Sequences с други типове</a:t>
            </a:r>
          </a:p>
        </p:txBody>
      </p:sp>
      <p:sp>
        <p:nvSpPr>
          <p:cNvPr id="291" name="Примери за сравнение на последователности от един и същи тип:…"/>
          <p:cNvSpPr txBox="1"/>
          <p:nvPr>
            <p:ph type="body" idx="1"/>
          </p:nvPr>
        </p:nvSpPr>
        <p:spPr>
          <a:xfrm>
            <a:off x="533400" y="2609850"/>
            <a:ext cx="11099800" cy="6286500"/>
          </a:xfrm>
          <a:prstGeom prst="rect">
            <a:avLst/>
          </a:prstGeom>
        </p:spPr>
        <p:txBody>
          <a:bodyPr/>
          <a:lstStyle/>
          <a:p>
            <a:pPr marL="293370" indent="-293370" defTabSz="385572">
              <a:spcBef>
                <a:spcPts val="2700"/>
              </a:spcBef>
              <a:defRPr sz="2376"/>
            </a:pPr>
            <a:r>
              <a:t>Примери за сравнение на последователности от един и същи тип:</a:t>
            </a: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r>
              <a:t>Сравнението на обекти от различен тип с операциите &lt; или &gt; е валидно, ако обектите имат реализирани подходящи методи за сравнение. Например, различни числови типове се сравняват по тяхната стойност, т.е. 0 е равно на 0.0 и т.н. В случай, че не е реализиран подобен метод, интерпретаторът генерира TypeError exception (изключителна ситуация).</a:t>
            </a:r>
          </a:p>
        </p:txBody>
      </p:sp>
      <p:pic>
        <p:nvPicPr>
          <p:cNvPr id="292" name="Image" descr="Image"/>
          <p:cNvPicPr>
            <a:picLocks noChangeAspect="1"/>
          </p:cNvPicPr>
          <p:nvPr/>
        </p:nvPicPr>
        <p:blipFill>
          <a:blip r:embed="rId2">
            <a:extLst/>
          </a:blip>
          <a:stretch>
            <a:fillRect/>
          </a:stretch>
        </p:blipFill>
        <p:spPr>
          <a:xfrm>
            <a:off x="647700" y="3060700"/>
            <a:ext cx="11709400" cy="3632200"/>
          </a:xfrm>
          <a:prstGeom prst="rect">
            <a:avLst/>
          </a:prstGeom>
          <a:ln w="12700">
            <a:miter lim="400000"/>
          </a:ln>
        </p:spPr>
      </p:pic>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Модули"/>
          <p:cNvSpPr txBox="1"/>
          <p:nvPr>
            <p:ph type="title"/>
          </p:nvPr>
        </p:nvSpPr>
        <p:spPr>
          <a:prstGeom prst="rect">
            <a:avLst/>
          </a:prstGeom>
        </p:spPr>
        <p:txBody>
          <a:bodyPr/>
          <a:lstStyle/>
          <a:p>
            <a:pPr/>
            <a:r>
              <a:t>Модули</a:t>
            </a:r>
          </a:p>
        </p:txBody>
      </p:sp>
      <p:sp>
        <p:nvSpPr>
          <p:cNvPr id="295" name="Ако се излезе от интерпретатора на Python и се активира повторно, всички дефиниции на функции и променливи се губят. Следователно ако трябва да се създаде по-голяма програма, трябва да се използва текстов редактор за създаване на кода, който след това да"/>
          <p:cNvSpPr txBox="1"/>
          <p:nvPr>
            <p:ph type="body" idx="1"/>
          </p:nvPr>
        </p:nvSpPr>
        <p:spPr>
          <a:prstGeom prst="rect">
            <a:avLst/>
          </a:prstGeom>
        </p:spPr>
        <p:txBody>
          <a:bodyPr/>
          <a:lstStyle>
            <a:lvl1pPr marL="368934" indent="-368934" defTabSz="484886">
              <a:spcBef>
                <a:spcPts val="3400"/>
              </a:spcBef>
              <a:defRPr sz="2988"/>
            </a:lvl1pPr>
          </a:lstStyle>
          <a:p>
            <a:pPr/>
            <a:r>
              <a:t>Ако се излезе от интерпретатора на Python и се активира повторно, всички дефиниции на функции и променливи се губят. Следователно ако трябва да се създаде по-голяма програма, трябва да се използва текстов редактор за създаване на кода, който след това да се подаде на интерпретатора и да се стартира, вместо да се въвежда ред по ред. Този начин на работа е известен като създаване на скрипт. Когато програмата стане голяма е по-добре да бъде разделена на няколко файла за по-лесна поддръжка. В този случай се създават множество функции, които се записват в различни файлове. При създаване на нов проект, използвайки този подход, е възможно използване на файловете без копиране и писане всеки път.</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Модули"/>
          <p:cNvSpPr txBox="1"/>
          <p:nvPr>
            <p:ph type="title"/>
          </p:nvPr>
        </p:nvSpPr>
        <p:spPr>
          <a:prstGeom prst="rect">
            <a:avLst/>
          </a:prstGeom>
        </p:spPr>
        <p:txBody>
          <a:bodyPr/>
          <a:lstStyle/>
          <a:p>
            <a:pPr/>
            <a:r>
              <a:t>Модули</a:t>
            </a:r>
          </a:p>
        </p:txBody>
      </p:sp>
      <p:sp>
        <p:nvSpPr>
          <p:cNvPr id="298" name="За поддържане на такава възможност Python използва модули. При тях дефинициите на функциите се записват в отделни файлове и тези файлове се импортират във файла с главната програма, в други модули или директно в интерпретатора.…"/>
          <p:cNvSpPr txBox="1"/>
          <p:nvPr>
            <p:ph type="body" idx="1"/>
          </p:nvPr>
        </p:nvSpPr>
        <p:spPr>
          <a:prstGeom prst="rect">
            <a:avLst/>
          </a:prstGeom>
        </p:spPr>
        <p:txBody>
          <a:bodyPr/>
          <a:lstStyle/>
          <a:p>
            <a:pPr marL="413384" indent="-413384" defTabSz="543305">
              <a:spcBef>
                <a:spcPts val="3900"/>
              </a:spcBef>
              <a:defRPr sz="3348"/>
            </a:pPr>
            <a:r>
              <a:t>За поддържане на такава възможност Python използва модули. При тях дефинициите на функциите се записват в отделни файлове и тези файлове се импортират във файла с главната програма, в други модули или директно в интерпретатора.</a:t>
            </a:r>
          </a:p>
          <a:p>
            <a:pPr marL="413384" indent="-413384" defTabSz="543305">
              <a:spcBef>
                <a:spcPts val="3900"/>
              </a:spcBef>
              <a:defRPr sz="3348"/>
            </a:pPr>
            <a:r>
              <a:t>Модулът (module) е файл, съдържащ дефиниции и оператори на Python. Името на файла е име на модула като разширението му е .py. В модула името му може да бъде достъпено като низ, използвайки глобалната променлива __name__. </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Модули"/>
          <p:cNvSpPr txBox="1"/>
          <p:nvPr>
            <p:ph type="title"/>
          </p:nvPr>
        </p:nvSpPr>
        <p:spPr>
          <a:prstGeom prst="rect">
            <a:avLst/>
          </a:prstGeom>
        </p:spPr>
        <p:txBody>
          <a:bodyPr/>
          <a:lstStyle/>
          <a:p>
            <a:pPr/>
            <a:r>
              <a:t>Модули</a:t>
            </a:r>
          </a:p>
        </p:txBody>
      </p:sp>
      <p:sp>
        <p:nvSpPr>
          <p:cNvPr id="301" name="Например, използвайки предпочитан текстов редактор, може да бъде създаден файл fibo.py в текущата директория със следния текст:"/>
          <p:cNvSpPr txBox="1"/>
          <p:nvPr>
            <p:ph type="body" idx="1"/>
          </p:nvPr>
        </p:nvSpPr>
        <p:spPr>
          <a:prstGeom prst="rect">
            <a:avLst/>
          </a:prstGeom>
        </p:spPr>
        <p:txBody>
          <a:bodyPr/>
          <a:lstStyle/>
          <a:p>
            <a:pPr/>
            <a:r>
              <a:t>Например, използвайки предпочитан текстов редактор, може да бъде създаден файл fibo.py в текущата директория със следния текст:</a:t>
            </a:r>
          </a:p>
          <a:p>
            <a:pPr/>
          </a:p>
          <a:p>
            <a:pPr/>
          </a:p>
          <a:p>
            <a:pPr/>
          </a:p>
        </p:txBody>
      </p:sp>
      <p:pic>
        <p:nvPicPr>
          <p:cNvPr id="302" name="Image" descr="Image"/>
          <p:cNvPicPr>
            <a:picLocks noChangeAspect="1"/>
          </p:cNvPicPr>
          <p:nvPr/>
        </p:nvPicPr>
        <p:blipFill>
          <a:blip r:embed="rId2">
            <a:extLst/>
          </a:blip>
          <a:stretch>
            <a:fillRect/>
          </a:stretch>
        </p:blipFill>
        <p:spPr>
          <a:xfrm>
            <a:off x="3017153" y="4495096"/>
            <a:ext cx="8165197" cy="5271204"/>
          </a:xfrm>
          <a:prstGeom prst="rect">
            <a:avLst/>
          </a:prstGeom>
          <a:ln w="12700">
            <a:miter lim="400000"/>
          </a:ln>
        </p:spPr>
      </p:pic>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Модули"/>
          <p:cNvSpPr txBox="1"/>
          <p:nvPr>
            <p:ph type="title"/>
          </p:nvPr>
        </p:nvSpPr>
        <p:spPr>
          <a:prstGeom prst="rect">
            <a:avLst/>
          </a:prstGeom>
        </p:spPr>
        <p:txBody>
          <a:bodyPr/>
          <a:lstStyle/>
          <a:p>
            <a:pPr/>
            <a:r>
              <a:t>Модули</a:t>
            </a:r>
          </a:p>
        </p:txBody>
      </p:sp>
      <p:sp>
        <p:nvSpPr>
          <p:cNvPr id="305" name="След това е възможно, стартирайки Python интерпретатора, да се импортира модула:…"/>
          <p:cNvSpPr txBox="1"/>
          <p:nvPr>
            <p:ph type="body" idx="1"/>
          </p:nvPr>
        </p:nvSpPr>
        <p:spPr>
          <a:prstGeom prst="rect">
            <a:avLst/>
          </a:prstGeom>
        </p:spPr>
        <p:txBody>
          <a:bodyPr/>
          <a:lstStyle/>
          <a:p>
            <a:pPr marL="422275" indent="-422275" defTabSz="554990">
              <a:spcBef>
                <a:spcPts val="3900"/>
              </a:spcBef>
              <a:defRPr sz="3420"/>
            </a:pPr>
            <a:r>
              <a:t>След това е възможно, стартирайки Python интерпретатора, да се импортира модула:</a:t>
            </a:r>
          </a:p>
          <a:p>
            <a:pPr marL="422275" indent="-422275" defTabSz="554990">
              <a:spcBef>
                <a:spcPts val="3900"/>
              </a:spcBef>
              <a:defRPr sz="3420"/>
            </a:pPr>
            <a:r>
              <a:t>Така се включва не конкретна функция, дефинирана директно във fibo, а само името на модула. Използвайки това име, може да се използва всяка една функция в него с уточнено име:</a:t>
            </a:r>
          </a:p>
          <a:p>
            <a:pPr marL="422275" indent="-422275" defTabSz="554990">
              <a:spcBef>
                <a:spcPts val="3900"/>
              </a:spcBef>
              <a:defRPr sz="3420"/>
            </a:pPr>
          </a:p>
        </p:txBody>
      </p:sp>
      <p:pic>
        <p:nvPicPr>
          <p:cNvPr id="306" name="Image" descr="Image"/>
          <p:cNvPicPr>
            <a:picLocks noChangeAspect="1"/>
          </p:cNvPicPr>
          <p:nvPr/>
        </p:nvPicPr>
        <p:blipFill>
          <a:blip r:embed="rId2">
            <a:extLst/>
          </a:blip>
          <a:stretch>
            <a:fillRect/>
          </a:stretch>
        </p:blipFill>
        <p:spPr>
          <a:xfrm>
            <a:off x="4964167" y="3826699"/>
            <a:ext cx="3347836" cy="758002"/>
          </a:xfrm>
          <a:prstGeom prst="rect">
            <a:avLst/>
          </a:prstGeom>
          <a:ln w="12700">
            <a:miter lim="400000"/>
          </a:ln>
        </p:spPr>
      </p:pic>
      <p:pic>
        <p:nvPicPr>
          <p:cNvPr id="307" name="Image" descr="Image"/>
          <p:cNvPicPr>
            <a:picLocks noChangeAspect="1"/>
          </p:cNvPicPr>
          <p:nvPr/>
        </p:nvPicPr>
        <p:blipFill>
          <a:blip r:embed="rId3">
            <a:extLst/>
          </a:blip>
          <a:stretch>
            <a:fillRect/>
          </a:stretch>
        </p:blipFill>
        <p:spPr>
          <a:xfrm>
            <a:off x="647700" y="6638778"/>
            <a:ext cx="11709400" cy="3251201"/>
          </a:xfrm>
          <a:prstGeom prst="rect">
            <a:avLst/>
          </a:prstGeom>
          <a:ln w="12700">
            <a:miter lim="400000"/>
          </a:ln>
        </p:spPr>
      </p:pic>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Модули"/>
          <p:cNvSpPr txBox="1"/>
          <p:nvPr>
            <p:ph type="title"/>
          </p:nvPr>
        </p:nvSpPr>
        <p:spPr>
          <a:prstGeom prst="rect">
            <a:avLst/>
          </a:prstGeom>
        </p:spPr>
        <p:txBody>
          <a:bodyPr/>
          <a:lstStyle/>
          <a:p>
            <a:pPr/>
            <a:r>
              <a:t>Модули</a:t>
            </a:r>
          </a:p>
        </p:txBody>
      </p:sp>
      <p:sp>
        <p:nvSpPr>
          <p:cNvPr id="310" name="Ако дадена функция ще се използва по-често или ще се използва само тя, може да се създаде локална променлива, на която да се присвои името на функцията:"/>
          <p:cNvSpPr txBox="1"/>
          <p:nvPr>
            <p:ph type="body" idx="1"/>
          </p:nvPr>
        </p:nvSpPr>
        <p:spPr>
          <a:prstGeom prst="rect">
            <a:avLst/>
          </a:prstGeom>
        </p:spPr>
        <p:txBody>
          <a:bodyPr/>
          <a:lstStyle/>
          <a:p>
            <a:pPr/>
            <a:r>
              <a:t>Ако дадена функция ще се използва по-често или ще се използва само тя, може да се създаде локална променлива, на която да се присвои името на функцията:</a:t>
            </a:r>
          </a:p>
          <a:p>
            <a:pPr/>
          </a:p>
        </p:txBody>
      </p:sp>
      <p:pic>
        <p:nvPicPr>
          <p:cNvPr id="311" name="Image" descr="Image"/>
          <p:cNvPicPr>
            <a:picLocks noChangeAspect="1"/>
          </p:cNvPicPr>
          <p:nvPr/>
        </p:nvPicPr>
        <p:blipFill>
          <a:blip r:embed="rId2">
            <a:extLst/>
          </a:blip>
          <a:stretch>
            <a:fillRect/>
          </a:stretch>
        </p:blipFill>
        <p:spPr>
          <a:xfrm>
            <a:off x="1536700" y="5791200"/>
            <a:ext cx="9931400" cy="1752600"/>
          </a:xfrm>
          <a:prstGeom prst="rect">
            <a:avLst/>
          </a:prstGeom>
          <a:ln w="12700">
            <a:miter lim="400000"/>
          </a:ln>
        </p:spPr>
      </p:pic>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Модули"/>
          <p:cNvSpPr txBox="1"/>
          <p:nvPr>
            <p:ph type="title"/>
          </p:nvPr>
        </p:nvSpPr>
        <p:spPr>
          <a:prstGeom prst="rect">
            <a:avLst/>
          </a:prstGeom>
        </p:spPr>
        <p:txBody>
          <a:bodyPr/>
          <a:lstStyle/>
          <a:p>
            <a:pPr/>
            <a:r>
              <a:t>Модули</a:t>
            </a:r>
          </a:p>
        </p:txBody>
      </p:sp>
      <p:sp>
        <p:nvSpPr>
          <p:cNvPr id="314" name="Модулът съдържа изпълними оператори и дефиниции на функции. Операторите се използват за инициализация на модула. Те се изпълняват само първия път, когато името на модула се срещне в оператор import.…"/>
          <p:cNvSpPr txBox="1"/>
          <p:nvPr>
            <p:ph type="body" idx="1"/>
          </p:nvPr>
        </p:nvSpPr>
        <p:spPr>
          <a:prstGeom prst="rect">
            <a:avLst/>
          </a:prstGeom>
        </p:spPr>
        <p:txBody>
          <a:bodyPr/>
          <a:lstStyle/>
          <a:p>
            <a:pPr marL="342264" indent="-342264" defTabSz="449833">
              <a:spcBef>
                <a:spcPts val="3200"/>
              </a:spcBef>
              <a:defRPr sz="2772"/>
            </a:pPr>
            <a:r>
              <a:t>Модулът съдържа изпълними оператори и дефиниции на функции. Операторите се използват за инициализация на модула. Те се изпълняват само първия път, когато името на модула се срещне в оператор import. </a:t>
            </a:r>
          </a:p>
          <a:p>
            <a:pPr marL="342264" indent="-342264" defTabSz="449833">
              <a:spcBef>
                <a:spcPts val="3200"/>
              </a:spcBef>
              <a:defRPr sz="2772"/>
            </a:pPr>
            <a:r>
              <a:t>Всеки модул има своя собствена таблица на символите (private symbol table), която се използва както глобалната таблица на символите (global symbol table) от всички функции, дефинирани в модула. Така, авторът на модула може да използва голабни променливи от локалната за модула таблица на имената (символна таблица) без да се притеснява от объркване с глобалните имена от друг модул. От друга страна, ако е  необходимо да се използват дублирани имена от различни модули, може да се достъпят с квалифицирано именоване от вида modname.itemname.</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Модули"/>
          <p:cNvSpPr txBox="1"/>
          <p:nvPr>
            <p:ph type="title"/>
          </p:nvPr>
        </p:nvSpPr>
        <p:spPr>
          <a:prstGeom prst="rect">
            <a:avLst/>
          </a:prstGeom>
        </p:spPr>
        <p:txBody>
          <a:bodyPr/>
          <a:lstStyle/>
          <a:p>
            <a:pPr/>
            <a:r>
              <a:t>Модули</a:t>
            </a:r>
          </a:p>
        </p:txBody>
      </p:sp>
      <p:sp>
        <p:nvSpPr>
          <p:cNvPr id="317" name="Модулите могат да импортират други модули. Въпрос на избор е къде да се сложат командите import: в началото на модула или не. Импортираните имена на модули се включват в глобалната таблица на имената на модула.…"/>
          <p:cNvSpPr txBox="1"/>
          <p:nvPr>
            <p:ph type="body" idx="1"/>
          </p:nvPr>
        </p:nvSpPr>
        <p:spPr>
          <a:prstGeom prst="rect">
            <a:avLst/>
          </a:prstGeom>
        </p:spPr>
        <p:txBody>
          <a:bodyPr/>
          <a:lstStyle/>
          <a:p>
            <a:pPr/>
            <a:r>
              <a:t>Модулите могат да импортират други модули. Въпрос на избор е къде да се сложат командите import: в началото на модула или не. Импортираните имена на модули се включват в глобалната таблица на имената на модула.</a:t>
            </a:r>
          </a:p>
          <a:p>
            <a:pPr/>
            <a:r>
              <a:t>Съществува вариант, при който операторът import включва имена от модула директно в символната таблица.</a:t>
            </a:r>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Модули"/>
          <p:cNvSpPr txBox="1"/>
          <p:nvPr>
            <p:ph type="title"/>
          </p:nvPr>
        </p:nvSpPr>
        <p:spPr>
          <a:prstGeom prst="rect">
            <a:avLst/>
          </a:prstGeom>
        </p:spPr>
        <p:txBody>
          <a:bodyPr/>
          <a:lstStyle/>
          <a:p>
            <a:pPr/>
            <a:r>
              <a:t>Модули</a:t>
            </a:r>
          </a:p>
        </p:txBody>
      </p:sp>
      <p:sp>
        <p:nvSpPr>
          <p:cNvPr id="320" name="Например:…"/>
          <p:cNvSpPr txBox="1"/>
          <p:nvPr>
            <p:ph type="body" idx="1"/>
          </p:nvPr>
        </p:nvSpPr>
        <p:spPr>
          <a:prstGeom prst="rect">
            <a:avLst/>
          </a:prstGeom>
        </p:spPr>
        <p:txBody>
          <a:bodyPr/>
          <a:lstStyle/>
          <a:p>
            <a:pPr/>
            <a:r>
              <a:t>Например:</a:t>
            </a:r>
          </a:p>
          <a:p>
            <a:pPr/>
          </a:p>
          <a:p>
            <a:pPr/>
          </a:p>
          <a:p>
            <a:pPr/>
            <a:r>
              <a:t>При този запис не се импортира името на модула, а само конкретни имена от него, които могат да се използват с просто име (без квалификация).</a:t>
            </a:r>
          </a:p>
        </p:txBody>
      </p:sp>
      <p:pic>
        <p:nvPicPr>
          <p:cNvPr id="321" name="Image" descr="Image"/>
          <p:cNvPicPr>
            <a:picLocks noChangeAspect="1"/>
          </p:cNvPicPr>
          <p:nvPr/>
        </p:nvPicPr>
        <p:blipFill>
          <a:blip r:embed="rId2">
            <a:extLst/>
          </a:blip>
          <a:stretch>
            <a:fillRect/>
          </a:stretch>
        </p:blipFill>
        <p:spPr>
          <a:xfrm>
            <a:off x="1511300" y="4140200"/>
            <a:ext cx="9982200" cy="1803400"/>
          </a:xfrm>
          <a:prstGeom prst="rect">
            <a:avLst/>
          </a:prstGeom>
          <a:ln w="12700">
            <a:miter lim="400000"/>
          </a:ln>
        </p:spPr>
      </p:pic>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Модули"/>
          <p:cNvSpPr txBox="1"/>
          <p:nvPr>
            <p:ph type="title"/>
          </p:nvPr>
        </p:nvSpPr>
        <p:spPr>
          <a:prstGeom prst="rect">
            <a:avLst/>
          </a:prstGeom>
        </p:spPr>
        <p:txBody>
          <a:bodyPr/>
          <a:lstStyle/>
          <a:p>
            <a:pPr/>
            <a:r>
              <a:t>Модули</a:t>
            </a:r>
          </a:p>
        </p:txBody>
      </p:sp>
      <p:sp>
        <p:nvSpPr>
          <p:cNvPr id="324" name="Съществува вариант, при който се включват всички имена, които дефинира модула:…"/>
          <p:cNvSpPr txBox="1"/>
          <p:nvPr>
            <p:ph type="body" idx="1"/>
          </p:nvPr>
        </p:nvSpPr>
        <p:spPr>
          <a:prstGeom prst="rect">
            <a:avLst/>
          </a:prstGeom>
        </p:spPr>
        <p:txBody>
          <a:bodyPr/>
          <a:lstStyle/>
          <a:p>
            <a:pPr marL="391159" indent="-391159" defTabSz="514095">
              <a:spcBef>
                <a:spcPts val="3600"/>
              </a:spcBef>
              <a:defRPr sz="3168"/>
            </a:pPr>
            <a:r>
              <a:t>Съществува вариант, при който се включват всички имена, които дефинира модула:</a:t>
            </a: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r>
              <a:t>Този запис импортира всички имена, освен онези, които започват с подчертавка /underscore (_). В повечето случаи програмистите на Python не използват тази възможност, защото тя включва неопределено множество имена и може да скрие някое име, дефинирано в текущия модул.</a:t>
            </a:r>
          </a:p>
        </p:txBody>
      </p:sp>
      <p:pic>
        <p:nvPicPr>
          <p:cNvPr id="325" name="Image" descr="Image"/>
          <p:cNvPicPr>
            <a:picLocks noChangeAspect="1"/>
          </p:cNvPicPr>
          <p:nvPr/>
        </p:nvPicPr>
        <p:blipFill>
          <a:blip r:embed="rId2">
            <a:extLst/>
          </a:blip>
          <a:stretch>
            <a:fillRect/>
          </a:stretch>
        </p:blipFill>
        <p:spPr>
          <a:xfrm>
            <a:off x="1511300" y="4000500"/>
            <a:ext cx="9982200" cy="1752600"/>
          </a:xfrm>
          <a:prstGeom prst="rect">
            <a:avLst/>
          </a:prstGeom>
          <a:ln w="12700">
            <a:miter lim="400000"/>
          </a:ln>
        </p:spPr>
      </p:pic>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7" name="Модули"/>
          <p:cNvSpPr txBox="1"/>
          <p:nvPr>
            <p:ph type="title"/>
          </p:nvPr>
        </p:nvSpPr>
        <p:spPr>
          <a:prstGeom prst="rect">
            <a:avLst/>
          </a:prstGeom>
        </p:spPr>
        <p:txBody>
          <a:bodyPr/>
          <a:lstStyle/>
          <a:p>
            <a:pPr/>
            <a:r>
              <a:t>Модули</a:t>
            </a:r>
          </a:p>
        </p:txBody>
      </p:sp>
      <p:sp>
        <p:nvSpPr>
          <p:cNvPr id="328" name="В общия случай практиката да се използва * при импортиране, създава нечетим код и е лоша практика, която трябва да се избягва. Допуска се използването й в интерактивен режим.…"/>
          <p:cNvSpPr txBox="1"/>
          <p:nvPr>
            <p:ph type="body" idx="1"/>
          </p:nvPr>
        </p:nvSpPr>
        <p:spPr>
          <a:prstGeom prst="rect">
            <a:avLst/>
          </a:prstGeom>
        </p:spPr>
        <p:txBody>
          <a:bodyPr/>
          <a:lstStyle/>
          <a:p>
            <a:pPr/>
            <a:r>
              <a:t>В общия случай практиката да се използва * при импортиране, създава нечетим код и е лоша практика, която трябва да се избягва. Допуска се използването й в интерактивен режим.</a:t>
            </a:r>
          </a:p>
          <a:p>
            <a:pPr/>
            <a:r>
              <a:t>Ако името на модула в команда import е последвано от as, тогава се въвежда псевдоним, с който  се използва модула. Например:</a:t>
            </a:r>
          </a:p>
        </p:txBody>
      </p:sp>
      <p:pic>
        <p:nvPicPr>
          <p:cNvPr id="329" name="Image" descr="Image"/>
          <p:cNvPicPr>
            <a:picLocks noChangeAspect="1"/>
          </p:cNvPicPr>
          <p:nvPr/>
        </p:nvPicPr>
        <p:blipFill>
          <a:blip r:embed="rId2">
            <a:extLst/>
          </a:blip>
          <a:stretch>
            <a:fillRect/>
          </a:stretch>
        </p:blipFill>
        <p:spPr>
          <a:xfrm>
            <a:off x="1524000" y="7543800"/>
            <a:ext cx="9956800" cy="1752600"/>
          </a:xfrm>
          <a:prstGeom prst="rect">
            <a:avLst/>
          </a:prstGeom>
          <a:ln w="12700">
            <a:miter lim="400000"/>
          </a:ln>
        </p:spPr>
      </p:pic>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Модули"/>
          <p:cNvSpPr txBox="1"/>
          <p:nvPr>
            <p:ph type="title"/>
          </p:nvPr>
        </p:nvSpPr>
        <p:spPr>
          <a:prstGeom prst="rect">
            <a:avLst/>
          </a:prstGeom>
        </p:spPr>
        <p:txBody>
          <a:bodyPr/>
          <a:lstStyle/>
          <a:p>
            <a:pPr/>
            <a:r>
              <a:t>Модули</a:t>
            </a:r>
          </a:p>
        </p:txBody>
      </p:sp>
      <p:sp>
        <p:nvSpPr>
          <p:cNvPr id="332" name="На практика това е обикновен import, с единствената разлика, че името на модула е сменено (в примера то е fib).…"/>
          <p:cNvSpPr txBox="1"/>
          <p:nvPr>
            <p:ph type="body" idx="1"/>
          </p:nvPr>
        </p:nvSpPr>
        <p:spPr>
          <a:prstGeom prst="rect">
            <a:avLst/>
          </a:prstGeom>
        </p:spPr>
        <p:txBody>
          <a:bodyPr/>
          <a:lstStyle/>
          <a:p>
            <a:pPr/>
            <a:r>
              <a:t>На практика това е обикновен import, с единствената разлика, че името на модула е сменено (в примера то е fib).</a:t>
            </a:r>
          </a:p>
          <a:p>
            <a:pPr/>
            <a:r>
              <a:t>Възможно е as да се използва и за смяна на името на функция. Например:</a:t>
            </a:r>
          </a:p>
        </p:txBody>
      </p:sp>
      <p:pic>
        <p:nvPicPr>
          <p:cNvPr id="333" name="Image" descr="Image"/>
          <p:cNvPicPr>
            <a:picLocks noChangeAspect="1"/>
          </p:cNvPicPr>
          <p:nvPr/>
        </p:nvPicPr>
        <p:blipFill>
          <a:blip r:embed="rId2">
            <a:extLst/>
          </a:blip>
          <a:stretch>
            <a:fillRect/>
          </a:stretch>
        </p:blipFill>
        <p:spPr>
          <a:xfrm>
            <a:off x="1574800" y="7010400"/>
            <a:ext cx="9855200" cy="1778000"/>
          </a:xfrm>
          <a:prstGeom prst="rect">
            <a:avLst/>
          </a:prstGeom>
          <a:ln w="12700">
            <a:miter lim="400000"/>
          </a:ln>
        </p:spPr>
      </p:pic>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Модули"/>
          <p:cNvSpPr txBox="1"/>
          <p:nvPr>
            <p:ph type="title"/>
          </p:nvPr>
        </p:nvSpPr>
        <p:spPr>
          <a:prstGeom prst="rect">
            <a:avLst/>
          </a:prstGeom>
        </p:spPr>
        <p:txBody>
          <a:bodyPr/>
          <a:lstStyle/>
          <a:p>
            <a:pPr/>
            <a:r>
              <a:t>Модули</a:t>
            </a:r>
          </a:p>
        </p:txBody>
      </p:sp>
      <p:sp>
        <p:nvSpPr>
          <p:cNvPr id="336" name="С цел ефвктивност всеки модул се импортира само веднъж на сесия на интерпретатора. Ето защо, ако се направят промени в импортирания модул, трябва да се рестартира интерпретатора, за да се зареди модула с корекциите или ако трябва да се тества интерактивн"/>
          <p:cNvSpPr txBox="1"/>
          <p:nvPr>
            <p:ph type="body" idx="1"/>
          </p:nvPr>
        </p:nvSpPr>
        <p:spPr>
          <a:prstGeom prst="rect">
            <a:avLst/>
          </a:prstGeom>
        </p:spPr>
        <p:txBody>
          <a:bodyPr/>
          <a:lstStyle/>
          <a:p>
            <a:pPr/>
            <a:r>
              <a:t>С цел ефвктивност всеки модул се импортира само веднъж на сесия на интерпретатора. Ето защо, ако се направят промени в импортирания модул, трябва да се рестартира интерпретатора, за да се зареди модула с корекциите или ако трябва да се тества интерактивно само един модул, се използва importlib.reload(), т.е. </a:t>
            </a:r>
            <a:br/>
            <a:r>
              <a:t>import importlib; </a:t>
            </a:r>
            <a:br/>
            <a:r>
              <a:t>importlib.reload(modulename).</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Изпълнение на модулите като скрипт (scripts)"/>
          <p:cNvSpPr txBox="1"/>
          <p:nvPr>
            <p:ph type="title"/>
          </p:nvPr>
        </p:nvSpPr>
        <p:spPr>
          <a:prstGeom prst="rect">
            <a:avLst/>
          </a:prstGeom>
        </p:spPr>
        <p:txBody>
          <a:bodyPr/>
          <a:lstStyle>
            <a:lvl1pPr defTabSz="490727">
              <a:defRPr sz="6719"/>
            </a:lvl1pPr>
          </a:lstStyle>
          <a:p>
            <a:pPr/>
            <a:r>
              <a:t>Изпълнение на модулите като скрипт (scripts)</a:t>
            </a:r>
          </a:p>
        </p:txBody>
      </p:sp>
      <p:sp>
        <p:nvSpPr>
          <p:cNvPr id="339" name="Когато се стартира модул на Python с…"/>
          <p:cNvSpPr txBox="1"/>
          <p:nvPr>
            <p:ph type="body" idx="1"/>
          </p:nvPr>
        </p:nvSpPr>
        <p:spPr>
          <a:prstGeom prst="rect">
            <a:avLst/>
          </a:prstGeom>
        </p:spPr>
        <p:txBody>
          <a:bodyPr/>
          <a:lstStyle/>
          <a:p>
            <a:pPr/>
            <a:r>
              <a:t>Когато се стартира модул на Python с</a:t>
            </a:r>
          </a:p>
          <a:p>
            <a:pPr/>
          </a:p>
          <a:p>
            <a:pPr/>
            <a:r>
              <a:t>кодът на модула се изпълнява, все едно е импортиран, но променливата __name__ има стойност "__main__".</a:t>
            </a:r>
          </a:p>
        </p:txBody>
      </p:sp>
      <p:pic>
        <p:nvPicPr>
          <p:cNvPr id="340" name="Image" descr="Image"/>
          <p:cNvPicPr>
            <a:picLocks noChangeAspect="1"/>
          </p:cNvPicPr>
          <p:nvPr/>
        </p:nvPicPr>
        <p:blipFill>
          <a:blip r:embed="rId2">
            <a:extLst/>
          </a:blip>
          <a:stretch>
            <a:fillRect/>
          </a:stretch>
        </p:blipFill>
        <p:spPr>
          <a:xfrm>
            <a:off x="3200400" y="4737100"/>
            <a:ext cx="6604000" cy="812800"/>
          </a:xfrm>
          <a:prstGeom prst="rect">
            <a:avLst/>
          </a:prstGeom>
          <a:ln w="12700">
            <a:miter lim="400000"/>
          </a:ln>
        </p:spPr>
      </p:pic>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Изпълнение на модулите като скрипт (scripts)"/>
          <p:cNvSpPr txBox="1"/>
          <p:nvPr>
            <p:ph type="title"/>
          </p:nvPr>
        </p:nvSpPr>
        <p:spPr>
          <a:prstGeom prst="rect">
            <a:avLst/>
          </a:prstGeom>
        </p:spPr>
        <p:txBody>
          <a:bodyPr/>
          <a:lstStyle>
            <a:lvl1pPr defTabSz="490727">
              <a:defRPr sz="6719"/>
            </a:lvl1pPr>
          </a:lstStyle>
          <a:p>
            <a:pPr/>
            <a:r>
              <a:t>Изпълнение на модулите като скрипт (scripts)</a:t>
            </a:r>
          </a:p>
        </p:txBody>
      </p:sp>
      <p:sp>
        <p:nvSpPr>
          <p:cNvPr id="343" name="Това означава, че ако се добави следния код в края на модула:…"/>
          <p:cNvSpPr txBox="1"/>
          <p:nvPr>
            <p:ph type="body" idx="1"/>
          </p:nvPr>
        </p:nvSpPr>
        <p:spPr>
          <a:prstGeom prst="rect">
            <a:avLst/>
          </a:prstGeom>
        </p:spPr>
        <p:txBody>
          <a:bodyPr/>
          <a:lstStyle/>
          <a:p>
            <a:pPr marL="404495" indent="-404495" defTabSz="531622">
              <a:spcBef>
                <a:spcPts val="3800"/>
              </a:spcBef>
              <a:defRPr sz="3276"/>
            </a:pPr>
            <a:r>
              <a:t>Това означава, че ако се добави следния код в края на модула:</a:t>
            </a:r>
            <a:br/>
          </a:p>
          <a:p>
            <a:pPr marL="404495" indent="-404495" defTabSz="531622">
              <a:spcBef>
                <a:spcPts val="3800"/>
              </a:spcBef>
              <a:defRPr sz="3276"/>
            </a:pPr>
          </a:p>
          <a:p>
            <a:pPr marL="404495" indent="-404495" defTabSz="531622">
              <a:spcBef>
                <a:spcPts val="3800"/>
              </a:spcBef>
              <a:defRPr sz="3276"/>
            </a:pPr>
            <a:r>
              <a:t>файлът може да се използва и чрез import, и когато скрипт, защото кодът, който разчита командния ред, се стартира само, ако модула се изпълнява като “main” файл:</a:t>
            </a:r>
            <a:br/>
            <a:br/>
          </a:p>
        </p:txBody>
      </p:sp>
      <p:pic>
        <p:nvPicPr>
          <p:cNvPr id="344" name="Image" descr="Image"/>
          <p:cNvPicPr>
            <a:picLocks noChangeAspect="1"/>
          </p:cNvPicPr>
          <p:nvPr/>
        </p:nvPicPr>
        <p:blipFill>
          <a:blip r:embed="rId2">
            <a:extLst/>
          </a:blip>
          <a:stretch>
            <a:fillRect/>
          </a:stretch>
        </p:blipFill>
        <p:spPr>
          <a:xfrm>
            <a:off x="3416300" y="3733800"/>
            <a:ext cx="6985000" cy="1879600"/>
          </a:xfrm>
          <a:prstGeom prst="rect">
            <a:avLst/>
          </a:prstGeom>
          <a:ln w="12700">
            <a:miter lim="400000"/>
          </a:ln>
        </p:spPr>
      </p:pic>
      <p:pic>
        <p:nvPicPr>
          <p:cNvPr id="345" name="Image" descr="Image"/>
          <p:cNvPicPr>
            <a:picLocks noChangeAspect="1"/>
          </p:cNvPicPr>
          <p:nvPr/>
        </p:nvPicPr>
        <p:blipFill>
          <a:blip r:embed="rId3">
            <a:extLst/>
          </a:blip>
          <a:stretch>
            <a:fillRect/>
          </a:stretch>
        </p:blipFill>
        <p:spPr>
          <a:xfrm>
            <a:off x="3782443" y="7607300"/>
            <a:ext cx="5439914" cy="1426467"/>
          </a:xfrm>
          <a:prstGeom prst="rect">
            <a:avLst/>
          </a:prstGeom>
          <a:ln w="12700">
            <a:miter lim="400000"/>
          </a:ln>
        </p:spPr>
      </p:pic>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Изпълнение на модулите като скрипт (scripts)"/>
          <p:cNvSpPr txBox="1"/>
          <p:nvPr>
            <p:ph type="title"/>
          </p:nvPr>
        </p:nvSpPr>
        <p:spPr>
          <a:prstGeom prst="rect">
            <a:avLst/>
          </a:prstGeom>
        </p:spPr>
        <p:txBody>
          <a:bodyPr/>
          <a:lstStyle>
            <a:lvl1pPr defTabSz="490727">
              <a:defRPr sz="6719"/>
            </a:lvl1pPr>
          </a:lstStyle>
          <a:p>
            <a:pPr/>
            <a:r>
              <a:t>Изпълнение на модулите като скрипт (scripts)</a:t>
            </a:r>
          </a:p>
        </p:txBody>
      </p:sp>
      <p:sp>
        <p:nvSpPr>
          <p:cNvPr id="348" name="Ако се импортира модула, то кодът няма да се стартира:…"/>
          <p:cNvSpPr txBox="1"/>
          <p:nvPr>
            <p:ph type="body" idx="1"/>
          </p:nvPr>
        </p:nvSpPr>
        <p:spPr>
          <a:prstGeom prst="rect">
            <a:avLst/>
          </a:prstGeom>
        </p:spPr>
        <p:txBody>
          <a:bodyPr/>
          <a:lstStyle/>
          <a:p>
            <a:pPr/>
            <a:r>
              <a:t>Ако се импортира модула, то кодът няма да се стартира:</a:t>
            </a:r>
          </a:p>
          <a:p>
            <a:pPr/>
          </a:p>
          <a:p>
            <a:pPr/>
            <a:r>
              <a:t>Това се използва за предоставяне на удобен потребителски интерфейс към модула, или за тестване.</a:t>
            </a:r>
          </a:p>
        </p:txBody>
      </p:sp>
      <p:pic>
        <p:nvPicPr>
          <p:cNvPr id="349" name="Image" descr="Image"/>
          <p:cNvPicPr>
            <a:picLocks noChangeAspect="1"/>
          </p:cNvPicPr>
          <p:nvPr/>
        </p:nvPicPr>
        <p:blipFill>
          <a:blip r:embed="rId2">
            <a:extLst/>
          </a:blip>
          <a:stretch>
            <a:fillRect/>
          </a:stretch>
        </p:blipFill>
        <p:spPr>
          <a:xfrm>
            <a:off x="4343400" y="4419600"/>
            <a:ext cx="4318000" cy="1498600"/>
          </a:xfrm>
          <a:prstGeom prst="rect">
            <a:avLst/>
          </a:prstGeom>
          <a:ln w="12700">
            <a:miter lim="400000"/>
          </a:ln>
        </p:spPr>
      </p:pic>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1" name="The Module Search Path"/>
          <p:cNvSpPr txBox="1"/>
          <p:nvPr>
            <p:ph type="title"/>
          </p:nvPr>
        </p:nvSpPr>
        <p:spPr>
          <a:prstGeom prst="rect">
            <a:avLst/>
          </a:prstGeom>
        </p:spPr>
        <p:txBody>
          <a:bodyPr/>
          <a:lstStyle>
            <a:lvl1pPr defTabSz="572516">
              <a:defRPr sz="7840"/>
            </a:lvl1pPr>
          </a:lstStyle>
          <a:p>
            <a:pPr/>
            <a:r>
              <a:t>The Module Search Path</a:t>
            </a:r>
          </a:p>
        </p:txBody>
      </p:sp>
      <p:sp>
        <p:nvSpPr>
          <p:cNvPr id="352" name="Когато се импортира модул name, интерпретаторът търси първо посоченото име name във вградените модули. Ако не го намери, той проверява за файл с име name.py в списъка с директории, даден от променливата sys.path. sys.path се инициализира от следните мест"/>
          <p:cNvSpPr txBox="1"/>
          <p:nvPr>
            <p:ph type="body" idx="1"/>
          </p:nvPr>
        </p:nvSpPr>
        <p:spPr>
          <a:prstGeom prst="rect">
            <a:avLst/>
          </a:prstGeom>
        </p:spPr>
        <p:txBody>
          <a:bodyPr/>
          <a:lstStyle/>
          <a:p>
            <a:pPr marL="382270" indent="-382270" defTabSz="502412">
              <a:spcBef>
                <a:spcPts val="3600"/>
              </a:spcBef>
              <a:defRPr sz="3096"/>
            </a:pPr>
            <a:r>
              <a:t>Когато се импортира модул name, интерпретаторът търси първо посоченото име name във вградените модули. Ако не го намери, той проверява за файл с име name.py в списъка с директории, даден от променливата sys.path. sys.path се инициализира от следните местоположения:</a:t>
            </a:r>
          </a:p>
          <a:p>
            <a:pPr lvl="1" marL="764540" indent="-382270" defTabSz="502412">
              <a:spcBef>
                <a:spcPts val="3600"/>
              </a:spcBef>
              <a:defRPr sz="3096"/>
            </a:pPr>
            <a:r>
              <a:t>текущата директория на входния скрипт, а ако такъв не е посочен при стартиране - текущата директория.</a:t>
            </a:r>
          </a:p>
          <a:p>
            <a:pPr lvl="1" marL="764540" indent="-382270" defTabSz="502412">
              <a:spcBef>
                <a:spcPts val="3600"/>
              </a:spcBef>
              <a:defRPr sz="3096"/>
            </a:pPr>
            <a:r>
              <a:t>PYTHONPATH (списък с имена на директории, със същия синтаксис като shell променливата PATH).</a:t>
            </a:r>
          </a:p>
          <a:p>
            <a:pPr lvl="1" marL="764540" indent="-382270" defTabSz="502412">
              <a:spcBef>
                <a:spcPts val="3600"/>
              </a:spcBef>
              <a:defRPr sz="3096"/>
            </a:pPr>
            <a:r>
              <a:t>The installation-dependent default.</a:t>
            </a:r>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The Module Search Path"/>
          <p:cNvSpPr txBox="1"/>
          <p:nvPr>
            <p:ph type="title"/>
          </p:nvPr>
        </p:nvSpPr>
        <p:spPr>
          <a:prstGeom prst="rect">
            <a:avLst/>
          </a:prstGeom>
        </p:spPr>
        <p:txBody>
          <a:bodyPr/>
          <a:lstStyle>
            <a:lvl1pPr defTabSz="572516">
              <a:defRPr sz="7840"/>
            </a:lvl1pPr>
          </a:lstStyle>
          <a:p>
            <a:pPr/>
            <a:r>
              <a:t>The Module Search Path</a:t>
            </a:r>
          </a:p>
        </p:txBody>
      </p:sp>
      <p:sp>
        <p:nvSpPr>
          <p:cNvPr id="355" name="Във файловите системи, които поддържат символични връзки (symlinks), директорията, съдържаща входния скрипт се определя след прилагане на symlink, т.е. директорията съдържаща symlink не се добавя към module search path.…"/>
          <p:cNvSpPr txBox="1"/>
          <p:nvPr>
            <p:ph type="body" idx="1"/>
          </p:nvPr>
        </p:nvSpPr>
        <p:spPr>
          <a:prstGeom prst="rect">
            <a:avLst/>
          </a:prstGeom>
        </p:spPr>
        <p:txBody>
          <a:bodyPr/>
          <a:lstStyle/>
          <a:p>
            <a:pPr marL="391159" indent="-391159" defTabSz="514095">
              <a:spcBef>
                <a:spcPts val="3600"/>
              </a:spcBef>
              <a:defRPr sz="3168"/>
            </a:pPr>
            <a:r>
              <a:t>Във файловите системи, които поддържат символични връзки (symlinks), директорията, съдържаща входния скрипт се определя след прилагане на symlink, т.е. директорията съдържаща symlink не се добавя към module search path.</a:t>
            </a:r>
          </a:p>
          <a:p>
            <a:pPr marL="391159" indent="-391159" defTabSz="514095">
              <a:spcBef>
                <a:spcPts val="3600"/>
              </a:spcBef>
              <a:defRPr sz="3168"/>
            </a:pPr>
            <a:r>
              <a:t>След инициализацията, програмите на Python могат да променят sys.path. Директорията, съдържаща скрипта, който ще се стартира, се поставя в началото на search path, преди standard library path. Това означава, че скриптовете в тази директория ще се заредят вместо едноименните в стандартната библиотека. Ако това не трябва да се случва ще се появи грешка.</a:t>
            </a:r>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Compiled” Python files"/>
          <p:cNvSpPr txBox="1"/>
          <p:nvPr>
            <p:ph type="title"/>
          </p:nvPr>
        </p:nvSpPr>
        <p:spPr>
          <a:prstGeom prst="rect">
            <a:avLst/>
          </a:prstGeom>
        </p:spPr>
        <p:txBody>
          <a:bodyPr/>
          <a:lstStyle/>
          <a:p>
            <a:pPr/>
            <a:r>
              <a:t>“Compiled” Python files</a:t>
            </a:r>
          </a:p>
        </p:txBody>
      </p:sp>
      <p:sp>
        <p:nvSpPr>
          <p:cNvPr id="358" name="За ускоряване на процеса на зареждане на модули, Python кешира компилирана версия на всеки модул в директория __pycache__. Имената на компилираните файлове се образуват: module.version.pyc, където version кодира формата на компилирания файл. Той съдържа "/>
          <p:cNvSpPr txBox="1"/>
          <p:nvPr>
            <p:ph type="body" idx="1"/>
          </p:nvPr>
        </p:nvSpPr>
        <p:spPr>
          <a:prstGeom prst="rect">
            <a:avLst/>
          </a:prstGeom>
        </p:spPr>
        <p:txBody>
          <a:bodyPr/>
          <a:lstStyle/>
          <a:p>
            <a:pPr marL="311150" indent="-311150" defTabSz="408940">
              <a:spcBef>
                <a:spcPts val="2900"/>
              </a:spcBef>
              <a:defRPr sz="2520"/>
            </a:pPr>
            <a:r>
              <a:t>За ускоряване на процеса на зареждане на модули, Python кешира компилирана версия на всеки модул в директория __pycache__. Имената на компилираните файлове се образуват: module.version.pyc, където version кодира формата на компилирания файл. Той съдържа Python version number. Например, при CPython release 3.3 компилираната версия на файла spam.py ще бъде налична в __pycache__/spam.cpython-33.pyc. Тази конвенция на имената позволява да се използват компилираните модули от различни версии на Python.</a:t>
            </a:r>
          </a:p>
          <a:p>
            <a:pPr marL="311150" indent="-311150" defTabSz="408940">
              <a:spcBef>
                <a:spcPts val="2900"/>
              </a:spcBef>
              <a:defRPr sz="2520"/>
            </a:pPr>
            <a:r>
              <a:t>Python проверява датата на промяна на source file и на компилираният файл като ги сравнява и определя дали трябва да се прекомпилира source file или не. Това е напълно автоматичен процес. Компилираните модули са платформено независими (platform-independent), т.е. една и съща библиотека може да се споделя между различни системи и архитектури.</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Compiled” Python files"/>
          <p:cNvSpPr txBox="1"/>
          <p:nvPr>
            <p:ph type="title"/>
          </p:nvPr>
        </p:nvSpPr>
        <p:spPr>
          <a:prstGeom prst="rect">
            <a:avLst/>
          </a:prstGeom>
        </p:spPr>
        <p:txBody>
          <a:bodyPr/>
          <a:lstStyle/>
          <a:p>
            <a:pPr/>
            <a:r>
              <a:t>“Compiled” Python files</a:t>
            </a:r>
          </a:p>
        </p:txBody>
      </p:sp>
      <p:sp>
        <p:nvSpPr>
          <p:cNvPr id="361" name="Python не проверява cache в два случая:…"/>
          <p:cNvSpPr txBox="1"/>
          <p:nvPr>
            <p:ph type="body" idx="1"/>
          </p:nvPr>
        </p:nvSpPr>
        <p:spPr>
          <a:prstGeom prst="rect">
            <a:avLst/>
          </a:prstGeom>
        </p:spPr>
        <p:txBody>
          <a:bodyPr/>
          <a:lstStyle/>
          <a:p>
            <a:pPr/>
            <a:r>
              <a:t>Python не проверява cache в два случая:</a:t>
            </a:r>
          </a:p>
          <a:p>
            <a:pPr/>
            <a:r>
              <a:t>1. Винаги се прекомпилират и не се съхраняват компилираните файлове за модули, които се зареждат директно от команден ред.</a:t>
            </a:r>
          </a:p>
          <a:p>
            <a:pPr/>
            <a:r>
              <a:t>2. Кешът не се проверява, ако няма source module. За поддръжка на компилиран само файл (non-source), компилираният модул трябва да бъде поставен в source директорията и да няма source module.</a:t>
            </a:r>
          </a:p>
        </p:txBody>
      </p:sp>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Compiled” Python files"/>
          <p:cNvSpPr txBox="1"/>
          <p:nvPr>
            <p:ph type="title"/>
          </p:nvPr>
        </p:nvSpPr>
        <p:spPr>
          <a:prstGeom prst="rect">
            <a:avLst/>
          </a:prstGeom>
        </p:spPr>
        <p:txBody>
          <a:bodyPr/>
          <a:lstStyle/>
          <a:p>
            <a:pPr/>
            <a:r>
              <a:t>“Compiled” Python files</a:t>
            </a:r>
          </a:p>
        </p:txBody>
      </p:sp>
      <p:sp>
        <p:nvSpPr>
          <p:cNvPr id="364" name="Може да се използват опции -O или -OO в командите на Python за да се намали размера на компилираният модул. Опцията -O премахва операторите assert, а опция -OO премахва оператори assert и низове __doc__. Тъй като някои програми се нуждаят от наличие и на"/>
          <p:cNvSpPr txBox="1"/>
          <p:nvPr>
            <p:ph type="body" idx="1"/>
          </p:nvPr>
        </p:nvSpPr>
        <p:spPr>
          <a:prstGeom prst="rect">
            <a:avLst/>
          </a:prstGeom>
        </p:spPr>
        <p:txBody>
          <a:bodyPr/>
          <a:lstStyle/>
          <a:p>
            <a:pPr marL="342264" indent="-342264" defTabSz="449833">
              <a:spcBef>
                <a:spcPts val="3200"/>
              </a:spcBef>
              <a:defRPr sz="2772"/>
            </a:pPr>
            <a:r>
              <a:t>Може да се използват опции -O или -OO в командите на Python за да се намали размера на компилираният модул. Опцията -O премахва операторите assert, а опция -OO премахва оператори assert и низове __doc__. Тъй като някои програми се нуждаят от наличие и на двете възможности, използването на подони опции трябва да се прави само, когато се знае добре възможна ли е подобна оптимизация или не. “Optimized” modules имат opt- tag и винаги са по-малки.</a:t>
            </a:r>
          </a:p>
          <a:p>
            <a:pPr marL="342264" indent="-342264" defTabSz="449833">
              <a:spcBef>
                <a:spcPts val="3200"/>
              </a:spcBef>
              <a:defRPr sz="2772"/>
            </a:pPr>
            <a:r>
              <a:t>Програмата не работи по-бързо, когато се чете от .pyc file, отколкото, ако се чете от .py file; единствено скоростта на зареждане на модула е по-голяма при .pyc files.</a:t>
            </a:r>
          </a:p>
          <a:p>
            <a:pPr marL="342264" indent="-342264" defTabSz="449833">
              <a:spcBef>
                <a:spcPts val="3200"/>
              </a:spcBef>
              <a:defRPr sz="2772"/>
            </a:pPr>
            <a:r>
              <a:t>Модулът compileall може да създаде .pyc files за всички модули в една директория.</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Standard Modules"/>
          <p:cNvSpPr txBox="1"/>
          <p:nvPr>
            <p:ph type="title"/>
          </p:nvPr>
        </p:nvSpPr>
        <p:spPr>
          <a:prstGeom prst="rect">
            <a:avLst/>
          </a:prstGeom>
        </p:spPr>
        <p:txBody>
          <a:bodyPr/>
          <a:lstStyle/>
          <a:p>
            <a:pPr/>
            <a:r>
              <a:t>Standard Modules</a:t>
            </a:r>
          </a:p>
        </p:txBody>
      </p:sp>
      <p:sp>
        <p:nvSpPr>
          <p:cNvPr id="367" name="Python разполага с библиотека от стандартни модули. Някои от тях са вградени в интерпретатора. Това предоставя достъп до операции, които не са част от основата на езика, но е добре да са вградени, защото предоставят достъп до операционната система като и"/>
          <p:cNvSpPr txBox="1"/>
          <p:nvPr>
            <p:ph type="body" idx="1"/>
          </p:nvPr>
        </p:nvSpPr>
        <p:spPr>
          <a:prstGeom prst="rect">
            <a:avLst/>
          </a:prstGeom>
        </p:spPr>
        <p:txBody>
          <a:bodyPr/>
          <a:lstStyle/>
          <a:p>
            <a:pPr/>
            <a:r>
              <a:t>Python разполага с библиотека от стандартни модули. Някои от тях са вградени в интерпретатора. Това предоставя достъп до операции, които не са част от основата на езика, но е добре да са вградени, защото предоставят достъп до операционната система като извикване на системни функции (system calls). Множеството от подобни модули е конфигурационна опция, която също зависи от използваната платформа. Например, модулът winreg се предоставя само от Windows системи.</a:t>
            </a:r>
          </a:p>
        </p:txBody>
      </p:sp>
    </p:spTree>
  </p:cSld>
  <p:clrMapOvr>
    <a:masterClrMapping/>
  </p:clrMapOvr>
  <p:transition xmlns:p14="http://schemas.microsoft.com/office/powerpoint/2010/main" spd="med"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9" name="Standard Modules"/>
          <p:cNvSpPr txBox="1"/>
          <p:nvPr>
            <p:ph type="title"/>
          </p:nvPr>
        </p:nvSpPr>
        <p:spPr>
          <a:prstGeom prst="rect">
            <a:avLst/>
          </a:prstGeom>
        </p:spPr>
        <p:txBody>
          <a:bodyPr/>
          <a:lstStyle/>
          <a:p>
            <a:pPr/>
            <a:r>
              <a:t>Standard Modules</a:t>
            </a:r>
          </a:p>
        </p:txBody>
      </p:sp>
      <p:sp>
        <p:nvSpPr>
          <p:cNvPr id="370" name="Един частен случай е модулът sys, който е вграден във всеки интерпретатор на Python. Променливите sys.ps1 и sys.ps2 дефинират низове, използвани като първичен и вторичен промпт (primary and secondary prompts):…"/>
          <p:cNvSpPr txBox="1"/>
          <p:nvPr>
            <p:ph type="body" idx="1"/>
          </p:nvPr>
        </p:nvSpPr>
        <p:spPr>
          <a:prstGeom prst="rect">
            <a:avLst/>
          </a:prstGeom>
        </p:spPr>
        <p:txBody>
          <a:bodyPr/>
          <a:lstStyle/>
          <a:p>
            <a:pPr marL="293370" indent="-293370" defTabSz="385572">
              <a:spcBef>
                <a:spcPts val="2700"/>
              </a:spcBef>
              <a:defRPr sz="2376"/>
            </a:pPr>
            <a:r>
              <a:t>Един частен случай е модулът sys, който е вграден във всеки интерпретатор на Python. Променливите sys.ps1 и sys.ps2 дефинират низове, използвани като първичен и вторичен промпт (primary and secondary prompts):</a:t>
            </a: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p>
          <a:p>
            <a:pPr marL="293370" indent="-293370" defTabSz="385572">
              <a:spcBef>
                <a:spcPts val="2700"/>
              </a:spcBef>
              <a:defRPr sz="2376"/>
            </a:pPr>
            <a:r>
              <a:t>Тези две променливи са дефинирани само, ако интерпретаторът е в интерактивен режим.</a:t>
            </a:r>
          </a:p>
        </p:txBody>
      </p:sp>
      <p:pic>
        <p:nvPicPr>
          <p:cNvPr id="371" name="Image" descr="Image"/>
          <p:cNvPicPr>
            <a:picLocks noChangeAspect="1"/>
          </p:cNvPicPr>
          <p:nvPr/>
        </p:nvPicPr>
        <p:blipFill>
          <a:blip r:embed="rId2">
            <a:extLst/>
          </a:blip>
          <a:stretch>
            <a:fillRect/>
          </a:stretch>
        </p:blipFill>
        <p:spPr>
          <a:xfrm>
            <a:off x="4929639" y="4089982"/>
            <a:ext cx="4604758" cy="3771318"/>
          </a:xfrm>
          <a:prstGeom prst="rect">
            <a:avLst/>
          </a:prstGeom>
          <a:ln w="12700">
            <a:miter lim="400000"/>
          </a:ln>
        </p:spPr>
      </p:pic>
    </p:spTree>
  </p:cSld>
  <p:clrMapOvr>
    <a:masterClrMapping/>
  </p:clrMapOvr>
  <p:transition xmlns:p14="http://schemas.microsoft.com/office/powerpoint/2010/main" spd="med" advClick="1"/>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Standard Modules"/>
          <p:cNvSpPr txBox="1"/>
          <p:nvPr>
            <p:ph type="title"/>
          </p:nvPr>
        </p:nvSpPr>
        <p:spPr>
          <a:prstGeom prst="rect">
            <a:avLst/>
          </a:prstGeom>
        </p:spPr>
        <p:txBody>
          <a:bodyPr/>
          <a:lstStyle/>
          <a:p>
            <a:pPr/>
            <a:r>
              <a:t>Standard Modules</a:t>
            </a:r>
          </a:p>
        </p:txBody>
      </p:sp>
      <p:sp>
        <p:nvSpPr>
          <p:cNvPr id="374" name="Променливата sys.path е списък от низове, които задават interpreter’s search path за модулите. Тя е инициализирана с default path, получен от променливата на средата (environment variable) PYTHONPATH, или от вградената по подразбиране променлива, ако PYT"/>
          <p:cNvSpPr txBox="1"/>
          <p:nvPr>
            <p:ph type="body" idx="1"/>
          </p:nvPr>
        </p:nvSpPr>
        <p:spPr>
          <a:prstGeom prst="rect">
            <a:avLst/>
          </a:prstGeom>
        </p:spPr>
        <p:txBody>
          <a:bodyPr/>
          <a:lstStyle/>
          <a:p>
            <a:pPr marL="404495" indent="-404495" defTabSz="531622">
              <a:spcBef>
                <a:spcPts val="3800"/>
              </a:spcBef>
              <a:defRPr sz="3276"/>
            </a:pPr>
            <a:r>
              <a:t>Променливата sys.path е списък от низове, които задават interpreter’s search path за модулите. Тя е инициализирана с default path, получен от променливата на средата (environment variable) PYTHONPATH, или от вградената по подразбиране променлива, ако PYTHONPATH не е зададена. Може да се промени, ако се използват стандартните операции за списъци:</a:t>
            </a:r>
          </a:p>
          <a:p>
            <a:pPr marL="404495" indent="-404495" defTabSz="531622">
              <a:spcBef>
                <a:spcPts val="3800"/>
              </a:spcBef>
              <a:defRPr sz="3276"/>
            </a:pPr>
          </a:p>
        </p:txBody>
      </p:sp>
      <p:pic>
        <p:nvPicPr>
          <p:cNvPr id="375" name="Image" descr="Image"/>
          <p:cNvPicPr>
            <a:picLocks noChangeAspect="1"/>
          </p:cNvPicPr>
          <p:nvPr/>
        </p:nvPicPr>
        <p:blipFill>
          <a:blip r:embed="rId2">
            <a:extLst/>
          </a:blip>
          <a:stretch>
            <a:fillRect/>
          </a:stretch>
        </p:blipFill>
        <p:spPr>
          <a:xfrm>
            <a:off x="1003300" y="7366000"/>
            <a:ext cx="10998200" cy="1447800"/>
          </a:xfrm>
          <a:prstGeom prst="rect">
            <a:avLst/>
          </a:prstGeom>
          <a:ln w="12700">
            <a:miter lim="400000"/>
          </a:ln>
        </p:spPr>
      </p:pic>
    </p:spTree>
  </p:cSld>
  <p:clrMapOvr>
    <a:masterClrMapping/>
  </p:clrMapOvr>
  <p:transition xmlns:p14="http://schemas.microsoft.com/office/powerpoint/2010/main" spd="med" advClick="1"/>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Функция dir()"/>
          <p:cNvSpPr txBox="1"/>
          <p:nvPr>
            <p:ph type="title"/>
          </p:nvPr>
        </p:nvSpPr>
        <p:spPr>
          <a:prstGeom prst="rect">
            <a:avLst/>
          </a:prstGeom>
        </p:spPr>
        <p:txBody>
          <a:bodyPr/>
          <a:lstStyle/>
          <a:p>
            <a:pPr/>
            <a:r>
              <a:t>Функция dir()</a:t>
            </a:r>
          </a:p>
        </p:txBody>
      </p:sp>
      <p:sp>
        <p:nvSpPr>
          <p:cNvPr id="378" name="Вградената функция dir() се използва за намиране на кои имена са дефинирани в модула. Тя връща подреден списък от низове:"/>
          <p:cNvSpPr txBox="1"/>
          <p:nvPr>
            <p:ph type="body" idx="1"/>
          </p:nvPr>
        </p:nvSpPr>
        <p:spPr>
          <a:prstGeom prst="rect">
            <a:avLst/>
          </a:prstGeom>
        </p:spPr>
        <p:txBody>
          <a:bodyPr/>
          <a:lstStyle/>
          <a:p>
            <a:pPr marL="346709" indent="-346709" defTabSz="455675">
              <a:spcBef>
                <a:spcPts val="3200"/>
              </a:spcBef>
              <a:defRPr sz="2807"/>
            </a:pPr>
            <a:r>
              <a:t>Вградената функция dir() се използва за намиране на кои имена са дефинирани в модула. Тя връща подреден списък от низове:</a:t>
            </a:r>
          </a:p>
          <a:p>
            <a:pPr marL="346709" indent="-346709" defTabSz="455675">
              <a:spcBef>
                <a:spcPts val="3200"/>
              </a:spcBef>
              <a:defRPr sz="2807"/>
            </a:pPr>
          </a:p>
          <a:p>
            <a:pPr marL="346709" indent="-346709" defTabSz="455675">
              <a:spcBef>
                <a:spcPts val="3200"/>
              </a:spcBef>
              <a:defRPr sz="2807"/>
            </a:pPr>
          </a:p>
          <a:p>
            <a:pPr marL="346709" indent="-346709" defTabSz="455675">
              <a:spcBef>
                <a:spcPts val="3200"/>
              </a:spcBef>
              <a:defRPr sz="2807"/>
            </a:pPr>
          </a:p>
          <a:p>
            <a:pPr marL="346709" indent="-346709" defTabSz="455675">
              <a:spcBef>
                <a:spcPts val="3200"/>
              </a:spcBef>
              <a:defRPr sz="2807"/>
            </a:pPr>
          </a:p>
          <a:p>
            <a:pPr marL="346709" indent="-346709" defTabSz="455675">
              <a:spcBef>
                <a:spcPts val="3200"/>
              </a:spcBef>
              <a:defRPr sz="2807"/>
            </a:pPr>
          </a:p>
        </p:txBody>
      </p:sp>
      <p:pic>
        <p:nvPicPr>
          <p:cNvPr id="379" name="Image" descr="Image"/>
          <p:cNvPicPr>
            <a:picLocks noChangeAspect="1"/>
          </p:cNvPicPr>
          <p:nvPr/>
        </p:nvPicPr>
        <p:blipFill>
          <a:blip r:embed="rId2">
            <a:extLst/>
          </a:blip>
          <a:stretch>
            <a:fillRect/>
          </a:stretch>
        </p:blipFill>
        <p:spPr>
          <a:xfrm>
            <a:off x="1300163" y="3804335"/>
            <a:ext cx="9998074" cy="5537395"/>
          </a:xfrm>
          <a:prstGeom prst="rect">
            <a:avLst/>
          </a:prstGeom>
          <a:ln w="12700">
            <a:miter lim="400000"/>
          </a:ln>
        </p:spPr>
      </p:pic>
    </p:spTree>
  </p:cSld>
  <p:clrMapOvr>
    <a:masterClrMapping/>
  </p:clrMapOvr>
  <p:transition xmlns:p14="http://schemas.microsoft.com/office/powerpoint/2010/main" spd="med" advClick="1"/>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Функция dir()"/>
          <p:cNvSpPr txBox="1"/>
          <p:nvPr>
            <p:ph type="title"/>
          </p:nvPr>
        </p:nvSpPr>
        <p:spPr>
          <a:prstGeom prst="rect">
            <a:avLst/>
          </a:prstGeom>
        </p:spPr>
        <p:txBody>
          <a:bodyPr/>
          <a:lstStyle/>
          <a:p>
            <a:pPr/>
            <a:r>
              <a:t>Функция dir()</a:t>
            </a:r>
          </a:p>
        </p:txBody>
      </p:sp>
      <p:sp>
        <p:nvSpPr>
          <p:cNvPr id="382" name="Без аргументи, dir() връща списък от текущо дефинираните имена:…"/>
          <p:cNvSpPr txBox="1"/>
          <p:nvPr>
            <p:ph type="body" idx="1"/>
          </p:nvPr>
        </p:nvSpPr>
        <p:spPr>
          <a:prstGeom prst="rect">
            <a:avLst/>
          </a:prstGeom>
        </p:spPr>
        <p:txBody>
          <a:bodyPr/>
          <a:lstStyle/>
          <a:p>
            <a:pPr marL="342264" indent="-342264" defTabSz="449833">
              <a:spcBef>
                <a:spcPts val="3200"/>
              </a:spcBef>
              <a:defRPr sz="2772"/>
            </a:pPr>
            <a:r>
              <a:t>Без аргументи, dir() връща списък от текущо дефинираните имена:</a:t>
            </a:r>
          </a:p>
          <a:p>
            <a:pPr marL="342264" indent="-342264" defTabSz="449833">
              <a:spcBef>
                <a:spcPts val="3200"/>
              </a:spcBef>
              <a:defRPr sz="2772"/>
            </a:pPr>
          </a:p>
          <a:p>
            <a:pPr marL="342264" indent="-342264" defTabSz="449833">
              <a:spcBef>
                <a:spcPts val="3200"/>
              </a:spcBef>
              <a:defRPr sz="2772"/>
            </a:pPr>
          </a:p>
          <a:p>
            <a:pPr marL="342264" indent="-342264" defTabSz="449833">
              <a:spcBef>
                <a:spcPts val="3200"/>
              </a:spcBef>
              <a:defRPr sz="2772"/>
            </a:pPr>
          </a:p>
          <a:p>
            <a:pPr marL="342264" indent="-342264" defTabSz="449833">
              <a:spcBef>
                <a:spcPts val="3200"/>
              </a:spcBef>
              <a:defRPr sz="2772"/>
            </a:pPr>
          </a:p>
          <a:p>
            <a:pPr marL="342264" indent="-342264" defTabSz="449833">
              <a:spcBef>
                <a:spcPts val="3200"/>
              </a:spcBef>
              <a:defRPr sz="2772"/>
            </a:pPr>
            <a:r>
              <a:t>Връщат се всички типове имена: променливи, модули, функции и т.н.</a:t>
            </a:r>
          </a:p>
          <a:p>
            <a:pPr marL="342264" indent="-342264" defTabSz="449833">
              <a:spcBef>
                <a:spcPts val="3200"/>
              </a:spcBef>
              <a:defRPr sz="2772"/>
            </a:pPr>
            <a:r>
              <a:t>dir() не връща имената на вградените функции и променливи.</a:t>
            </a:r>
          </a:p>
        </p:txBody>
      </p:sp>
      <p:pic>
        <p:nvPicPr>
          <p:cNvPr id="383" name="Image" descr="Image"/>
          <p:cNvPicPr>
            <a:picLocks noChangeAspect="1"/>
          </p:cNvPicPr>
          <p:nvPr/>
        </p:nvPicPr>
        <p:blipFill>
          <a:blip r:embed="rId2">
            <a:extLst/>
          </a:blip>
          <a:stretch>
            <a:fillRect/>
          </a:stretch>
        </p:blipFill>
        <p:spPr>
          <a:xfrm>
            <a:off x="0" y="3879242"/>
            <a:ext cx="13004800" cy="2757116"/>
          </a:xfrm>
          <a:prstGeom prst="rect">
            <a:avLst/>
          </a:prstGeom>
          <a:ln w="12700">
            <a:miter lim="400000"/>
          </a:ln>
        </p:spPr>
      </p:pic>
    </p:spTree>
  </p:cSld>
  <p:clrMapOvr>
    <a:masterClrMapping/>
  </p:clrMapOvr>
  <p:transition xmlns:p14="http://schemas.microsoft.com/office/powerpoint/2010/main" spd="med" advClick="1"/>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5" name="Функция dir()"/>
          <p:cNvSpPr txBox="1"/>
          <p:nvPr>
            <p:ph type="title"/>
          </p:nvPr>
        </p:nvSpPr>
        <p:spPr>
          <a:prstGeom prst="rect">
            <a:avLst/>
          </a:prstGeom>
        </p:spPr>
        <p:txBody>
          <a:bodyPr/>
          <a:lstStyle/>
          <a:p>
            <a:pPr/>
            <a:r>
              <a:t>Функция dir()</a:t>
            </a:r>
          </a:p>
        </p:txBody>
      </p:sp>
      <p:sp>
        <p:nvSpPr>
          <p:cNvPr id="386" name="Ако трябва да се върнат имената дефинирани в стандартните модули, се използва builtins:"/>
          <p:cNvSpPr txBox="1"/>
          <p:nvPr>
            <p:ph type="body" idx="1"/>
          </p:nvPr>
        </p:nvSpPr>
        <p:spPr>
          <a:prstGeom prst="rect">
            <a:avLst/>
          </a:prstGeom>
        </p:spPr>
        <p:txBody>
          <a:bodyPr/>
          <a:lstStyle/>
          <a:p>
            <a:pPr marL="311150" indent="-311150" defTabSz="408940">
              <a:spcBef>
                <a:spcPts val="2900"/>
              </a:spcBef>
              <a:defRPr sz="2520"/>
            </a:pPr>
            <a:r>
              <a:t>Ако трябва да се върнат имената дефинирани в стандартните модули, се използва builtins:</a:t>
            </a:r>
          </a:p>
          <a:p>
            <a:pPr marL="311150" indent="-311150" defTabSz="408940">
              <a:spcBef>
                <a:spcPts val="2900"/>
              </a:spcBef>
              <a:defRPr sz="2520"/>
            </a:pPr>
          </a:p>
          <a:p>
            <a:pPr marL="311150" indent="-311150" defTabSz="408940">
              <a:spcBef>
                <a:spcPts val="2900"/>
              </a:spcBef>
              <a:defRPr sz="2520"/>
            </a:pPr>
          </a:p>
          <a:p>
            <a:pPr marL="311150" indent="-311150" defTabSz="408940">
              <a:spcBef>
                <a:spcPts val="2900"/>
              </a:spcBef>
              <a:defRPr sz="2520"/>
            </a:pPr>
          </a:p>
          <a:p>
            <a:pPr marL="311150" indent="-311150" defTabSz="408940">
              <a:spcBef>
                <a:spcPts val="2900"/>
              </a:spcBef>
              <a:defRPr sz="2520"/>
            </a:pPr>
          </a:p>
          <a:p>
            <a:pPr marL="311150" indent="-311150" defTabSz="408940">
              <a:spcBef>
                <a:spcPts val="2900"/>
              </a:spcBef>
              <a:defRPr sz="2520"/>
            </a:pPr>
          </a:p>
          <a:p>
            <a:pPr marL="311150" indent="-311150" defTabSz="408940">
              <a:spcBef>
                <a:spcPts val="2900"/>
              </a:spcBef>
              <a:defRPr sz="2520"/>
            </a:pPr>
          </a:p>
        </p:txBody>
      </p:sp>
      <p:pic>
        <p:nvPicPr>
          <p:cNvPr id="387" name="Image" descr="Image"/>
          <p:cNvPicPr>
            <a:picLocks noChangeAspect="1"/>
          </p:cNvPicPr>
          <p:nvPr/>
        </p:nvPicPr>
        <p:blipFill>
          <a:blip r:embed="rId2">
            <a:extLst/>
          </a:blip>
          <a:stretch>
            <a:fillRect/>
          </a:stretch>
        </p:blipFill>
        <p:spPr>
          <a:xfrm>
            <a:off x="4207803" y="3015659"/>
            <a:ext cx="8551594" cy="6598241"/>
          </a:xfrm>
          <a:prstGeom prst="rect">
            <a:avLst/>
          </a:prstGeom>
          <a:ln w="12700">
            <a:miter lim="400000"/>
          </a:ln>
        </p:spPr>
      </p:pic>
    </p:spTree>
  </p:cSld>
  <p:clrMapOvr>
    <a:masterClrMapping/>
  </p:clrMapOvr>
  <p:transition xmlns:p14="http://schemas.microsoft.com/office/powerpoint/2010/main" spd="med" advClick="1"/>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Packages"/>
          <p:cNvSpPr txBox="1"/>
          <p:nvPr>
            <p:ph type="title"/>
          </p:nvPr>
        </p:nvSpPr>
        <p:spPr>
          <a:prstGeom prst="rect">
            <a:avLst/>
          </a:prstGeom>
        </p:spPr>
        <p:txBody>
          <a:bodyPr/>
          <a:lstStyle/>
          <a:p>
            <a:pPr/>
            <a:r>
              <a:t>Packages</a:t>
            </a:r>
          </a:p>
        </p:txBody>
      </p:sp>
      <p:sp>
        <p:nvSpPr>
          <p:cNvPr id="390" name="Пакетите са начин за структуриране на пространството на имената в модули (module namespace) на Python чрез използване на квалифицирани имена (dotted module names). Например, модул с име A.B означава подмодул В в пшакет с име А. Пакетите отново спомагат з"/>
          <p:cNvSpPr txBox="1"/>
          <p:nvPr>
            <p:ph type="body" idx="1"/>
          </p:nvPr>
        </p:nvSpPr>
        <p:spPr>
          <a:prstGeom prst="rect">
            <a:avLst/>
          </a:prstGeom>
        </p:spPr>
        <p:txBody>
          <a:bodyPr/>
          <a:lstStyle/>
          <a:p>
            <a:pPr/>
            <a:r>
              <a:t>Пакетите са начин за структуриране на пространството на имената в модули (module namespace) на Python чрез използване на квалифицирани имена (dotted module names). Например, модул с име A.B означава подмодул В в пшакет с име А. Пакетите отново спомагат за уникалност на имената, както модулите.</a:t>
            </a:r>
          </a:p>
        </p:txBody>
      </p:sp>
    </p:spTree>
  </p:cSld>
  <p:clrMapOvr>
    <a:masterClrMapping/>
  </p:clrMapOvr>
  <p:transition xmlns:p14="http://schemas.microsoft.com/office/powerpoint/2010/main" spd="med" advClick="1"/>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2" name="Packages"/>
          <p:cNvSpPr txBox="1"/>
          <p:nvPr>
            <p:ph type="title"/>
          </p:nvPr>
        </p:nvSpPr>
        <p:spPr>
          <a:prstGeom prst="rect">
            <a:avLst/>
          </a:prstGeom>
        </p:spPr>
        <p:txBody>
          <a:bodyPr/>
          <a:lstStyle/>
          <a:p>
            <a:pPr/>
            <a:r>
              <a:t>Packages</a:t>
            </a:r>
          </a:p>
        </p:txBody>
      </p:sp>
      <p:sp>
        <p:nvSpPr>
          <p:cNvPr id="393" name="Ако трябва да се разработи колекция от модули (a “package”) за обработка на звукови файлове и данни. Съществуват различни звукови файлови формати(обикновено се разпознават по разширението: .wav, .aiff, .au и др.). При това положение може да се наложи съз"/>
          <p:cNvSpPr txBox="1"/>
          <p:nvPr>
            <p:ph type="body" idx="1"/>
          </p:nvPr>
        </p:nvSpPr>
        <p:spPr>
          <a:prstGeom prst="rect">
            <a:avLst/>
          </a:prstGeom>
        </p:spPr>
        <p:txBody>
          <a:bodyPr/>
          <a:lstStyle>
            <a:lvl1pPr marL="391159" indent="-391159" defTabSz="514095">
              <a:spcBef>
                <a:spcPts val="3600"/>
              </a:spcBef>
              <a:defRPr sz="3168"/>
            </a:lvl1pPr>
          </a:lstStyle>
          <a:p>
            <a:pPr/>
            <a:r>
              <a:t>Ако трябва да се разработи колекция от модули (a “package”) за обработка на звукови файлове и данни. Съществуват различни звукови файлови формати(обикновено се разпознават по разширението: .wav, .aiff, .au и др.). При това положение може да се наложи създаване на нарастваща колекция от модули за преобразуване между различните файлови формати. Съществуват множество различни операции, които може да се използват върху звукови данни (като миксиране, добавяне на ехо, добавяне на еквилайзър функция, създаване на изкуствен стерео ефект и др.). Това означава, че трябва да се направи безкраен поток от модули, които да изпълняват тези операции.</a:t>
            </a:r>
          </a:p>
        </p:txBody>
      </p:sp>
    </p:spTree>
  </p:cSld>
  <p:clrMapOvr>
    <a:masterClrMapping/>
  </p:clrMapOvr>
  <p:transition xmlns:p14="http://schemas.microsoft.com/office/powerpoint/2010/main" spd="med" advClick="1"/>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5" name="Packages"/>
          <p:cNvSpPr txBox="1"/>
          <p:nvPr>
            <p:ph type="title"/>
          </p:nvPr>
        </p:nvSpPr>
        <p:spPr>
          <a:prstGeom prst="rect">
            <a:avLst/>
          </a:prstGeom>
        </p:spPr>
        <p:txBody>
          <a:bodyPr/>
          <a:lstStyle/>
          <a:p>
            <a:pPr/>
            <a:r>
              <a:t>Packages</a:t>
            </a:r>
          </a:p>
        </p:txBody>
      </p:sp>
      <p:sp>
        <p:nvSpPr>
          <p:cNvPr id="396" name="Ето възможна структура на пакет, решаващ подобна задача (представен като йерархична система):"/>
          <p:cNvSpPr txBox="1"/>
          <p:nvPr>
            <p:ph type="body" idx="1"/>
          </p:nvPr>
        </p:nvSpPr>
        <p:spPr>
          <a:prstGeom prst="rect">
            <a:avLst/>
          </a:prstGeom>
        </p:spPr>
        <p:txBody>
          <a:bodyPr/>
          <a:lstStyle/>
          <a:p>
            <a:pPr marL="360045" indent="-360045" defTabSz="473201">
              <a:spcBef>
                <a:spcPts val="3400"/>
              </a:spcBef>
              <a:defRPr sz="2916"/>
            </a:pPr>
            <a:r>
              <a:t>Ето възможна структура на пакет, решаващ подобна задача (представен като йерархична система):</a:t>
            </a:r>
          </a:p>
          <a:p>
            <a:pPr marL="360045" indent="-360045" defTabSz="473201">
              <a:spcBef>
                <a:spcPts val="3400"/>
              </a:spcBef>
              <a:defRPr sz="2916"/>
            </a:pPr>
          </a:p>
          <a:p>
            <a:pPr marL="360045" indent="-360045" defTabSz="473201">
              <a:spcBef>
                <a:spcPts val="3400"/>
              </a:spcBef>
              <a:defRPr sz="2916"/>
            </a:pPr>
          </a:p>
          <a:p>
            <a:pPr marL="360045" indent="-360045" defTabSz="473201">
              <a:spcBef>
                <a:spcPts val="3400"/>
              </a:spcBef>
              <a:defRPr sz="2916"/>
            </a:pPr>
          </a:p>
          <a:p>
            <a:pPr marL="360045" indent="-360045" defTabSz="473201">
              <a:spcBef>
                <a:spcPts val="3400"/>
              </a:spcBef>
              <a:defRPr sz="2916"/>
            </a:pPr>
          </a:p>
          <a:p>
            <a:pPr marL="360045" indent="-360045" defTabSz="473201">
              <a:spcBef>
                <a:spcPts val="3400"/>
              </a:spcBef>
              <a:defRPr sz="2916"/>
            </a:pPr>
          </a:p>
        </p:txBody>
      </p:sp>
      <p:pic>
        <p:nvPicPr>
          <p:cNvPr id="397" name="Image" descr="Image"/>
          <p:cNvPicPr>
            <a:picLocks noChangeAspect="1"/>
          </p:cNvPicPr>
          <p:nvPr/>
        </p:nvPicPr>
        <p:blipFill>
          <a:blip r:embed="rId2">
            <a:extLst/>
          </a:blip>
          <a:stretch>
            <a:fillRect/>
          </a:stretch>
        </p:blipFill>
        <p:spPr>
          <a:xfrm>
            <a:off x="2092306" y="3939079"/>
            <a:ext cx="8820188" cy="5791570"/>
          </a:xfrm>
          <a:prstGeom prst="rect">
            <a:avLst/>
          </a:prstGeom>
          <a:ln w="12700">
            <a:miter lim="400000"/>
          </a:ln>
        </p:spPr>
      </p:pic>
    </p:spTree>
  </p:cSld>
  <p:clrMapOvr>
    <a:masterClrMapping/>
  </p:clrMapOvr>
  <p:transition xmlns:p14="http://schemas.microsoft.com/office/powerpoint/2010/main" spd="med" advClick="1"/>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Packages"/>
          <p:cNvSpPr txBox="1"/>
          <p:nvPr>
            <p:ph type="title"/>
          </p:nvPr>
        </p:nvSpPr>
        <p:spPr>
          <a:prstGeom prst="rect">
            <a:avLst/>
          </a:prstGeom>
        </p:spPr>
        <p:txBody>
          <a:bodyPr/>
          <a:lstStyle/>
          <a:p>
            <a:pPr/>
            <a:r>
              <a:t>Packages</a:t>
            </a:r>
          </a:p>
        </p:txBody>
      </p:sp>
      <p:sp>
        <p:nvSpPr>
          <p:cNvPr id="400" name="Когато се импортира пакет, Python претърсва директориите, записани в променливата sys.path за package subdirectory.…"/>
          <p:cNvSpPr txBox="1"/>
          <p:nvPr>
            <p:ph type="body" idx="1"/>
          </p:nvPr>
        </p:nvSpPr>
        <p:spPr>
          <a:prstGeom prst="rect">
            <a:avLst/>
          </a:prstGeom>
        </p:spPr>
        <p:txBody>
          <a:bodyPr/>
          <a:lstStyle/>
          <a:p>
            <a:pPr marL="364489" indent="-364489" defTabSz="479044">
              <a:spcBef>
                <a:spcPts val="3400"/>
              </a:spcBef>
              <a:defRPr sz="2952"/>
            </a:pPr>
            <a:r>
              <a:t>Когато се импортира пакет, Python претърсва директориите, записани в променливата sys.path за package subdirectory.</a:t>
            </a:r>
          </a:p>
          <a:p>
            <a:pPr marL="364489" indent="-364489" defTabSz="479044">
              <a:spcBef>
                <a:spcPts val="3400"/>
              </a:spcBef>
              <a:defRPr sz="2952"/>
            </a:pPr>
            <a:r>
              <a:t>Файловете __init__.py са задължителни в директорията, за да я дефинират като Python такава (съдържаща пакети). В най-простия случай, __init__.py е празен файл, но той може да съдържа и инициализационен код на пакета или да задава стойност на променлива __all__.</a:t>
            </a:r>
          </a:p>
          <a:p>
            <a:pPr marL="364489" indent="-364489" defTabSz="479044">
              <a:spcBef>
                <a:spcPts val="3400"/>
              </a:spcBef>
              <a:defRPr sz="2952"/>
            </a:pPr>
            <a:r>
              <a:t>Потребителите на пакета мога да импортират индивидуални модули от пакет, например:</a:t>
            </a:r>
          </a:p>
        </p:txBody>
      </p:sp>
      <p:pic>
        <p:nvPicPr>
          <p:cNvPr id="401" name="Image" descr="Image"/>
          <p:cNvPicPr>
            <a:picLocks noChangeAspect="1"/>
          </p:cNvPicPr>
          <p:nvPr/>
        </p:nvPicPr>
        <p:blipFill>
          <a:blip r:embed="rId2">
            <a:extLst/>
          </a:blip>
          <a:stretch>
            <a:fillRect/>
          </a:stretch>
        </p:blipFill>
        <p:spPr>
          <a:xfrm>
            <a:off x="3213100" y="8216900"/>
            <a:ext cx="6578600" cy="1016000"/>
          </a:xfrm>
          <a:prstGeom prst="rect">
            <a:avLst/>
          </a:prstGeom>
          <a:ln w="12700">
            <a:miter lim="400000"/>
          </a:ln>
        </p:spPr>
      </p:pic>
    </p:spTree>
  </p:cSld>
  <p:clrMapOvr>
    <a:masterClrMapping/>
  </p:clrMapOvr>
  <p:transition xmlns:p14="http://schemas.microsoft.com/office/powerpoint/2010/main" spd="med" advClick="1"/>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Packages"/>
          <p:cNvSpPr txBox="1"/>
          <p:nvPr>
            <p:ph type="title"/>
          </p:nvPr>
        </p:nvSpPr>
        <p:spPr>
          <a:prstGeom prst="rect">
            <a:avLst/>
          </a:prstGeom>
        </p:spPr>
        <p:txBody>
          <a:bodyPr/>
          <a:lstStyle/>
          <a:p>
            <a:pPr/>
            <a:r>
              <a:t>Packages</a:t>
            </a:r>
          </a:p>
        </p:txBody>
      </p:sp>
      <p:sp>
        <p:nvSpPr>
          <p:cNvPr id="404" name="Този код зарежда подмодула sound.effects.echo. Обръщенията към него трябва да са с пълно име:…"/>
          <p:cNvSpPr txBox="1"/>
          <p:nvPr>
            <p:ph type="body" idx="1"/>
          </p:nvPr>
        </p:nvSpPr>
        <p:spPr>
          <a:prstGeom prst="rect">
            <a:avLst/>
          </a:prstGeom>
        </p:spPr>
        <p:txBody>
          <a:bodyPr/>
          <a:lstStyle/>
          <a:p>
            <a:pPr/>
            <a:r>
              <a:t>Този код зарежда подмодула sound.effects.echo. Обръщенията към него трябва да са с пълно име:</a:t>
            </a:r>
          </a:p>
          <a:p>
            <a:pPr/>
          </a:p>
          <a:p>
            <a:pPr/>
            <a:r>
              <a:t>Алтернативен начин на импорт на подмодула е:</a:t>
            </a:r>
          </a:p>
        </p:txBody>
      </p:sp>
      <p:pic>
        <p:nvPicPr>
          <p:cNvPr id="405" name="Image" descr="Image"/>
          <p:cNvPicPr>
            <a:picLocks noChangeAspect="1"/>
          </p:cNvPicPr>
          <p:nvPr/>
        </p:nvPicPr>
        <p:blipFill>
          <a:blip r:embed="rId2">
            <a:extLst/>
          </a:blip>
          <a:stretch>
            <a:fillRect/>
          </a:stretch>
        </p:blipFill>
        <p:spPr>
          <a:xfrm>
            <a:off x="0" y="5508364"/>
            <a:ext cx="13004800" cy="959372"/>
          </a:xfrm>
          <a:prstGeom prst="rect">
            <a:avLst/>
          </a:prstGeom>
          <a:ln w="12700">
            <a:miter lim="400000"/>
          </a:ln>
        </p:spPr>
      </p:pic>
      <p:pic>
        <p:nvPicPr>
          <p:cNvPr id="406" name="Image" descr="Image"/>
          <p:cNvPicPr>
            <a:picLocks noChangeAspect="1"/>
          </p:cNvPicPr>
          <p:nvPr/>
        </p:nvPicPr>
        <p:blipFill>
          <a:blip r:embed="rId3">
            <a:extLst/>
          </a:blip>
          <a:stretch>
            <a:fillRect/>
          </a:stretch>
        </p:blipFill>
        <p:spPr>
          <a:xfrm>
            <a:off x="2717800" y="7689850"/>
            <a:ext cx="7569200" cy="914400"/>
          </a:xfrm>
          <a:prstGeom prst="rect">
            <a:avLst/>
          </a:prstGeom>
          <a:ln w="12700">
            <a:miter lim="400000"/>
          </a:ln>
        </p:spPr>
      </p:pic>
    </p:spTree>
  </p:cSld>
  <p:clrMapOvr>
    <a:masterClrMapping/>
  </p:clrMapOvr>
  <p:transition xmlns:p14="http://schemas.microsoft.com/office/powerpoint/2010/main" spd="med" advClick="1"/>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Packages"/>
          <p:cNvSpPr txBox="1"/>
          <p:nvPr>
            <p:ph type="title"/>
          </p:nvPr>
        </p:nvSpPr>
        <p:spPr>
          <a:prstGeom prst="rect">
            <a:avLst/>
          </a:prstGeom>
        </p:spPr>
        <p:txBody>
          <a:bodyPr/>
          <a:lstStyle/>
          <a:p>
            <a:pPr/>
            <a:r>
              <a:t>Packages</a:t>
            </a:r>
          </a:p>
        </p:txBody>
      </p:sp>
      <p:sp>
        <p:nvSpPr>
          <p:cNvPr id="409" name="С този код също се зарежда подмодула echo, но той е видим с просто име без пакетен префикс и може да се използва:…"/>
          <p:cNvSpPr txBox="1"/>
          <p:nvPr>
            <p:ph type="body" idx="1"/>
          </p:nvPr>
        </p:nvSpPr>
        <p:spPr>
          <a:prstGeom prst="rect">
            <a:avLst/>
          </a:prstGeom>
        </p:spPr>
        <p:txBody>
          <a:bodyPr/>
          <a:lstStyle/>
          <a:p>
            <a:pPr marL="311150" indent="-311150" defTabSz="408940">
              <a:spcBef>
                <a:spcPts val="2900"/>
              </a:spcBef>
              <a:defRPr sz="2520"/>
            </a:pPr>
            <a:r>
              <a:t>С този код също се зарежда подмодула echo, но той е видим с просто име без пакетен префикс и може да се използва:</a:t>
            </a:r>
          </a:p>
          <a:p>
            <a:pPr marL="311150" indent="-311150" defTabSz="408940">
              <a:spcBef>
                <a:spcPts val="2900"/>
              </a:spcBef>
              <a:defRPr sz="2520"/>
            </a:pPr>
          </a:p>
          <a:p>
            <a:pPr marL="311150" indent="-311150" defTabSz="408940">
              <a:spcBef>
                <a:spcPts val="2900"/>
              </a:spcBef>
              <a:defRPr sz="2520"/>
            </a:pPr>
          </a:p>
          <a:p>
            <a:pPr marL="311150" indent="-311150" defTabSz="408940">
              <a:spcBef>
                <a:spcPts val="2900"/>
              </a:spcBef>
              <a:defRPr sz="2520"/>
            </a:pPr>
            <a:r>
              <a:t>Още един начин за импорт на желана функция или променлива директно:</a:t>
            </a:r>
          </a:p>
          <a:p>
            <a:pPr marL="311150" indent="-311150" defTabSz="408940">
              <a:spcBef>
                <a:spcPts val="2900"/>
              </a:spcBef>
              <a:defRPr sz="2520"/>
            </a:pPr>
          </a:p>
          <a:p>
            <a:pPr marL="311150" indent="-311150" defTabSz="408940">
              <a:spcBef>
                <a:spcPts val="2900"/>
              </a:spcBef>
              <a:defRPr sz="2520"/>
            </a:pPr>
            <a:r>
              <a:t>Отново се зарежда подмодула echo, но този път функцията echofilter() е достъпна директно:</a:t>
            </a:r>
          </a:p>
        </p:txBody>
      </p:sp>
      <p:pic>
        <p:nvPicPr>
          <p:cNvPr id="410" name="Image" descr="Image"/>
          <p:cNvPicPr>
            <a:picLocks noChangeAspect="1"/>
          </p:cNvPicPr>
          <p:nvPr/>
        </p:nvPicPr>
        <p:blipFill>
          <a:blip r:embed="rId2">
            <a:extLst/>
          </a:blip>
          <a:stretch>
            <a:fillRect/>
          </a:stretch>
        </p:blipFill>
        <p:spPr>
          <a:xfrm>
            <a:off x="419100" y="3708400"/>
            <a:ext cx="12166600" cy="1016000"/>
          </a:xfrm>
          <a:prstGeom prst="rect">
            <a:avLst/>
          </a:prstGeom>
          <a:ln w="12700">
            <a:miter lim="400000"/>
          </a:ln>
        </p:spPr>
      </p:pic>
      <p:pic>
        <p:nvPicPr>
          <p:cNvPr id="411" name="Image" descr="Image"/>
          <p:cNvPicPr>
            <a:picLocks noChangeAspect="1"/>
          </p:cNvPicPr>
          <p:nvPr/>
        </p:nvPicPr>
        <p:blipFill>
          <a:blip r:embed="rId3">
            <a:extLst/>
          </a:blip>
          <a:stretch>
            <a:fillRect/>
          </a:stretch>
        </p:blipFill>
        <p:spPr>
          <a:xfrm>
            <a:off x="1422400" y="6134100"/>
            <a:ext cx="10160000" cy="914400"/>
          </a:xfrm>
          <a:prstGeom prst="rect">
            <a:avLst/>
          </a:prstGeom>
          <a:ln w="12700">
            <a:miter lim="400000"/>
          </a:ln>
        </p:spPr>
      </p:pic>
      <p:pic>
        <p:nvPicPr>
          <p:cNvPr id="412" name="Image" descr="Image"/>
          <p:cNvPicPr>
            <a:picLocks noChangeAspect="1"/>
          </p:cNvPicPr>
          <p:nvPr/>
        </p:nvPicPr>
        <p:blipFill>
          <a:blip r:embed="rId4">
            <a:extLst/>
          </a:blip>
          <a:stretch>
            <a:fillRect/>
          </a:stretch>
        </p:blipFill>
        <p:spPr>
          <a:xfrm>
            <a:off x="939800" y="8216900"/>
            <a:ext cx="11125200" cy="965200"/>
          </a:xfrm>
          <a:prstGeom prst="rect">
            <a:avLst/>
          </a:prstGeom>
          <a:ln w="12700">
            <a:miter lim="400000"/>
          </a:ln>
        </p:spPr>
      </p:pic>
    </p:spTree>
  </p:cSld>
  <p:clrMapOvr>
    <a:masterClrMapping/>
  </p:clrMapOvr>
  <p:transition xmlns:p14="http://schemas.microsoft.com/office/powerpoint/2010/main" spd="med" advClick="1"/>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4" name="Packages"/>
          <p:cNvSpPr txBox="1"/>
          <p:nvPr>
            <p:ph type="title"/>
          </p:nvPr>
        </p:nvSpPr>
        <p:spPr>
          <a:prstGeom prst="rect">
            <a:avLst/>
          </a:prstGeom>
        </p:spPr>
        <p:txBody>
          <a:bodyPr/>
          <a:lstStyle/>
          <a:p>
            <a:pPr/>
            <a:r>
              <a:t>Packages</a:t>
            </a:r>
          </a:p>
        </p:txBody>
      </p:sp>
      <p:sp>
        <p:nvSpPr>
          <p:cNvPr id="415" name="Когато се използва импорт от вида: from package import item item може да бъде или подмодул (или подпакет) на пакет, или някое друго име, дефинирано в пакета, като функция, клас или променлива. Операторът import първо проверява дали item е дефиниран в пак"/>
          <p:cNvSpPr txBox="1"/>
          <p:nvPr>
            <p:ph type="body" idx="1"/>
          </p:nvPr>
        </p:nvSpPr>
        <p:spPr>
          <a:prstGeom prst="rect">
            <a:avLst/>
          </a:prstGeom>
        </p:spPr>
        <p:txBody>
          <a:bodyPr/>
          <a:lstStyle/>
          <a:p>
            <a:pPr marL="346709" indent="-346709" defTabSz="455675">
              <a:spcBef>
                <a:spcPts val="3200"/>
              </a:spcBef>
              <a:defRPr sz="2807"/>
            </a:pPr>
            <a:r>
              <a:t>Когато се използва импорт от вида:</a:t>
            </a:r>
            <a:br/>
            <a:r>
              <a:rPr b="1">
                <a:latin typeface="Helvetica"/>
                <a:ea typeface="Helvetica"/>
                <a:cs typeface="Helvetica"/>
                <a:sym typeface="Helvetica"/>
              </a:rPr>
              <a:t>from package import item</a:t>
            </a:r>
            <a:br/>
            <a:r>
              <a:t>item може да бъде или подмодул (или подпакет) на пакет, или някое друго име, дефинирано в пакета, като функция, клас или променлива. Операторът import първо проверява дали item е дефиниран в пакета. Ако не е дефиниран, се допуска, че е модул и се прави опит да бъде зареден той. Ако не може да бъде намерен, се генерира ImportError exception.</a:t>
            </a:r>
          </a:p>
          <a:p>
            <a:pPr marL="346709" indent="-346709" defTabSz="455675">
              <a:spcBef>
                <a:spcPts val="3200"/>
              </a:spcBef>
              <a:defRPr sz="2807"/>
            </a:pPr>
            <a:r>
              <a:t>Когато се използва синтаксис като</a:t>
            </a:r>
            <a:br/>
            <a:r>
              <a:rPr b="1">
                <a:latin typeface="Helvetica"/>
                <a:ea typeface="Helvetica"/>
                <a:cs typeface="Helvetica"/>
                <a:sym typeface="Helvetica"/>
              </a:rPr>
              <a:t>import item.subitem.subsubitem</a:t>
            </a:r>
            <a:br>
              <a:rPr b="1">
                <a:latin typeface="Helvetica"/>
                <a:ea typeface="Helvetica"/>
                <a:cs typeface="Helvetica"/>
                <a:sym typeface="Helvetica"/>
              </a:rPr>
            </a:br>
            <a:r>
              <a:t>всеки item без последния трябва да бъде пакет. Последният item може да бъде модул, или пакет, но не може да бъде клас, функция или променлива, дефинирана в предходния item.</a:t>
            </a:r>
          </a:p>
        </p:txBody>
      </p:sp>
    </p:spTree>
  </p:cSld>
  <p:clrMapOvr>
    <a:masterClrMapping/>
  </p:clrMapOvr>
  <p:transition xmlns:p14="http://schemas.microsoft.com/office/powerpoint/2010/main" spd="med" advClick="1"/>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Импорт на * от пакет"/>
          <p:cNvSpPr txBox="1"/>
          <p:nvPr>
            <p:ph type="title"/>
          </p:nvPr>
        </p:nvSpPr>
        <p:spPr>
          <a:prstGeom prst="rect">
            <a:avLst/>
          </a:prstGeom>
        </p:spPr>
        <p:txBody>
          <a:bodyPr/>
          <a:lstStyle/>
          <a:p>
            <a:pPr/>
            <a:r>
              <a:t>Импорт на * от пакет</a:t>
            </a:r>
          </a:p>
        </p:txBody>
      </p:sp>
      <p:sp>
        <p:nvSpPr>
          <p:cNvPr id="418" name="Когато се импортира: from sound.effects import * се намират всички подмодули на ниво операционна система (ОС), които са в пакета и се импортира всичко в тях. Това отнема доста време. Освен това импорта на подмодули може да доведе до странични ефекти, кои"/>
          <p:cNvSpPr txBox="1"/>
          <p:nvPr>
            <p:ph type="body" idx="1"/>
          </p:nvPr>
        </p:nvSpPr>
        <p:spPr>
          <a:prstGeom prst="rect">
            <a:avLst/>
          </a:prstGeom>
        </p:spPr>
        <p:txBody>
          <a:bodyPr/>
          <a:lstStyle/>
          <a:p>
            <a:pPr marL="311150" indent="-311150" defTabSz="408940">
              <a:spcBef>
                <a:spcPts val="2900"/>
              </a:spcBef>
              <a:defRPr sz="2520"/>
            </a:pPr>
            <a:r>
              <a:t>Когато се импортира:</a:t>
            </a:r>
            <a:br/>
            <a:r>
              <a:rPr b="1">
                <a:latin typeface="Helvetica"/>
                <a:ea typeface="Helvetica"/>
                <a:cs typeface="Helvetica"/>
                <a:sym typeface="Helvetica"/>
              </a:rPr>
              <a:t>from sound.effects import *</a:t>
            </a:r>
            <a:br>
              <a:rPr b="1">
                <a:latin typeface="Helvetica"/>
                <a:ea typeface="Helvetica"/>
                <a:cs typeface="Helvetica"/>
                <a:sym typeface="Helvetica"/>
              </a:rPr>
            </a:br>
            <a:r>
              <a:t>се намират всички подмодули на ниво операционна система (ОС), които са в пакета и се импортира всичко в тях. Това отнема доста време. Освен това импорта на подмодули може да доведе до странични ефекти, които да бъдат избегнати при явен импорт.</a:t>
            </a:r>
          </a:p>
          <a:p>
            <a:pPr marL="311150" indent="-311150" defTabSz="408940">
              <a:spcBef>
                <a:spcPts val="2900"/>
              </a:spcBef>
              <a:defRPr sz="2520"/>
            </a:pPr>
            <a:r>
              <a:t>Единственото решение за пакет е предоставяне на явен индекс на пакета. Операторът import използва следната конвенция: ако в пакетния __init__.py файл има код, който дефинира списък от имена в променливата __all__, тя се възприема като списък от модули, които трябва да се импортират, когато е налице </a:t>
            </a:r>
            <a:br/>
            <a:r>
              <a:t>from package import * </a:t>
            </a:r>
            <a:br/>
            <a:r>
              <a:t>Зависи изцяло от автора на пакета да поддържа този списък актуален. Може да не се поддържа списъка, но не трябва да се използва import * от пакета. </a:t>
            </a:r>
          </a:p>
        </p:txBody>
      </p:sp>
    </p:spTree>
  </p:cSld>
  <p:clrMapOvr>
    <a:masterClrMapping/>
  </p:clrMapOvr>
  <p:transition xmlns:p14="http://schemas.microsoft.com/office/powerpoint/2010/main" spd="med" advClick="1"/>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Импорт на * от пакет"/>
          <p:cNvSpPr txBox="1"/>
          <p:nvPr>
            <p:ph type="title"/>
          </p:nvPr>
        </p:nvSpPr>
        <p:spPr>
          <a:prstGeom prst="rect">
            <a:avLst/>
          </a:prstGeom>
        </p:spPr>
        <p:txBody>
          <a:bodyPr/>
          <a:lstStyle/>
          <a:p>
            <a:pPr/>
            <a:r>
              <a:t>Импорт на * от пакет</a:t>
            </a:r>
          </a:p>
        </p:txBody>
      </p:sp>
      <p:sp>
        <p:nvSpPr>
          <p:cNvPr id="421" name="Например, файлът sound/effects/__init__.py може да съдържа следния код:…"/>
          <p:cNvSpPr txBox="1"/>
          <p:nvPr>
            <p:ph type="body" idx="1"/>
          </p:nvPr>
        </p:nvSpPr>
        <p:spPr>
          <a:prstGeom prst="rect">
            <a:avLst/>
          </a:prstGeom>
        </p:spPr>
        <p:txBody>
          <a:bodyPr/>
          <a:lstStyle/>
          <a:p>
            <a:pPr marL="297815" indent="-297815" defTabSz="391414">
              <a:spcBef>
                <a:spcPts val="2800"/>
              </a:spcBef>
              <a:defRPr sz="2412"/>
            </a:pPr>
            <a:r>
              <a:t>Например, файлът sound/effects/__init__.py може да съдържа следния код:</a:t>
            </a:r>
          </a:p>
          <a:p>
            <a:pPr marL="297815" indent="-297815" defTabSz="391414">
              <a:spcBef>
                <a:spcPts val="2800"/>
              </a:spcBef>
              <a:defRPr sz="2412"/>
            </a:pPr>
          </a:p>
          <a:p>
            <a:pPr marL="297815" indent="-297815" defTabSz="391414">
              <a:spcBef>
                <a:spcPts val="2800"/>
              </a:spcBef>
              <a:defRPr sz="2412"/>
            </a:pPr>
            <a:r>
              <a:t>Това означава, че при запис</a:t>
            </a:r>
            <a:br/>
            <a:r>
              <a:rPr b="1">
                <a:latin typeface="Helvetica"/>
                <a:ea typeface="Helvetica"/>
                <a:cs typeface="Helvetica"/>
                <a:sym typeface="Helvetica"/>
              </a:rPr>
              <a:t>from sound.effects import *</a:t>
            </a:r>
            <a:r>
              <a:t> </a:t>
            </a:r>
            <a:br/>
            <a:r>
              <a:t>ще се импортират три подмодула от пакета sound.</a:t>
            </a:r>
          </a:p>
          <a:p>
            <a:pPr marL="297815" indent="-297815" defTabSz="391414">
              <a:spcBef>
                <a:spcPts val="2800"/>
              </a:spcBef>
              <a:defRPr sz="2412"/>
            </a:pPr>
            <a:r>
              <a:t>If __all__ is not defined, the statement from sound.effects import * does not import all submodules from the package sound.effects into the current namespace; it only ensures that the package sound.effects has been imported (possibly running any initialization code in __init__.py) and then imports whatever names are defined in the package. This includes any names defined (and submodules explicitly loaded) by __init__.py. It also includes any submodules of the package that were explicitly loaded by previous import statements. </a:t>
            </a:r>
          </a:p>
        </p:txBody>
      </p:sp>
      <p:pic>
        <p:nvPicPr>
          <p:cNvPr id="422" name="Image" descr="Image"/>
          <p:cNvPicPr>
            <a:picLocks noChangeAspect="1"/>
          </p:cNvPicPr>
          <p:nvPr/>
        </p:nvPicPr>
        <p:blipFill>
          <a:blip r:embed="rId2">
            <a:extLst/>
          </a:blip>
          <a:stretch>
            <a:fillRect/>
          </a:stretch>
        </p:blipFill>
        <p:spPr>
          <a:xfrm>
            <a:off x="1016000" y="3086100"/>
            <a:ext cx="10083800" cy="1193800"/>
          </a:xfrm>
          <a:prstGeom prst="rect">
            <a:avLst/>
          </a:prstGeom>
          <a:ln w="12700">
            <a:miter lim="400000"/>
          </a:ln>
        </p:spPr>
      </p:pic>
    </p:spTree>
  </p:cSld>
  <p:clrMapOvr>
    <a:masterClrMapping/>
  </p:clrMapOvr>
  <p:transition xmlns:p14="http://schemas.microsoft.com/office/powerpoint/2010/main" spd="med" advClick="1"/>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4" name="Импорт на * от пакет"/>
          <p:cNvSpPr txBox="1"/>
          <p:nvPr>
            <p:ph type="title"/>
          </p:nvPr>
        </p:nvSpPr>
        <p:spPr>
          <a:prstGeom prst="rect">
            <a:avLst/>
          </a:prstGeom>
        </p:spPr>
        <p:txBody>
          <a:bodyPr/>
          <a:lstStyle/>
          <a:p>
            <a:pPr/>
            <a:r>
              <a:t>Импорт на * от пакет</a:t>
            </a:r>
          </a:p>
        </p:txBody>
      </p:sp>
      <p:sp>
        <p:nvSpPr>
          <p:cNvPr id="425" name="Нека е даден кода:…"/>
          <p:cNvSpPr txBox="1"/>
          <p:nvPr>
            <p:ph type="body" idx="1"/>
          </p:nvPr>
        </p:nvSpPr>
        <p:spPr>
          <a:prstGeom prst="rect">
            <a:avLst/>
          </a:prstGeom>
        </p:spPr>
        <p:txBody>
          <a:bodyPr/>
          <a:lstStyle/>
          <a:p>
            <a:pPr/>
            <a:r>
              <a:t>Нека е даден кода:</a:t>
            </a:r>
          </a:p>
          <a:p>
            <a:pPr/>
          </a:p>
          <a:p>
            <a:pPr/>
          </a:p>
          <a:p>
            <a:pPr/>
            <a:r>
              <a:t>В този пример модулите echo и surround се импортират и текущото пространство на имената, защото са дефинирани в пакета sound.effects.</a:t>
            </a:r>
          </a:p>
        </p:txBody>
      </p:sp>
      <p:pic>
        <p:nvPicPr>
          <p:cNvPr id="426" name="Image" descr="Image"/>
          <p:cNvPicPr>
            <a:picLocks noChangeAspect="1"/>
          </p:cNvPicPr>
          <p:nvPr/>
        </p:nvPicPr>
        <p:blipFill>
          <a:blip r:embed="rId2">
            <a:extLst/>
          </a:blip>
          <a:stretch>
            <a:fillRect/>
          </a:stretch>
        </p:blipFill>
        <p:spPr>
          <a:xfrm>
            <a:off x="2692400" y="4292600"/>
            <a:ext cx="7620000" cy="1879600"/>
          </a:xfrm>
          <a:prstGeom prst="rect">
            <a:avLst/>
          </a:prstGeom>
          <a:ln w="12700">
            <a:miter lim="400000"/>
          </a:ln>
        </p:spPr>
      </p:pic>
    </p:spTree>
  </p:cSld>
  <p:clrMapOvr>
    <a:masterClrMapping/>
  </p:clrMapOvr>
  <p:transition xmlns:p14="http://schemas.microsoft.com/office/powerpoint/2010/main" spd="med" advClick="1"/>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8" name="Импорт на * от пакет"/>
          <p:cNvSpPr txBox="1"/>
          <p:nvPr>
            <p:ph type="title"/>
          </p:nvPr>
        </p:nvSpPr>
        <p:spPr>
          <a:prstGeom prst="rect">
            <a:avLst/>
          </a:prstGeom>
        </p:spPr>
        <p:txBody>
          <a:bodyPr/>
          <a:lstStyle/>
          <a:p>
            <a:pPr/>
            <a:r>
              <a:t>Импорт на * от пакет</a:t>
            </a:r>
          </a:p>
        </p:txBody>
      </p:sp>
      <p:sp>
        <p:nvSpPr>
          <p:cNvPr id="429" name="Редица модули са създадени да експортират само имена, които следват определен шаблон. Използването на import *, се счита за лоша практика в продукционен код.…"/>
          <p:cNvSpPr txBox="1"/>
          <p:nvPr>
            <p:ph type="body" idx="1"/>
          </p:nvPr>
        </p:nvSpPr>
        <p:spPr>
          <a:prstGeom prst="rect">
            <a:avLst/>
          </a:prstGeom>
        </p:spPr>
        <p:txBody>
          <a:bodyPr/>
          <a:lstStyle/>
          <a:p>
            <a:pPr/>
            <a:r>
              <a:t>Редица модули са създадени да експортират само имена, които следват определен шаблон. Използването на import *, се счита за лоша практика в продукционен код.</a:t>
            </a:r>
          </a:p>
          <a:p>
            <a:pPr/>
            <a:r>
              <a:t>В такива случаи се препоръчва импортиране на конкретни модули, а не използване на *.</a:t>
            </a:r>
          </a:p>
        </p:txBody>
      </p:sp>
    </p:spTree>
  </p:cSld>
  <p:clrMapOvr>
    <a:masterClrMapping/>
  </p:clrMapOvr>
  <p:transition xmlns:p14="http://schemas.microsoft.com/office/powerpoint/2010/main" spd="med" advClick="1"/>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Intra-package References"/>
          <p:cNvSpPr txBox="1"/>
          <p:nvPr>
            <p:ph type="title"/>
          </p:nvPr>
        </p:nvSpPr>
        <p:spPr>
          <a:prstGeom prst="rect">
            <a:avLst/>
          </a:prstGeom>
        </p:spPr>
        <p:txBody>
          <a:bodyPr/>
          <a:lstStyle>
            <a:lvl1pPr defTabSz="537463">
              <a:defRPr sz="7360"/>
            </a:lvl1pPr>
          </a:lstStyle>
          <a:p>
            <a:pPr/>
            <a:r>
              <a:t>Intra-package References</a:t>
            </a:r>
          </a:p>
        </p:txBody>
      </p:sp>
      <p:sp>
        <p:nvSpPr>
          <p:cNvPr id="432" name="Когато пакетите са структурирани в подпакети (както е случая с пакета sound в примера), може да се използва абсолютен импорт за рефериране на подмодули в пакети. Например, ако модулът sound.filters.vocoder се нуждае от модула echo в пакета sound.effects,"/>
          <p:cNvSpPr txBox="1"/>
          <p:nvPr>
            <p:ph type="body" idx="1"/>
          </p:nvPr>
        </p:nvSpPr>
        <p:spPr>
          <a:prstGeom prst="rect">
            <a:avLst/>
          </a:prstGeom>
        </p:spPr>
        <p:txBody>
          <a:bodyPr/>
          <a:lstStyle/>
          <a:p>
            <a:pPr marL="355600" indent="-355600" defTabSz="467359">
              <a:spcBef>
                <a:spcPts val="3300"/>
              </a:spcBef>
              <a:defRPr sz="2880"/>
            </a:pPr>
            <a:r>
              <a:t>Когато пакетите са структурирани в подпакети (както е случая с пакета sound в примера), може да се използва абсолютен импорт за рефериране на подмодули в пакети. Например, ако модулът sound.filters.vocoder се нуждае от модула echo в пакета sound.effects, може да се запише:</a:t>
            </a:r>
            <a:br/>
            <a:r>
              <a:rPr b="1">
                <a:latin typeface="Helvetica"/>
                <a:ea typeface="Helvetica"/>
                <a:cs typeface="Helvetica"/>
                <a:sym typeface="Helvetica"/>
              </a:rPr>
              <a:t>from sound.effects import echo</a:t>
            </a:r>
          </a:p>
          <a:p>
            <a:pPr marL="355600" indent="-355600" defTabSz="467359">
              <a:spcBef>
                <a:spcPts val="3300"/>
              </a:spcBef>
              <a:defRPr sz="2880"/>
            </a:pPr>
            <a:r>
              <a:t>Може да се използват и относителни импорти (relative imports)от вида:</a:t>
            </a:r>
            <a:br/>
            <a:r>
              <a:rPr b="1">
                <a:latin typeface="Helvetica"/>
                <a:ea typeface="Helvetica"/>
                <a:cs typeface="Helvetica"/>
                <a:sym typeface="Helvetica"/>
              </a:rPr>
              <a:t>from . import name</a:t>
            </a:r>
            <a:br>
              <a:rPr b="1">
                <a:latin typeface="Helvetica"/>
                <a:ea typeface="Helvetica"/>
                <a:cs typeface="Helvetica"/>
                <a:sym typeface="Helvetica"/>
              </a:rPr>
            </a:br>
            <a:r>
              <a:rPr b="1">
                <a:latin typeface="Helvetica"/>
                <a:ea typeface="Helvetica"/>
                <a:cs typeface="Helvetica"/>
                <a:sym typeface="Helvetica"/>
              </a:rPr>
              <a:t>from .. import name</a:t>
            </a:r>
            <a:r>
              <a:t> </a:t>
            </a:r>
            <a:br/>
            <a:r>
              <a:t>Този импорт използва водеща точка, за да покаже, че текущия и/или родителския пакети използват относителни пътища.</a:t>
            </a:r>
          </a:p>
        </p:txBody>
      </p:sp>
    </p:spTree>
  </p:cSld>
  <p:clrMapOvr>
    <a:masterClrMapping/>
  </p:clrMapOvr>
  <p:transition xmlns:p14="http://schemas.microsoft.com/office/powerpoint/2010/main" spd="med" advClick="1"/>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Intra-package References"/>
          <p:cNvSpPr txBox="1"/>
          <p:nvPr>
            <p:ph type="title"/>
          </p:nvPr>
        </p:nvSpPr>
        <p:spPr>
          <a:prstGeom prst="rect">
            <a:avLst/>
          </a:prstGeom>
        </p:spPr>
        <p:txBody>
          <a:bodyPr/>
          <a:lstStyle>
            <a:lvl1pPr defTabSz="537463">
              <a:defRPr sz="7360"/>
            </a:lvl1pPr>
          </a:lstStyle>
          <a:p>
            <a:pPr/>
            <a:r>
              <a:t>Intra-package References</a:t>
            </a:r>
          </a:p>
        </p:txBody>
      </p:sp>
      <p:sp>
        <p:nvSpPr>
          <p:cNvPr id="435" name="Например:…"/>
          <p:cNvSpPr txBox="1"/>
          <p:nvPr>
            <p:ph type="body" idx="1"/>
          </p:nvPr>
        </p:nvSpPr>
        <p:spPr>
          <a:prstGeom prst="rect">
            <a:avLst/>
          </a:prstGeom>
        </p:spPr>
        <p:txBody>
          <a:bodyPr/>
          <a:lstStyle/>
          <a:p>
            <a:pPr/>
            <a:r>
              <a:t>Например:</a:t>
            </a:r>
          </a:p>
          <a:p>
            <a:pPr/>
          </a:p>
          <a:p>
            <a:pPr/>
          </a:p>
          <a:p>
            <a:pPr/>
            <a:r>
              <a:t>Относителният импорт се базира на името на текущия модул. Тъй като името на модула main е “__main__" винаги, той трябва да се използва с абсолютен път в Python application.</a:t>
            </a:r>
          </a:p>
        </p:txBody>
      </p:sp>
      <p:pic>
        <p:nvPicPr>
          <p:cNvPr id="436" name="Image" descr="Image"/>
          <p:cNvPicPr>
            <a:picLocks noChangeAspect="1"/>
          </p:cNvPicPr>
          <p:nvPr/>
        </p:nvPicPr>
        <p:blipFill>
          <a:blip r:embed="rId2">
            <a:extLst/>
          </a:blip>
          <a:stretch>
            <a:fillRect/>
          </a:stretch>
        </p:blipFill>
        <p:spPr>
          <a:xfrm>
            <a:off x="2501900" y="3873500"/>
            <a:ext cx="8001000" cy="2006600"/>
          </a:xfrm>
          <a:prstGeom prst="rect">
            <a:avLst/>
          </a:prstGeom>
          <a:ln w="12700">
            <a:miter lim="400000"/>
          </a:ln>
        </p:spPr>
      </p:pic>
    </p:spTree>
  </p:cSld>
  <p:clrMapOvr>
    <a:masterClrMapping/>
  </p:clrMapOvr>
  <p:transition xmlns:p14="http://schemas.microsoft.com/office/powerpoint/2010/main" spd="med" advClick="1"/>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Пакети в множество директории"/>
          <p:cNvSpPr txBox="1"/>
          <p:nvPr>
            <p:ph type="title"/>
          </p:nvPr>
        </p:nvSpPr>
        <p:spPr>
          <a:prstGeom prst="rect">
            <a:avLst/>
          </a:prstGeom>
        </p:spPr>
        <p:txBody>
          <a:bodyPr/>
          <a:lstStyle>
            <a:lvl1pPr defTabSz="490727">
              <a:defRPr sz="6719"/>
            </a:lvl1pPr>
          </a:lstStyle>
          <a:p>
            <a:pPr/>
            <a:r>
              <a:t>Пакети в множество директории</a:t>
            </a:r>
          </a:p>
        </p:txBody>
      </p:sp>
      <p:sp>
        <p:nvSpPr>
          <p:cNvPr id="439" name="Пакетите поддържат един специален атрибут __path__. Той се инициализира от списък, съдържащ име на директорията, съдържаща пакетния __init__.py файл преди изпълнението на кода в този файл. Тази променлива може да се промени. Това оказва влияние върху тър"/>
          <p:cNvSpPr txBox="1"/>
          <p:nvPr>
            <p:ph type="body" idx="1"/>
          </p:nvPr>
        </p:nvSpPr>
        <p:spPr>
          <a:prstGeom prst="rect">
            <a:avLst/>
          </a:prstGeom>
        </p:spPr>
        <p:txBody>
          <a:bodyPr/>
          <a:lstStyle/>
          <a:p>
            <a:pPr marL="417830" indent="-417830" defTabSz="549148">
              <a:spcBef>
                <a:spcPts val="3900"/>
              </a:spcBef>
              <a:defRPr sz="3384"/>
            </a:pPr>
            <a:r>
              <a:t>Пакетите поддържат един специален атрибут __path__. Той се инициализира от списък, съдържащ име на директорията, съдържаща пакетния __init__.py файл преди изпълнението на кода в този файл. Тази променлива може да се промени. Това оказва влияние върху търсенето на модули и подпакети, съдържащи се в пакета в бъдеще.</a:t>
            </a:r>
          </a:p>
          <a:p>
            <a:pPr marL="417830" indent="-417830" defTabSz="549148">
              <a:spcBef>
                <a:spcPts val="3900"/>
              </a:spcBef>
              <a:defRPr sz="3384"/>
            </a:pPr>
            <a:r>
              <a:t>Докато тази характеристика не е често използвана, тя може да се използва за разширение на множеството модули, намерени в пакета.</a:t>
            </a:r>
          </a:p>
        </p:txBody>
      </p:sp>
    </p:spTree>
  </p:cSld>
  <p:clrMapOvr>
    <a:masterClrMapping/>
  </p:clrMapOvr>
  <p:transition xmlns:p14="http://schemas.microsoft.com/office/powerpoint/2010/main" spd="med" advClick="1"/>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1" name="Вход и изход"/>
          <p:cNvSpPr txBox="1"/>
          <p:nvPr>
            <p:ph type="title"/>
          </p:nvPr>
        </p:nvSpPr>
        <p:spPr>
          <a:prstGeom prst="rect">
            <a:avLst/>
          </a:prstGeom>
        </p:spPr>
        <p:txBody>
          <a:bodyPr/>
          <a:lstStyle/>
          <a:p>
            <a:pPr/>
            <a:r>
              <a:t>Вход и изход</a:t>
            </a:r>
          </a:p>
        </p:txBody>
      </p:sp>
      <p:sp>
        <p:nvSpPr>
          <p:cNvPr id="442" name="Има 3 начина за записване на стойност: изрази, функцията print() и метода write() на файлови обекти; стандартният изход може да се ползва като sys.stdout.…"/>
          <p:cNvSpPr txBox="1"/>
          <p:nvPr>
            <p:ph type="body" idx="1"/>
          </p:nvPr>
        </p:nvSpPr>
        <p:spPr>
          <a:prstGeom prst="rect">
            <a:avLst/>
          </a:prstGeom>
        </p:spPr>
        <p:txBody>
          <a:bodyPr/>
          <a:lstStyle/>
          <a:p>
            <a:pPr/>
            <a:r>
              <a:t>Има 3 начина за записване на стойност: изрази, функцията print() и метода write() на файлови обекти; стандартният изход може да се ползва като sys.stdout.</a:t>
            </a:r>
          </a:p>
          <a:p>
            <a:pPr/>
            <a:r>
              <a:t>Често е необходимо да се форматират данните вместо само да се отпечатат като списък, разделен със запетая. </a:t>
            </a:r>
          </a:p>
        </p:txBody>
      </p:sp>
    </p:spTree>
  </p:cSld>
  <p:clrMapOvr>
    <a:masterClrMapping/>
  </p:clrMapOvr>
  <p:transition xmlns:p14="http://schemas.microsoft.com/office/powerpoint/2010/main" spd="med" advClick="1"/>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Форматиране на изхода"/>
          <p:cNvSpPr txBox="1"/>
          <p:nvPr>
            <p:ph type="title"/>
          </p:nvPr>
        </p:nvSpPr>
        <p:spPr>
          <a:prstGeom prst="rect">
            <a:avLst/>
          </a:prstGeom>
        </p:spPr>
        <p:txBody>
          <a:bodyPr/>
          <a:lstStyle>
            <a:lvl1pPr defTabSz="572516">
              <a:defRPr sz="7840"/>
            </a:lvl1pPr>
          </a:lstStyle>
          <a:p>
            <a:pPr/>
            <a:r>
              <a:t>Форматиране на изхода</a:t>
            </a:r>
          </a:p>
        </p:txBody>
      </p:sp>
      <p:sp>
        <p:nvSpPr>
          <p:cNvPr id="445" name="За създаване на форматиращ низови литерали (string literals), използваме начална буква f или F преди отварящата кавичка на низа. В низа се записва израз на Python заграден в { }, който се отнася до променлива или стойност на литерал."/>
          <p:cNvSpPr txBox="1"/>
          <p:nvPr>
            <p:ph type="body" idx="1"/>
          </p:nvPr>
        </p:nvSpPr>
        <p:spPr>
          <a:prstGeom prst="rect">
            <a:avLst/>
          </a:prstGeom>
        </p:spPr>
        <p:txBody>
          <a:bodyPr/>
          <a:lstStyle/>
          <a:p>
            <a:pPr/>
            <a:r>
              <a:t>За създаване на форматиращ низови литерали (string literals), използваме начална буква f или F преди отварящата кавичка на низа. В низа се записва израз на Python заграден в { }, който се отнася до променлива или стойност на литерал.</a:t>
            </a:r>
          </a:p>
        </p:txBody>
      </p:sp>
      <p:pic>
        <p:nvPicPr>
          <p:cNvPr id="446" name="Image" descr="Image"/>
          <p:cNvPicPr>
            <a:picLocks noChangeAspect="1"/>
          </p:cNvPicPr>
          <p:nvPr/>
        </p:nvPicPr>
        <p:blipFill>
          <a:blip r:embed="rId2">
            <a:extLst/>
          </a:blip>
          <a:stretch>
            <a:fillRect/>
          </a:stretch>
        </p:blipFill>
        <p:spPr>
          <a:xfrm>
            <a:off x="1968500" y="7378700"/>
            <a:ext cx="9067800" cy="2362200"/>
          </a:xfrm>
          <a:prstGeom prst="rect">
            <a:avLst/>
          </a:prstGeom>
          <a:ln w="12700">
            <a:miter lim="400000"/>
          </a:ln>
        </p:spPr>
      </p:pic>
    </p:spTree>
  </p:cSld>
  <p:clrMapOvr>
    <a:masterClrMapping/>
  </p:clrMapOvr>
  <p:transition xmlns:p14="http://schemas.microsoft.com/office/powerpoint/2010/main" spd="med" advClick="1"/>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8" name="Форматиране на изхода"/>
          <p:cNvSpPr txBox="1"/>
          <p:nvPr>
            <p:ph type="title"/>
          </p:nvPr>
        </p:nvSpPr>
        <p:spPr>
          <a:prstGeom prst="rect">
            <a:avLst/>
          </a:prstGeom>
        </p:spPr>
        <p:txBody>
          <a:bodyPr/>
          <a:lstStyle>
            <a:lvl1pPr defTabSz="572516">
              <a:defRPr sz="7840"/>
            </a:lvl1pPr>
          </a:lstStyle>
          <a:p>
            <a:pPr/>
            <a:r>
              <a:t>Форматиране на изхода</a:t>
            </a:r>
          </a:p>
        </p:txBody>
      </p:sp>
      <p:sp>
        <p:nvSpPr>
          <p:cNvPr id="449" name="Методът str.format() изисква предоставяне на форматиращ низ и данните, които ще се разпечатат. В примера е показано как се определя и размера на полето за печат:…"/>
          <p:cNvSpPr txBox="1"/>
          <p:nvPr>
            <p:ph type="body" idx="1"/>
          </p:nvPr>
        </p:nvSpPr>
        <p:spPr>
          <a:prstGeom prst="rect">
            <a:avLst/>
          </a:prstGeom>
        </p:spPr>
        <p:txBody>
          <a:bodyPr/>
          <a:lstStyle/>
          <a:p>
            <a:pPr marL="360045" indent="-360045" defTabSz="473201">
              <a:spcBef>
                <a:spcPts val="3400"/>
              </a:spcBef>
              <a:defRPr sz="2916"/>
            </a:pPr>
            <a:r>
              <a:t>Методът str.format() изисква предоставяне на форматиращ низ и данните, които ще се разпечатат. В примера е показано как се определя и размера на полето за печат:</a:t>
            </a:r>
          </a:p>
          <a:p>
            <a:pPr marL="360045" indent="-360045" defTabSz="473201">
              <a:spcBef>
                <a:spcPts val="3400"/>
              </a:spcBef>
              <a:defRPr sz="2916"/>
            </a:pPr>
          </a:p>
          <a:p>
            <a:pPr marL="360045" indent="-360045" defTabSz="473201">
              <a:spcBef>
                <a:spcPts val="3400"/>
              </a:spcBef>
              <a:defRPr sz="2916"/>
            </a:pPr>
          </a:p>
          <a:p>
            <a:pPr marL="360045" indent="-360045" defTabSz="473201">
              <a:spcBef>
                <a:spcPts val="3400"/>
              </a:spcBef>
              <a:defRPr sz="2916"/>
            </a:pPr>
          </a:p>
          <a:p>
            <a:pPr marL="360045" indent="-360045" defTabSz="473201">
              <a:spcBef>
                <a:spcPts val="3400"/>
              </a:spcBef>
              <a:defRPr sz="2916"/>
            </a:pPr>
            <a:r>
              <a:t>Възможно е да се направи всичко на ръка,чрез операции string slicing и concatenation. Типът string има някои методи, които могат да се използват в подобен случай: padding strings to a given column width, напр.</a:t>
            </a:r>
          </a:p>
        </p:txBody>
      </p:sp>
      <p:pic>
        <p:nvPicPr>
          <p:cNvPr id="450" name="Image" descr="Image"/>
          <p:cNvPicPr>
            <a:picLocks noChangeAspect="1"/>
          </p:cNvPicPr>
          <p:nvPr/>
        </p:nvPicPr>
        <p:blipFill>
          <a:blip r:embed="rId2">
            <a:extLst/>
          </a:blip>
          <a:stretch>
            <a:fillRect/>
          </a:stretch>
        </p:blipFill>
        <p:spPr>
          <a:xfrm>
            <a:off x="1147017" y="4357585"/>
            <a:ext cx="10913966" cy="2118483"/>
          </a:xfrm>
          <a:prstGeom prst="rect">
            <a:avLst/>
          </a:prstGeom>
          <a:ln w="12700">
            <a:miter lim="400000"/>
          </a:ln>
        </p:spPr>
      </p:pic>
    </p:spTree>
  </p:cSld>
  <p:clrMapOvr>
    <a:masterClrMapping/>
  </p:clrMapOvr>
  <p:transition xmlns:p14="http://schemas.microsoft.com/office/powerpoint/2010/main" spd="med" advClick="1"/>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Форматиране на изхода"/>
          <p:cNvSpPr txBox="1"/>
          <p:nvPr>
            <p:ph type="title"/>
          </p:nvPr>
        </p:nvSpPr>
        <p:spPr>
          <a:prstGeom prst="rect">
            <a:avLst/>
          </a:prstGeom>
        </p:spPr>
        <p:txBody>
          <a:bodyPr/>
          <a:lstStyle>
            <a:lvl1pPr defTabSz="572516">
              <a:defRPr sz="7840"/>
            </a:lvl1pPr>
          </a:lstStyle>
          <a:p>
            <a:pPr/>
            <a:r>
              <a:t>Форматиране на изхода</a:t>
            </a:r>
          </a:p>
        </p:txBody>
      </p:sp>
      <p:sp>
        <p:nvSpPr>
          <p:cNvPr id="453" name="Когато отпечатването се използва за тестови цели, може да се използва преобразуване на всяка стойност до низ с функции repr() или str().…"/>
          <p:cNvSpPr txBox="1"/>
          <p:nvPr>
            <p:ph type="body" idx="1"/>
          </p:nvPr>
        </p:nvSpPr>
        <p:spPr>
          <a:prstGeom prst="rect">
            <a:avLst/>
          </a:prstGeom>
        </p:spPr>
        <p:txBody>
          <a:bodyPr/>
          <a:lstStyle/>
          <a:p>
            <a:pPr marL="355600" indent="-355600" defTabSz="467359">
              <a:spcBef>
                <a:spcPts val="3300"/>
              </a:spcBef>
              <a:defRPr sz="2880"/>
            </a:pPr>
            <a:r>
              <a:t>Когато отпечатването се използва за тестови цели, може да се използва преобразуване на всяка стойност до низ с функции repr() или str().</a:t>
            </a:r>
          </a:p>
          <a:p>
            <a:pPr marL="355600" indent="-355600" defTabSz="467359">
              <a:spcBef>
                <a:spcPts val="3300"/>
              </a:spcBef>
              <a:defRPr sz="2880"/>
            </a:pPr>
            <a:r>
              <a:t>Функцията str() връща текстовото представяне на стойността, подадена като параметър в по-четим стил за потребителя, а repr() генерира представяне, което може да се прочете от интерпретатора, или да генерира SyntaxError, ако има грешка. За обекти, които нямат специфично представяне от потребителска гледна точка, резултатът от str() и repr() съвпада. Много стойности като числа, структури като списъци и речници имат еднакво представяне и няма значение коя функция е използвана. Низовете има различно представяне.</a:t>
            </a:r>
          </a:p>
        </p:txBody>
      </p:sp>
    </p:spTree>
  </p:cSld>
  <p:clrMapOvr>
    <a:masterClrMapping/>
  </p:clrMapOvr>
  <p:transition xmlns:p14="http://schemas.microsoft.com/office/powerpoint/2010/main" spd="med" advClick="1"/>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5" name="Форматиране на изхода"/>
          <p:cNvSpPr txBox="1"/>
          <p:nvPr>
            <p:ph type="title"/>
          </p:nvPr>
        </p:nvSpPr>
        <p:spPr>
          <a:prstGeom prst="rect">
            <a:avLst/>
          </a:prstGeom>
        </p:spPr>
        <p:txBody>
          <a:bodyPr/>
          <a:lstStyle>
            <a:lvl1pPr defTabSz="572516">
              <a:defRPr sz="7840"/>
            </a:lvl1pPr>
          </a:lstStyle>
          <a:p>
            <a:pPr/>
            <a:r>
              <a:t>Форматиране на изхода</a:t>
            </a:r>
          </a:p>
        </p:txBody>
      </p:sp>
      <p:sp>
        <p:nvSpPr>
          <p:cNvPr id="456" name="Примери:"/>
          <p:cNvSpPr txBox="1"/>
          <p:nvPr>
            <p:ph type="body" idx="1"/>
          </p:nvPr>
        </p:nvSpPr>
        <p:spPr>
          <a:prstGeom prst="rect">
            <a:avLst/>
          </a:prstGeom>
        </p:spPr>
        <p:txBody>
          <a:bodyPr/>
          <a:lstStyle/>
          <a:p>
            <a:pPr/>
            <a:r>
              <a:t>Примери:</a:t>
            </a:r>
          </a:p>
          <a:p>
            <a:pPr/>
          </a:p>
          <a:p>
            <a:pPr/>
          </a:p>
          <a:p>
            <a:pPr/>
          </a:p>
          <a:p>
            <a:pPr/>
          </a:p>
        </p:txBody>
      </p:sp>
      <p:pic>
        <p:nvPicPr>
          <p:cNvPr id="457" name="Image" descr="Image"/>
          <p:cNvPicPr>
            <a:picLocks noChangeAspect="1"/>
          </p:cNvPicPr>
          <p:nvPr/>
        </p:nvPicPr>
        <p:blipFill>
          <a:blip r:embed="rId2">
            <a:extLst/>
          </a:blip>
          <a:stretch>
            <a:fillRect/>
          </a:stretch>
        </p:blipFill>
        <p:spPr>
          <a:xfrm>
            <a:off x="1368485" y="3530677"/>
            <a:ext cx="10602193" cy="5845783"/>
          </a:xfrm>
          <a:prstGeom prst="rect">
            <a:avLst/>
          </a:prstGeom>
          <a:ln w="12700">
            <a:miter lim="400000"/>
          </a:ln>
        </p:spPr>
      </p:pic>
    </p:spTree>
  </p:cSld>
  <p:clrMapOvr>
    <a:masterClrMapping/>
  </p:clrMapOvr>
  <p:transition xmlns:p14="http://schemas.microsoft.com/office/powerpoint/2010/main" spd="med" advClick="1"/>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Форматиране на изхода"/>
          <p:cNvSpPr txBox="1"/>
          <p:nvPr>
            <p:ph type="title"/>
          </p:nvPr>
        </p:nvSpPr>
        <p:spPr>
          <a:prstGeom prst="rect">
            <a:avLst/>
          </a:prstGeom>
        </p:spPr>
        <p:txBody>
          <a:bodyPr/>
          <a:lstStyle>
            <a:lvl1pPr defTabSz="572516">
              <a:defRPr sz="7840"/>
            </a:lvl1pPr>
          </a:lstStyle>
          <a:p>
            <a:pPr/>
            <a:r>
              <a:t>Форматиране на изхода</a:t>
            </a:r>
          </a:p>
        </p:txBody>
      </p:sp>
      <p:sp>
        <p:nvSpPr>
          <p:cNvPr id="460" name="Модулът string съдържа Template class, който предлага друг начин за заместване на стойности в низ с помощта на placeholders като $x и заместването им от речник, но предлага ограничени възможности за форматиране."/>
          <p:cNvSpPr txBox="1"/>
          <p:nvPr>
            <p:ph type="body" idx="1"/>
          </p:nvPr>
        </p:nvSpPr>
        <p:spPr>
          <a:prstGeom prst="rect">
            <a:avLst/>
          </a:prstGeom>
        </p:spPr>
        <p:txBody>
          <a:bodyPr/>
          <a:lstStyle/>
          <a:p>
            <a:pPr/>
            <a:r>
              <a:t>Модулът string съдържа Template class, който предлага друг начин за заместване на стойности в низ с помощта на placeholders като $x и заместването им от речник, но предлага ограничени възможности за форматиране.</a:t>
            </a:r>
          </a:p>
        </p:txBody>
      </p:sp>
    </p:spTree>
  </p:cSld>
  <p:clrMapOvr>
    <a:masterClrMapping/>
  </p:clrMapOvr>
  <p:transition xmlns:p14="http://schemas.microsoft.com/office/powerpoint/2010/main" spd="med" advClick="1"/>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2" name="Formatted String Literals"/>
          <p:cNvSpPr txBox="1"/>
          <p:nvPr>
            <p:ph type="title"/>
          </p:nvPr>
        </p:nvSpPr>
        <p:spPr>
          <a:prstGeom prst="rect">
            <a:avLst/>
          </a:prstGeom>
        </p:spPr>
        <p:txBody>
          <a:bodyPr/>
          <a:lstStyle>
            <a:lvl1pPr defTabSz="572516">
              <a:defRPr sz="7840"/>
            </a:lvl1pPr>
          </a:lstStyle>
          <a:p>
            <a:pPr/>
            <a:r>
              <a:t>Formatted String Literals</a:t>
            </a:r>
          </a:p>
        </p:txBody>
      </p:sp>
      <p:sp>
        <p:nvSpPr>
          <p:cNvPr id="463" name="Форматиращи низови литерали (f-strings) позволяват да се включват стойности от изрази на Python в низ, който има префикс f или F и изразите се записват с {израз}.…"/>
          <p:cNvSpPr txBox="1"/>
          <p:nvPr>
            <p:ph type="body" idx="1"/>
          </p:nvPr>
        </p:nvSpPr>
        <p:spPr>
          <a:prstGeom prst="rect">
            <a:avLst/>
          </a:prstGeom>
        </p:spPr>
        <p:txBody>
          <a:bodyPr/>
          <a:lstStyle/>
          <a:p>
            <a:pPr/>
            <a:r>
              <a:t>Форматиращи низови литерали (f-strings) позволяват да се включват стойности от изрази на Python в низ, който има префикс f или F и изразите се записват с {израз}.</a:t>
            </a:r>
          </a:p>
          <a:p>
            <a:pPr/>
            <a:r>
              <a:t>Незадължителен форматиращ спецификатор може да бъде записан след израза. Това позволява по-добър контрол върху форматирането. Например:</a:t>
            </a:r>
          </a:p>
        </p:txBody>
      </p:sp>
      <p:pic>
        <p:nvPicPr>
          <p:cNvPr id="464" name="Image" descr="Image"/>
          <p:cNvPicPr>
            <a:picLocks noChangeAspect="1"/>
          </p:cNvPicPr>
          <p:nvPr/>
        </p:nvPicPr>
        <p:blipFill>
          <a:blip r:embed="rId2">
            <a:extLst/>
          </a:blip>
          <a:stretch>
            <a:fillRect/>
          </a:stretch>
        </p:blipFill>
        <p:spPr>
          <a:xfrm>
            <a:off x="0" y="7780555"/>
            <a:ext cx="13004800" cy="1609290"/>
          </a:xfrm>
          <a:prstGeom prst="rect">
            <a:avLst/>
          </a:prstGeom>
          <a:ln w="12700">
            <a:miter lim="400000"/>
          </a:ln>
        </p:spPr>
      </p:pic>
    </p:spTree>
  </p:cSld>
  <p:clrMapOvr>
    <a:masterClrMapping/>
  </p:clrMapOvr>
  <p:transition xmlns:p14="http://schemas.microsoft.com/office/powerpoint/2010/main" spd="med" advClick="1"/>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Formatted String Literals"/>
          <p:cNvSpPr txBox="1"/>
          <p:nvPr>
            <p:ph type="title"/>
          </p:nvPr>
        </p:nvSpPr>
        <p:spPr>
          <a:prstGeom prst="rect">
            <a:avLst/>
          </a:prstGeom>
        </p:spPr>
        <p:txBody>
          <a:bodyPr/>
          <a:lstStyle>
            <a:lvl1pPr defTabSz="572516">
              <a:defRPr sz="7840"/>
            </a:lvl1pPr>
          </a:lstStyle>
          <a:p>
            <a:pPr/>
            <a:r>
              <a:t>Formatted String Literals</a:t>
            </a:r>
          </a:p>
        </p:txBody>
      </p:sp>
      <p:sp>
        <p:nvSpPr>
          <p:cNvPr id="467" name="Запис на цяло число след ':' задава минималната дължина на полето. Полезно е при създаване на колони. Пример:"/>
          <p:cNvSpPr txBox="1"/>
          <p:nvPr>
            <p:ph type="body" idx="1"/>
          </p:nvPr>
        </p:nvSpPr>
        <p:spPr>
          <a:prstGeom prst="rect">
            <a:avLst/>
          </a:prstGeom>
        </p:spPr>
        <p:txBody>
          <a:bodyPr/>
          <a:lstStyle/>
          <a:p>
            <a:pPr/>
            <a:r>
              <a:t>Запис на цяло число след ':' задава минималната дължина на полето. Полезно е при създаване на колони. Пример:</a:t>
            </a:r>
          </a:p>
          <a:p>
            <a:pPr/>
          </a:p>
        </p:txBody>
      </p:sp>
      <p:pic>
        <p:nvPicPr>
          <p:cNvPr id="468" name="Image" descr="Image"/>
          <p:cNvPicPr>
            <a:picLocks noChangeAspect="1"/>
          </p:cNvPicPr>
          <p:nvPr/>
        </p:nvPicPr>
        <p:blipFill>
          <a:blip r:embed="rId2">
            <a:extLst/>
          </a:blip>
          <a:stretch>
            <a:fillRect/>
          </a:stretch>
        </p:blipFill>
        <p:spPr>
          <a:xfrm>
            <a:off x="0" y="5793944"/>
            <a:ext cx="13004800" cy="3525112"/>
          </a:xfrm>
          <a:prstGeom prst="rect">
            <a:avLst/>
          </a:prstGeom>
          <a:ln w="12700">
            <a:miter lim="400000"/>
          </a:ln>
        </p:spPr>
      </p:pic>
    </p:spTree>
  </p:cSld>
  <p:clrMapOvr>
    <a:masterClrMapping/>
  </p:clrMapOvr>
  <p:transition xmlns:p14="http://schemas.microsoft.com/office/powerpoint/2010/main" spd="med" advClick="1"/>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0" name="Formatted String Literals"/>
          <p:cNvSpPr txBox="1"/>
          <p:nvPr>
            <p:ph type="title"/>
          </p:nvPr>
        </p:nvSpPr>
        <p:spPr>
          <a:prstGeom prst="rect">
            <a:avLst/>
          </a:prstGeom>
        </p:spPr>
        <p:txBody>
          <a:bodyPr/>
          <a:lstStyle>
            <a:lvl1pPr defTabSz="572516">
              <a:defRPr sz="7840"/>
            </a:lvl1pPr>
          </a:lstStyle>
          <a:p>
            <a:pPr/>
            <a:r>
              <a:t>Formatted String Literals</a:t>
            </a:r>
          </a:p>
        </p:txBody>
      </p:sp>
      <p:sp>
        <p:nvSpPr>
          <p:cNvPr id="471" name="Другите модификатори се използват за преобразуване на стойности преди форматиране. '!a' прилага ascii(), '!s' прилага str(), а '!r' прилага repr():"/>
          <p:cNvSpPr txBox="1"/>
          <p:nvPr>
            <p:ph type="body" idx="1"/>
          </p:nvPr>
        </p:nvSpPr>
        <p:spPr>
          <a:prstGeom prst="rect">
            <a:avLst/>
          </a:prstGeom>
        </p:spPr>
        <p:txBody>
          <a:bodyPr/>
          <a:lstStyle/>
          <a:p>
            <a:pPr/>
            <a:r>
              <a:t>Другите модификатори се използват за преобразуване на стойности преди форматиране. '!a' прилага ascii(), '!s' прилага str(), а '!r' прилага repr():</a:t>
            </a:r>
          </a:p>
          <a:p>
            <a:pPr/>
          </a:p>
        </p:txBody>
      </p:sp>
      <p:pic>
        <p:nvPicPr>
          <p:cNvPr id="472" name="Image" descr="Image"/>
          <p:cNvPicPr>
            <a:picLocks noChangeAspect="1"/>
          </p:cNvPicPr>
          <p:nvPr/>
        </p:nvPicPr>
        <p:blipFill>
          <a:blip r:embed="rId2">
            <a:extLst/>
          </a:blip>
          <a:stretch>
            <a:fillRect/>
          </a:stretch>
        </p:blipFill>
        <p:spPr>
          <a:xfrm>
            <a:off x="127000" y="6134100"/>
            <a:ext cx="12750800" cy="2819400"/>
          </a:xfrm>
          <a:prstGeom prst="rect">
            <a:avLst/>
          </a:prstGeom>
          <a:ln w="12700">
            <a:miter lim="400000"/>
          </a:ln>
        </p:spPr>
      </p:pic>
    </p:spTree>
  </p:cSld>
  <p:clrMapOvr>
    <a:masterClrMapping/>
  </p:clrMapOvr>
  <p:transition xmlns:p14="http://schemas.microsoft.com/office/powerpoint/2010/main" spd="med" advClick="1"/>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The String format() Method"/>
          <p:cNvSpPr txBox="1"/>
          <p:nvPr>
            <p:ph type="title"/>
          </p:nvPr>
        </p:nvSpPr>
        <p:spPr>
          <a:prstGeom prst="rect">
            <a:avLst/>
          </a:prstGeom>
        </p:spPr>
        <p:txBody>
          <a:bodyPr/>
          <a:lstStyle>
            <a:lvl1pPr defTabSz="525779">
              <a:defRPr sz="7200"/>
            </a:lvl1pPr>
          </a:lstStyle>
          <a:p>
            <a:pPr/>
            <a:r>
              <a:t>The String format() Method</a:t>
            </a:r>
          </a:p>
        </p:txBody>
      </p:sp>
      <p:sp>
        <p:nvSpPr>
          <p:cNvPr id="475" name="Основната употреба на str.format() е:…"/>
          <p:cNvSpPr txBox="1"/>
          <p:nvPr>
            <p:ph type="body" idx="1"/>
          </p:nvPr>
        </p:nvSpPr>
        <p:spPr>
          <a:prstGeom prst="rect">
            <a:avLst/>
          </a:prstGeom>
        </p:spPr>
        <p:txBody>
          <a:bodyPr/>
          <a:lstStyle/>
          <a:p>
            <a:pPr marL="417830" indent="-417830" defTabSz="549148">
              <a:spcBef>
                <a:spcPts val="3900"/>
              </a:spcBef>
              <a:defRPr sz="3384"/>
            </a:pPr>
            <a:r>
              <a:t>Основната употреба на str.format() е:</a:t>
            </a:r>
          </a:p>
          <a:p>
            <a:pPr marL="417830" indent="-417830" defTabSz="549148">
              <a:spcBef>
                <a:spcPts val="3900"/>
              </a:spcBef>
              <a:defRPr sz="3384"/>
            </a:pPr>
          </a:p>
          <a:p>
            <a:pPr marL="417830" indent="-417830" defTabSz="549148">
              <a:spcBef>
                <a:spcPts val="3900"/>
              </a:spcBef>
              <a:defRPr sz="3384"/>
            </a:pPr>
            <a:r>
              <a:t>Фигурните скоби и символите в тях (наричат се format fields) се заместват от обектите, предадени на метода str.format(). Числото е скобите означава позицията на обекта, подаден на str.format().</a:t>
            </a:r>
          </a:p>
          <a:p>
            <a:pPr marL="417830" indent="-417830" defTabSz="549148">
              <a:spcBef>
                <a:spcPts val="3900"/>
              </a:spcBef>
              <a:defRPr sz="3384"/>
            </a:pPr>
          </a:p>
        </p:txBody>
      </p:sp>
      <p:pic>
        <p:nvPicPr>
          <p:cNvPr id="476" name="Image" descr="Image"/>
          <p:cNvPicPr>
            <a:picLocks noChangeAspect="1"/>
          </p:cNvPicPr>
          <p:nvPr/>
        </p:nvPicPr>
        <p:blipFill>
          <a:blip r:embed="rId2">
            <a:extLst/>
          </a:blip>
          <a:stretch>
            <a:fillRect/>
          </a:stretch>
        </p:blipFill>
        <p:spPr>
          <a:xfrm>
            <a:off x="0" y="3306972"/>
            <a:ext cx="13004800" cy="1209256"/>
          </a:xfrm>
          <a:prstGeom prst="rect">
            <a:avLst/>
          </a:prstGeom>
          <a:ln w="12700">
            <a:miter lim="400000"/>
          </a:ln>
        </p:spPr>
      </p:pic>
      <p:pic>
        <p:nvPicPr>
          <p:cNvPr id="477" name="Image" descr="Image"/>
          <p:cNvPicPr>
            <a:picLocks noChangeAspect="1"/>
          </p:cNvPicPr>
          <p:nvPr/>
        </p:nvPicPr>
        <p:blipFill>
          <a:blip r:embed="rId3">
            <a:extLst/>
          </a:blip>
          <a:stretch>
            <a:fillRect/>
          </a:stretch>
        </p:blipFill>
        <p:spPr>
          <a:xfrm>
            <a:off x="609600" y="7124700"/>
            <a:ext cx="11785600" cy="2387600"/>
          </a:xfrm>
          <a:prstGeom prst="rect">
            <a:avLst/>
          </a:prstGeom>
          <a:ln w="12700">
            <a:miter lim="400000"/>
          </a:ln>
        </p:spPr>
      </p:pic>
    </p:spTree>
  </p:cSld>
  <p:clrMapOvr>
    <a:masterClrMapping/>
  </p:clrMapOvr>
  <p:transition xmlns:p14="http://schemas.microsoft.com/office/powerpoint/2010/main" spd="med" advClick="1"/>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9" name="The String format() Method"/>
          <p:cNvSpPr txBox="1"/>
          <p:nvPr>
            <p:ph type="title"/>
          </p:nvPr>
        </p:nvSpPr>
        <p:spPr>
          <a:prstGeom prst="rect">
            <a:avLst/>
          </a:prstGeom>
        </p:spPr>
        <p:txBody>
          <a:bodyPr/>
          <a:lstStyle>
            <a:lvl1pPr defTabSz="525779">
              <a:defRPr sz="7200"/>
            </a:lvl1pPr>
          </a:lstStyle>
          <a:p>
            <a:pPr/>
            <a:r>
              <a:t>The String format() Method</a:t>
            </a:r>
          </a:p>
        </p:txBody>
      </p:sp>
      <p:sp>
        <p:nvSpPr>
          <p:cNvPr id="480" name="Ако се използват ключови аргументи в метода str.format(), техните стойности се отнасят до задаване на името на аргумента.…"/>
          <p:cNvSpPr txBox="1"/>
          <p:nvPr>
            <p:ph type="body" idx="1"/>
          </p:nvPr>
        </p:nvSpPr>
        <p:spPr>
          <a:prstGeom prst="rect">
            <a:avLst/>
          </a:prstGeom>
        </p:spPr>
        <p:txBody>
          <a:bodyPr/>
          <a:lstStyle/>
          <a:p>
            <a:pPr marL="417830" indent="-417830" defTabSz="549148">
              <a:spcBef>
                <a:spcPts val="3900"/>
              </a:spcBef>
              <a:defRPr sz="3384"/>
            </a:pPr>
            <a:r>
              <a:t>Ако се използват ключови аргументи в метода str.format(), техните стойности се отнасят до задаване на името на аргумента.</a:t>
            </a:r>
          </a:p>
          <a:p>
            <a:pPr marL="417830" indent="-417830" defTabSz="549148">
              <a:spcBef>
                <a:spcPts val="3900"/>
              </a:spcBef>
              <a:defRPr sz="3384"/>
            </a:pPr>
          </a:p>
          <a:p>
            <a:pPr marL="417830" indent="-417830" defTabSz="549148">
              <a:spcBef>
                <a:spcPts val="3900"/>
              </a:spcBef>
              <a:defRPr sz="3384"/>
            </a:pPr>
          </a:p>
          <a:p>
            <a:pPr marL="417830" indent="-417830" defTabSz="549148">
              <a:spcBef>
                <a:spcPts val="3900"/>
              </a:spcBef>
              <a:defRPr sz="3384"/>
            </a:pPr>
            <a:r>
              <a:t>Позиционни и ключови аргументи могат да комбинират:</a:t>
            </a:r>
          </a:p>
        </p:txBody>
      </p:sp>
      <p:pic>
        <p:nvPicPr>
          <p:cNvPr id="481" name="Image" descr="Image"/>
          <p:cNvPicPr>
            <a:picLocks noChangeAspect="1"/>
          </p:cNvPicPr>
          <p:nvPr/>
        </p:nvPicPr>
        <p:blipFill>
          <a:blip r:embed="rId2">
            <a:extLst/>
          </a:blip>
          <a:stretch>
            <a:fillRect/>
          </a:stretch>
        </p:blipFill>
        <p:spPr>
          <a:xfrm>
            <a:off x="0" y="4470237"/>
            <a:ext cx="13004800" cy="1752925"/>
          </a:xfrm>
          <a:prstGeom prst="rect">
            <a:avLst/>
          </a:prstGeom>
          <a:ln w="12700">
            <a:miter lim="400000"/>
          </a:ln>
        </p:spPr>
      </p:pic>
      <p:pic>
        <p:nvPicPr>
          <p:cNvPr id="482" name="Image" descr="Image"/>
          <p:cNvPicPr>
            <a:picLocks noChangeAspect="1"/>
          </p:cNvPicPr>
          <p:nvPr/>
        </p:nvPicPr>
        <p:blipFill>
          <a:blip r:embed="rId3">
            <a:extLst/>
          </a:blip>
          <a:stretch>
            <a:fillRect/>
          </a:stretch>
        </p:blipFill>
        <p:spPr>
          <a:xfrm>
            <a:off x="0" y="7964303"/>
            <a:ext cx="13004800" cy="1343394"/>
          </a:xfrm>
          <a:prstGeom prst="rect">
            <a:avLst/>
          </a:prstGeom>
          <a:ln w="12700">
            <a:miter lim="400000"/>
          </a:ln>
        </p:spPr>
      </p:pic>
    </p:spTree>
  </p:cSld>
  <p:clrMapOvr>
    <a:masterClrMapping/>
  </p:clrMapOvr>
  <p:transition xmlns:p14="http://schemas.microsoft.com/office/powerpoint/2010/main" spd="med" advClick="1"/>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The String format() Method"/>
          <p:cNvSpPr txBox="1"/>
          <p:nvPr>
            <p:ph type="title"/>
          </p:nvPr>
        </p:nvSpPr>
        <p:spPr>
          <a:prstGeom prst="rect">
            <a:avLst/>
          </a:prstGeom>
        </p:spPr>
        <p:txBody>
          <a:bodyPr/>
          <a:lstStyle>
            <a:lvl1pPr defTabSz="525779">
              <a:defRPr sz="7200"/>
            </a:lvl1pPr>
          </a:lstStyle>
          <a:p>
            <a:pPr/>
            <a:r>
              <a:t>The String format() Method</a:t>
            </a:r>
          </a:p>
        </p:txBody>
      </p:sp>
      <p:sp>
        <p:nvSpPr>
          <p:cNvPr id="485" name="Ако трябва да се използва дълъг форматиращ низ, без да се разделя на части, е добре да се запише в променлива, която се да реферира по име, а не по позиция. За целта се използват речник и квадратни скоби за достъп до ключа:"/>
          <p:cNvSpPr txBox="1"/>
          <p:nvPr>
            <p:ph type="body" idx="1"/>
          </p:nvPr>
        </p:nvSpPr>
        <p:spPr>
          <a:prstGeom prst="rect">
            <a:avLst/>
          </a:prstGeom>
        </p:spPr>
        <p:txBody>
          <a:bodyPr/>
          <a:lstStyle/>
          <a:p>
            <a:pPr/>
            <a:r>
              <a:t>Ако трябва да се използва дълъг форматиращ низ, без да се разделя на части, е добре да се запише в променлива, която се да реферира по име, а не по позиция. За целта се използват речник и квадратни скоби за достъп до ключа:</a:t>
            </a:r>
          </a:p>
          <a:p>
            <a:pPr/>
          </a:p>
        </p:txBody>
      </p:sp>
      <p:pic>
        <p:nvPicPr>
          <p:cNvPr id="486" name="Image" descr="Image"/>
          <p:cNvPicPr>
            <a:picLocks noChangeAspect="1"/>
          </p:cNvPicPr>
          <p:nvPr/>
        </p:nvPicPr>
        <p:blipFill>
          <a:blip r:embed="rId2">
            <a:extLst/>
          </a:blip>
          <a:stretch>
            <a:fillRect/>
          </a:stretch>
        </p:blipFill>
        <p:spPr>
          <a:xfrm>
            <a:off x="0" y="6608017"/>
            <a:ext cx="13004800" cy="2125566"/>
          </a:xfrm>
          <a:prstGeom prst="rect">
            <a:avLst/>
          </a:prstGeom>
          <a:ln w="12700">
            <a:miter lim="400000"/>
          </a:ln>
        </p:spPr>
      </p:pic>
    </p:spTree>
  </p:cSld>
  <p:clrMapOvr>
    <a:masterClrMapping/>
  </p:clrMapOvr>
  <p:transition xmlns:p14="http://schemas.microsoft.com/office/powerpoint/2010/main" spd="med" advClick="1"/>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The String format() Method"/>
          <p:cNvSpPr txBox="1"/>
          <p:nvPr>
            <p:ph type="title"/>
          </p:nvPr>
        </p:nvSpPr>
        <p:spPr>
          <a:prstGeom prst="rect">
            <a:avLst/>
          </a:prstGeom>
        </p:spPr>
        <p:txBody>
          <a:bodyPr/>
          <a:lstStyle>
            <a:lvl1pPr defTabSz="525779">
              <a:defRPr sz="7200"/>
            </a:lvl1pPr>
          </a:lstStyle>
          <a:p>
            <a:pPr/>
            <a:r>
              <a:t>The String format() Method</a:t>
            </a:r>
          </a:p>
        </p:txBody>
      </p:sp>
      <p:sp>
        <p:nvSpPr>
          <p:cNvPr id="489" name="Това може да се постигне и чрез предаване на таблица като ключов аргумент с нотация ‘**’:…"/>
          <p:cNvSpPr txBox="1"/>
          <p:nvPr>
            <p:ph type="body" idx="1"/>
          </p:nvPr>
        </p:nvSpPr>
        <p:spPr>
          <a:prstGeom prst="rect">
            <a:avLst/>
          </a:prstGeom>
        </p:spPr>
        <p:txBody>
          <a:bodyPr/>
          <a:lstStyle/>
          <a:p>
            <a:pPr/>
            <a:r>
              <a:t>Това може да се постигне и чрез предаване на таблица като ключов аргумент с нотация ‘**’:</a:t>
            </a:r>
          </a:p>
          <a:p>
            <a:pPr/>
          </a:p>
          <a:p>
            <a:pPr/>
            <a:r>
              <a:t>Този начин е полезен при използване на комбинация с вградената функция vars(), която връща речник, съдържащ всички локални променливи.</a:t>
            </a:r>
          </a:p>
        </p:txBody>
      </p:sp>
      <p:pic>
        <p:nvPicPr>
          <p:cNvPr id="490" name="Image" descr="Image"/>
          <p:cNvPicPr>
            <a:picLocks noChangeAspect="1"/>
          </p:cNvPicPr>
          <p:nvPr/>
        </p:nvPicPr>
        <p:blipFill>
          <a:blip r:embed="rId2">
            <a:extLst/>
          </a:blip>
          <a:stretch>
            <a:fillRect/>
          </a:stretch>
        </p:blipFill>
        <p:spPr>
          <a:xfrm>
            <a:off x="0" y="4598890"/>
            <a:ext cx="13004800" cy="1317820"/>
          </a:xfrm>
          <a:prstGeom prst="rect">
            <a:avLst/>
          </a:prstGeom>
          <a:ln w="12700">
            <a:miter lim="400000"/>
          </a:ln>
        </p:spPr>
      </p:pic>
    </p:spTree>
  </p:cSld>
  <p:clrMapOvr>
    <a:masterClrMapping/>
  </p:clrMapOvr>
  <p:transition xmlns:p14="http://schemas.microsoft.com/office/powerpoint/2010/main" spd="med" advClick="1"/>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2" name="The String format() Method"/>
          <p:cNvSpPr txBox="1"/>
          <p:nvPr>
            <p:ph type="title"/>
          </p:nvPr>
        </p:nvSpPr>
        <p:spPr>
          <a:prstGeom prst="rect">
            <a:avLst/>
          </a:prstGeom>
        </p:spPr>
        <p:txBody>
          <a:bodyPr/>
          <a:lstStyle>
            <a:lvl1pPr defTabSz="525779">
              <a:defRPr sz="7200"/>
            </a:lvl1pPr>
          </a:lstStyle>
          <a:p>
            <a:pPr/>
            <a:r>
              <a:t>The String format() Method</a:t>
            </a:r>
          </a:p>
        </p:txBody>
      </p:sp>
      <p:sp>
        <p:nvSpPr>
          <p:cNvPr id="493" name="Пример:"/>
          <p:cNvSpPr txBox="1"/>
          <p:nvPr>
            <p:ph type="body" idx="1"/>
          </p:nvPr>
        </p:nvSpPr>
        <p:spPr>
          <a:prstGeom prst="rect">
            <a:avLst/>
          </a:prstGeom>
        </p:spPr>
        <p:txBody>
          <a:bodyPr/>
          <a:lstStyle/>
          <a:p>
            <a:pPr/>
            <a:r>
              <a:t>Пример:</a:t>
            </a:r>
          </a:p>
          <a:p>
            <a:pPr/>
          </a:p>
          <a:p>
            <a:pPr/>
          </a:p>
        </p:txBody>
      </p:sp>
      <p:pic>
        <p:nvPicPr>
          <p:cNvPr id="494" name="Image" descr="Image"/>
          <p:cNvPicPr>
            <a:picLocks noChangeAspect="1"/>
          </p:cNvPicPr>
          <p:nvPr/>
        </p:nvPicPr>
        <p:blipFill>
          <a:blip r:embed="rId2">
            <a:extLst/>
          </a:blip>
          <a:stretch>
            <a:fillRect/>
          </a:stretch>
        </p:blipFill>
        <p:spPr>
          <a:xfrm>
            <a:off x="1267821" y="4685530"/>
            <a:ext cx="10469158" cy="4661052"/>
          </a:xfrm>
          <a:prstGeom prst="rect">
            <a:avLst/>
          </a:prstGeom>
          <a:ln w="12700">
            <a:miter lim="400000"/>
          </a:ln>
        </p:spPr>
      </p:pic>
    </p:spTree>
  </p:cSld>
  <p:clrMapOvr>
    <a:masterClrMapping/>
  </p:clrMapOvr>
  <p:transition xmlns:p14="http://schemas.microsoft.com/office/powerpoint/2010/main" spd="med" advClick="1"/>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6" name="Ръчно форматиране на низове"/>
          <p:cNvSpPr txBox="1"/>
          <p:nvPr>
            <p:ph type="title"/>
          </p:nvPr>
        </p:nvSpPr>
        <p:spPr>
          <a:prstGeom prst="rect">
            <a:avLst/>
          </a:prstGeom>
        </p:spPr>
        <p:txBody>
          <a:bodyPr/>
          <a:lstStyle>
            <a:lvl1pPr defTabSz="490727">
              <a:defRPr sz="6719"/>
            </a:lvl1pPr>
          </a:lstStyle>
          <a:p>
            <a:pPr/>
            <a:r>
              <a:t>Ръчно форматиране на низове</a:t>
            </a:r>
          </a:p>
        </p:txBody>
      </p:sp>
      <p:sp>
        <p:nvSpPr>
          <p:cNvPr id="497" name="Същият пример, но с ръчно форматиране:"/>
          <p:cNvSpPr txBox="1"/>
          <p:nvPr>
            <p:ph type="body" idx="1"/>
          </p:nvPr>
        </p:nvSpPr>
        <p:spPr>
          <a:prstGeom prst="rect">
            <a:avLst/>
          </a:prstGeom>
        </p:spPr>
        <p:txBody>
          <a:bodyPr/>
          <a:lstStyle/>
          <a:p>
            <a:pPr/>
            <a:r>
              <a:t>Същият пример, но с ръчно форматиране:</a:t>
            </a:r>
          </a:p>
          <a:p>
            <a:pPr/>
          </a:p>
          <a:p>
            <a:pPr/>
          </a:p>
          <a:p>
            <a:pPr/>
          </a:p>
        </p:txBody>
      </p:sp>
      <p:pic>
        <p:nvPicPr>
          <p:cNvPr id="498" name="Image" descr="Image"/>
          <p:cNvPicPr>
            <a:picLocks noChangeAspect="1"/>
          </p:cNvPicPr>
          <p:nvPr/>
        </p:nvPicPr>
        <p:blipFill>
          <a:blip r:embed="rId2">
            <a:extLst/>
          </a:blip>
          <a:stretch>
            <a:fillRect/>
          </a:stretch>
        </p:blipFill>
        <p:spPr>
          <a:xfrm>
            <a:off x="1402292" y="4275616"/>
            <a:ext cx="10200216" cy="5161556"/>
          </a:xfrm>
          <a:prstGeom prst="rect">
            <a:avLst/>
          </a:prstGeom>
          <a:ln w="12700">
            <a:miter lim="400000"/>
          </a:ln>
        </p:spPr>
      </p:pic>
    </p:spTree>
  </p:cSld>
  <p:clrMapOvr>
    <a:masterClrMapping/>
  </p:clrMapOvr>
  <p:transition xmlns:p14="http://schemas.microsoft.com/office/powerpoint/2010/main" spd="med" advClick="1"/>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0" name="Ръчно форматиране на низове"/>
          <p:cNvSpPr txBox="1"/>
          <p:nvPr>
            <p:ph type="title"/>
          </p:nvPr>
        </p:nvSpPr>
        <p:spPr>
          <a:prstGeom prst="rect">
            <a:avLst/>
          </a:prstGeom>
        </p:spPr>
        <p:txBody>
          <a:bodyPr/>
          <a:lstStyle>
            <a:lvl1pPr defTabSz="490727">
              <a:defRPr sz="6719"/>
            </a:lvl1pPr>
          </a:lstStyle>
          <a:p>
            <a:pPr/>
            <a:r>
              <a:t>Ръчно форматиране на низове</a:t>
            </a:r>
          </a:p>
        </p:txBody>
      </p:sp>
      <p:sp>
        <p:nvSpPr>
          <p:cNvPr id="501" name="Методът str.rjust() на низови обекти подравняват дясно низа като запълват полето с празни позиции вляво. Съществуват и методите str.ljust() и str.center(), които подравняват низа вляво или го центрират съответно. Методите връщат новия низ. Ако низът е по"/>
          <p:cNvSpPr txBox="1"/>
          <p:nvPr>
            <p:ph type="body" idx="1"/>
          </p:nvPr>
        </p:nvSpPr>
        <p:spPr>
          <a:prstGeom prst="rect">
            <a:avLst/>
          </a:prstGeom>
        </p:spPr>
        <p:txBody>
          <a:bodyPr/>
          <a:lstStyle/>
          <a:p>
            <a:pPr/>
            <a:r>
              <a:t>Методът str.rjust() на низови обекти подравняват дясно низа като запълват полето с празни позиции вляво. Съществуват и методите str.ljust() и str.center(), които подравняват низа вляво или го центрират съответно. Методите връщат новия низ. Ако низът е по-дълъг от полето, методите не го отряват, а връщат същия низ непроменен. Ако е  необходимо отрязване на низа, се използва операция slice: x.ljust(n)[:n].</a:t>
            </a:r>
          </a:p>
        </p:txBody>
      </p:sp>
    </p:spTree>
  </p:cSld>
  <p:clrMapOvr>
    <a:masterClrMapping/>
  </p:clrMapOvr>
  <p:transition xmlns:p14="http://schemas.microsoft.com/office/powerpoint/2010/main" spd="med" advClick="1"/>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Ръчно форматиране на низове"/>
          <p:cNvSpPr txBox="1"/>
          <p:nvPr>
            <p:ph type="title"/>
          </p:nvPr>
        </p:nvSpPr>
        <p:spPr>
          <a:prstGeom prst="rect">
            <a:avLst/>
          </a:prstGeom>
        </p:spPr>
        <p:txBody>
          <a:bodyPr/>
          <a:lstStyle>
            <a:lvl1pPr defTabSz="490727">
              <a:defRPr sz="6719"/>
            </a:lvl1pPr>
          </a:lstStyle>
          <a:p>
            <a:pPr/>
            <a:r>
              <a:t>Ръчно форматиране на низове</a:t>
            </a:r>
          </a:p>
        </p:txBody>
      </p:sp>
      <p:sp>
        <p:nvSpPr>
          <p:cNvPr id="504" name="Съществува и метод str.zfill(), който подравнява низа вдясно като вместо празни позиции добавя нули. Нулите се добавят след знака на числото:"/>
          <p:cNvSpPr txBox="1"/>
          <p:nvPr>
            <p:ph type="body" idx="1"/>
          </p:nvPr>
        </p:nvSpPr>
        <p:spPr>
          <a:prstGeom prst="rect">
            <a:avLst/>
          </a:prstGeom>
        </p:spPr>
        <p:txBody>
          <a:bodyPr/>
          <a:lstStyle/>
          <a:p>
            <a:pPr/>
            <a:r>
              <a:t>Съществува и метод str.zfill(), който подравнява низа вдясно като вместо празни позиции добавя нули. Нулите се добавят след знака на числото:</a:t>
            </a:r>
          </a:p>
          <a:p>
            <a:pPr/>
          </a:p>
          <a:p>
            <a:pPr/>
          </a:p>
        </p:txBody>
      </p:sp>
      <p:pic>
        <p:nvPicPr>
          <p:cNvPr id="505" name="Image" descr="Image"/>
          <p:cNvPicPr>
            <a:picLocks noChangeAspect="1"/>
          </p:cNvPicPr>
          <p:nvPr/>
        </p:nvPicPr>
        <p:blipFill>
          <a:blip r:embed="rId2">
            <a:extLst/>
          </a:blip>
          <a:stretch>
            <a:fillRect/>
          </a:stretch>
        </p:blipFill>
        <p:spPr>
          <a:xfrm>
            <a:off x="2844800" y="5664200"/>
            <a:ext cx="7315200" cy="3302000"/>
          </a:xfrm>
          <a:prstGeom prst="rect">
            <a:avLst/>
          </a:prstGeom>
          <a:ln w="12700">
            <a:miter lim="400000"/>
          </a:ln>
        </p:spPr>
      </p:pic>
    </p:spTree>
  </p:cSld>
  <p:clrMapOvr>
    <a:masterClrMapping/>
  </p:clrMapOvr>
  <p:transition xmlns:p14="http://schemas.microsoft.com/office/powerpoint/2010/main" spd="med" advClick="1"/>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7" name="Old string formatting"/>
          <p:cNvSpPr txBox="1"/>
          <p:nvPr>
            <p:ph type="title"/>
          </p:nvPr>
        </p:nvSpPr>
        <p:spPr>
          <a:prstGeom prst="rect">
            <a:avLst/>
          </a:prstGeom>
        </p:spPr>
        <p:txBody>
          <a:bodyPr/>
          <a:lstStyle/>
          <a:p>
            <a:pPr/>
            <a:r>
              <a:t>Old string formatting</a:t>
            </a:r>
          </a:p>
        </p:txBody>
      </p:sp>
      <p:sp>
        <p:nvSpPr>
          <p:cNvPr id="508" name="Операцията % също може да се използва за форматиране на низове. Тя се интерпретира както в функцията sprintf() - левият аргумент е форматиращ низ, който се прилага върху десния. Операцията връща форматирания низ. Например:"/>
          <p:cNvSpPr txBox="1"/>
          <p:nvPr>
            <p:ph type="body" idx="1"/>
          </p:nvPr>
        </p:nvSpPr>
        <p:spPr>
          <a:prstGeom prst="rect">
            <a:avLst/>
          </a:prstGeom>
        </p:spPr>
        <p:txBody>
          <a:bodyPr/>
          <a:lstStyle/>
          <a:p>
            <a:pPr/>
            <a:r>
              <a:t>Операцията % също може да се използва за форматиране на низове. Тя се интерпретира както в функцията sprintf() - левият аргумент е форматиращ низ, който се прилага върху десния. Операцията връща форматирания низ. Например:</a:t>
            </a:r>
          </a:p>
          <a:p>
            <a:pPr/>
          </a:p>
        </p:txBody>
      </p:sp>
      <p:pic>
        <p:nvPicPr>
          <p:cNvPr id="509" name="Image" descr="Image"/>
          <p:cNvPicPr>
            <a:picLocks noChangeAspect="1"/>
          </p:cNvPicPr>
          <p:nvPr/>
        </p:nvPicPr>
        <p:blipFill>
          <a:blip r:embed="rId2">
            <a:extLst/>
          </a:blip>
          <a:stretch>
            <a:fillRect/>
          </a:stretch>
        </p:blipFill>
        <p:spPr>
          <a:xfrm>
            <a:off x="0" y="6457170"/>
            <a:ext cx="13004800" cy="1792260"/>
          </a:xfrm>
          <a:prstGeom prst="rect">
            <a:avLst/>
          </a:prstGeom>
          <a:ln w="12700">
            <a:miter lim="400000"/>
          </a:ln>
        </p:spPr>
      </p:pic>
    </p:spTree>
  </p:cSld>
  <p:clrMapOvr>
    <a:masterClrMapping/>
  </p:clrMapOvr>
  <p:transition xmlns:p14="http://schemas.microsoft.com/office/powerpoint/2010/main" spd="med" advClick="1"/>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1" name="Четене и запис от файлове"/>
          <p:cNvSpPr txBox="1"/>
          <p:nvPr>
            <p:ph type="title"/>
          </p:nvPr>
        </p:nvSpPr>
        <p:spPr>
          <a:prstGeom prst="rect">
            <a:avLst/>
          </a:prstGeom>
        </p:spPr>
        <p:txBody>
          <a:bodyPr/>
          <a:lstStyle>
            <a:lvl1pPr defTabSz="508254">
              <a:defRPr sz="6960"/>
            </a:lvl1pPr>
          </a:lstStyle>
          <a:p>
            <a:pPr/>
            <a:r>
              <a:t>Четене и запис от файлове</a:t>
            </a:r>
          </a:p>
        </p:txBody>
      </p:sp>
      <p:sp>
        <p:nvSpPr>
          <p:cNvPr id="512" name="Функцията open() връща файлов обект. Обичайното използване на функцията е с два аргумента: open(filename, mode)…"/>
          <p:cNvSpPr txBox="1"/>
          <p:nvPr>
            <p:ph type="body" idx="1"/>
          </p:nvPr>
        </p:nvSpPr>
        <p:spPr>
          <a:prstGeom prst="rect">
            <a:avLst/>
          </a:prstGeom>
        </p:spPr>
        <p:txBody>
          <a:bodyPr/>
          <a:lstStyle/>
          <a:p>
            <a:pPr marL="351155" indent="-351155" defTabSz="461518">
              <a:spcBef>
                <a:spcPts val="3300"/>
              </a:spcBef>
              <a:defRPr sz="2844"/>
            </a:pPr>
            <a:r>
              <a:t>Функцията open() връща файлов обект. Обичайното използване на функцията е с два аргумента:</a:t>
            </a:r>
            <a:br/>
            <a:r>
              <a:t>open(filename, mode)</a:t>
            </a:r>
          </a:p>
          <a:p>
            <a:pPr marL="351155" indent="-351155" defTabSz="461518">
              <a:spcBef>
                <a:spcPts val="3300"/>
              </a:spcBef>
              <a:defRPr sz="2844"/>
            </a:pPr>
          </a:p>
          <a:p>
            <a:pPr marL="351155" indent="-351155" defTabSz="461518">
              <a:spcBef>
                <a:spcPts val="3300"/>
              </a:spcBef>
              <a:defRPr sz="2844"/>
            </a:pPr>
            <a:r>
              <a:t>Първият аргумент на функцията е низ, в който е записано името на файла. Вторият аргумент е низ, задаващ режима на работа. Той може да бъде 'r' - файлът се отваря само за четене (той трябва да съществува), 'w' - файлът се отваря само за запис (ако файлът съществува се изтрива) и 'a' - файлът се отваря за дозапис в неговия край. Файлът можо да се отвори и в комбиниран режим: 'r+' отваря файла за четене и запис. Ако не е поден аргумента mode, се подразбира’r'.</a:t>
            </a:r>
          </a:p>
        </p:txBody>
      </p:sp>
      <p:pic>
        <p:nvPicPr>
          <p:cNvPr id="513" name="Image" descr="Image"/>
          <p:cNvPicPr>
            <a:picLocks noChangeAspect="1"/>
          </p:cNvPicPr>
          <p:nvPr/>
        </p:nvPicPr>
        <p:blipFill>
          <a:blip r:embed="rId2">
            <a:extLst/>
          </a:blip>
          <a:stretch>
            <a:fillRect/>
          </a:stretch>
        </p:blipFill>
        <p:spPr>
          <a:xfrm>
            <a:off x="2832100" y="4038600"/>
            <a:ext cx="7340600" cy="1066800"/>
          </a:xfrm>
          <a:prstGeom prst="rect">
            <a:avLst/>
          </a:prstGeom>
          <a:ln w="12700">
            <a:miter lim="400000"/>
          </a:ln>
        </p:spPr>
      </p:pic>
    </p:spTree>
  </p:cSld>
  <p:clrMapOvr>
    <a:masterClrMapping/>
  </p:clrMapOvr>
  <p:transition xmlns:p14="http://schemas.microsoft.com/office/powerpoint/2010/main" spd="med" advClick="1"/>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5" name="Четене и запис от файлове"/>
          <p:cNvSpPr txBox="1"/>
          <p:nvPr>
            <p:ph type="title"/>
          </p:nvPr>
        </p:nvSpPr>
        <p:spPr>
          <a:prstGeom prst="rect">
            <a:avLst/>
          </a:prstGeom>
        </p:spPr>
        <p:txBody>
          <a:bodyPr/>
          <a:lstStyle>
            <a:lvl1pPr defTabSz="508254">
              <a:defRPr sz="6960"/>
            </a:lvl1pPr>
          </a:lstStyle>
          <a:p>
            <a:pPr/>
            <a:r>
              <a:t>Четене и запис от файлове</a:t>
            </a:r>
          </a:p>
        </p:txBody>
      </p:sp>
      <p:sp>
        <p:nvSpPr>
          <p:cNvPr id="516" name="Обикновено файловете се отварят в текстов режим, което означава, че се четат и записват низове в съответния encoding. Ако encoding не е зададен, по подразбиране той заивси от платформата, която се използва. Ако в режима на работа се използва ‘b’, файлът "/>
          <p:cNvSpPr txBox="1"/>
          <p:nvPr>
            <p:ph type="body" idx="1"/>
          </p:nvPr>
        </p:nvSpPr>
        <p:spPr>
          <a:prstGeom prst="rect">
            <a:avLst/>
          </a:prstGeom>
        </p:spPr>
        <p:txBody>
          <a:bodyPr/>
          <a:lstStyle/>
          <a:p>
            <a:pPr marL="337820" indent="-337820" defTabSz="443991">
              <a:spcBef>
                <a:spcPts val="3100"/>
              </a:spcBef>
              <a:defRPr sz="2736"/>
            </a:pPr>
            <a:r>
              <a:t>Обикновено файловете се отварят в текстов режим, което означава, че се четат и записват низове в съответния encoding. Ако encoding не е зададен, по подразбиране той заивси от платформата, която се използва. Ако в режима на работа се използва ‘b’, файлът се отваря в двоичен режим. В този случай  данните се четат и записват като обекти от байтове.. Този режим се използва за всички файлове, които не съдържат текст.</a:t>
            </a:r>
          </a:p>
          <a:p>
            <a:pPr marL="337820" indent="-337820" defTabSz="443991">
              <a:spcBef>
                <a:spcPts val="3100"/>
              </a:spcBef>
              <a:defRPr sz="2736"/>
            </a:pPr>
            <a:r>
              <a:t>В текстов режим, когато се чете се конвертира платформено-зависимия край на ред (\n в Unix, \r\n в Windows) към \n. Когато се записва в текстов режим се прави обратното конвертиране. Това конвертиране се извършва автоматично само и единствено в текстов режим.  Затова той не трябва да се ползва при двоични данни като JPEG или EXE файлове. Затова при тези файлове трябва да се използва двоичен режим за четене и запис.</a:t>
            </a:r>
          </a:p>
        </p:txBody>
      </p:sp>
    </p:spTree>
  </p:cSld>
  <p:clrMapOvr>
    <a:masterClrMapping/>
  </p:clrMapOvr>
  <p:transition xmlns:p14="http://schemas.microsoft.com/office/powerpoint/2010/main" spd="med" advClick="1"/>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8" name="Четене и запис от файлове"/>
          <p:cNvSpPr txBox="1"/>
          <p:nvPr>
            <p:ph type="title"/>
          </p:nvPr>
        </p:nvSpPr>
        <p:spPr>
          <a:prstGeom prst="rect">
            <a:avLst/>
          </a:prstGeom>
        </p:spPr>
        <p:txBody>
          <a:bodyPr/>
          <a:lstStyle>
            <a:lvl1pPr defTabSz="508254">
              <a:defRPr sz="6960"/>
            </a:lvl1pPr>
          </a:lstStyle>
          <a:p>
            <a:pPr/>
            <a:r>
              <a:t>Четене и запис от файлове</a:t>
            </a:r>
          </a:p>
        </p:txBody>
      </p:sp>
      <p:sp>
        <p:nvSpPr>
          <p:cNvPr id="519" name="Добра практика е да се използват ключови думи, когато се работи с файлови обекти. Предимството на този подход е, че файлът се затваря автоматично след приключване на работата с него, дори да е възникнала  изключителна ситуация (exception). Използване на "/>
          <p:cNvSpPr txBox="1"/>
          <p:nvPr>
            <p:ph type="body" idx="1"/>
          </p:nvPr>
        </p:nvSpPr>
        <p:spPr>
          <a:prstGeom prst="rect">
            <a:avLst/>
          </a:prstGeom>
        </p:spPr>
        <p:txBody>
          <a:bodyPr/>
          <a:lstStyle/>
          <a:p>
            <a:pPr marL="400050" indent="-400050" defTabSz="525779">
              <a:spcBef>
                <a:spcPts val="3700"/>
              </a:spcBef>
              <a:defRPr sz="3239"/>
            </a:pPr>
            <a:r>
              <a:t>Добра практика е да се използват ключови думи, когато се работи с файлови обекти. Предимството на този подход е, че файлът се затваря автоматично след приключване на работата с него, дори да е възникнала  изключителна ситуация (exception). Използване на with е по-лесно, отколкото използването на блок try-finally:</a:t>
            </a:r>
          </a:p>
          <a:p>
            <a:pPr marL="400050" indent="-400050" defTabSz="525779">
              <a:spcBef>
                <a:spcPts val="3700"/>
              </a:spcBef>
              <a:defRPr sz="3239"/>
            </a:pPr>
          </a:p>
          <a:p>
            <a:pPr marL="400050" indent="-400050" defTabSz="525779">
              <a:spcBef>
                <a:spcPts val="3700"/>
              </a:spcBef>
              <a:defRPr sz="3239"/>
            </a:pPr>
          </a:p>
        </p:txBody>
      </p:sp>
      <p:pic>
        <p:nvPicPr>
          <p:cNvPr id="520" name="Image" descr="Image"/>
          <p:cNvPicPr>
            <a:picLocks noChangeAspect="1"/>
          </p:cNvPicPr>
          <p:nvPr/>
        </p:nvPicPr>
        <p:blipFill>
          <a:blip r:embed="rId2">
            <a:extLst/>
          </a:blip>
          <a:stretch>
            <a:fillRect/>
          </a:stretch>
        </p:blipFill>
        <p:spPr>
          <a:xfrm>
            <a:off x="0" y="6423396"/>
            <a:ext cx="13004800" cy="2723409"/>
          </a:xfrm>
          <a:prstGeom prst="rect">
            <a:avLst/>
          </a:prstGeom>
          <a:ln w="12700">
            <a:miter lim="400000"/>
          </a:ln>
        </p:spPr>
      </p:pic>
    </p:spTree>
  </p:cSld>
  <p:clrMapOvr>
    <a:masterClrMapping/>
  </p:clrMapOvr>
  <p:transition xmlns:p14="http://schemas.microsoft.com/office/powerpoint/2010/main" spd="med" advClick="1"/>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2" name="Четене и запис от файлове"/>
          <p:cNvSpPr txBox="1"/>
          <p:nvPr>
            <p:ph type="title"/>
          </p:nvPr>
        </p:nvSpPr>
        <p:spPr>
          <a:prstGeom prst="rect">
            <a:avLst/>
          </a:prstGeom>
        </p:spPr>
        <p:txBody>
          <a:bodyPr/>
          <a:lstStyle>
            <a:lvl1pPr defTabSz="508254">
              <a:defRPr sz="6960"/>
            </a:lvl1pPr>
          </a:lstStyle>
          <a:p>
            <a:pPr/>
            <a:r>
              <a:t>Четене и запис от файлове</a:t>
            </a:r>
          </a:p>
        </p:txBody>
      </p:sp>
      <p:sp>
        <p:nvSpPr>
          <p:cNvPr id="523" name="Ако не се използва ключова дума with, трябва да се извика f.close() за затваряне на файла и да се освободят системните ресурси, използвани за файла. Ако не се затвори явно файла, Python’s garbage collector ще унищожи обекта и ще затвори отворения файл, н"/>
          <p:cNvSpPr txBox="1"/>
          <p:nvPr>
            <p:ph type="body" idx="1"/>
          </p:nvPr>
        </p:nvSpPr>
        <p:spPr>
          <a:prstGeom prst="rect">
            <a:avLst/>
          </a:prstGeom>
        </p:spPr>
        <p:txBody>
          <a:bodyPr/>
          <a:lstStyle/>
          <a:p>
            <a:pPr/>
            <a:r>
              <a:t>Ако не се използва ключова дума with, трябва да се извика f.close() за затваряне на файла и да се освободят системните ресурси, използвани за файла. Ако не се затвори явно файла, Python’s garbage collector ще унищожи обекта и ще затвори отворения файл, но той ще остане отворен за известно време.  Другият риск е, че различните реализации на Python ще направят това почистване (clean-up) по различно време.</a:t>
            </a:r>
          </a:p>
        </p:txBody>
      </p:sp>
    </p:spTree>
  </p:cSld>
  <p:clrMapOvr>
    <a:masterClrMapping/>
  </p:clrMapOvr>
  <p:transition xmlns:p14="http://schemas.microsoft.com/office/powerpoint/2010/main" spd="med" advClick="1"/>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5" name="Четене и запис от файлове"/>
          <p:cNvSpPr txBox="1"/>
          <p:nvPr>
            <p:ph type="title"/>
          </p:nvPr>
        </p:nvSpPr>
        <p:spPr>
          <a:prstGeom prst="rect">
            <a:avLst/>
          </a:prstGeom>
        </p:spPr>
        <p:txBody>
          <a:bodyPr/>
          <a:lstStyle>
            <a:lvl1pPr defTabSz="508254">
              <a:defRPr sz="6960"/>
            </a:lvl1pPr>
          </a:lstStyle>
          <a:p>
            <a:pPr/>
            <a:r>
              <a:t>Четене и запис от файлове</a:t>
            </a:r>
          </a:p>
        </p:txBody>
      </p:sp>
      <p:sp>
        <p:nvSpPr>
          <p:cNvPr id="526" name="След затваряне на файловия обект е затворен или с оператор with, или с f.close(), опит да се използва файловия обект след затваряне пропада:"/>
          <p:cNvSpPr txBox="1"/>
          <p:nvPr>
            <p:ph type="body" idx="1"/>
          </p:nvPr>
        </p:nvSpPr>
        <p:spPr>
          <a:prstGeom prst="rect">
            <a:avLst/>
          </a:prstGeom>
        </p:spPr>
        <p:txBody>
          <a:bodyPr/>
          <a:lstStyle/>
          <a:p>
            <a:pPr/>
            <a:r>
              <a:t>След затваряне на файловия обект е затворен или с оператор with, или с f.close(), опит да се използва файловия обект след затваряне пропада:</a:t>
            </a:r>
          </a:p>
        </p:txBody>
      </p:sp>
      <p:pic>
        <p:nvPicPr>
          <p:cNvPr id="527" name="Image" descr="Image"/>
          <p:cNvPicPr>
            <a:picLocks noChangeAspect="1"/>
          </p:cNvPicPr>
          <p:nvPr/>
        </p:nvPicPr>
        <p:blipFill>
          <a:blip r:embed="rId2">
            <a:extLst/>
          </a:blip>
          <a:stretch>
            <a:fillRect/>
          </a:stretch>
        </p:blipFill>
        <p:spPr>
          <a:xfrm>
            <a:off x="1244600" y="6438900"/>
            <a:ext cx="10515600" cy="2768600"/>
          </a:xfrm>
          <a:prstGeom prst="rect">
            <a:avLst/>
          </a:prstGeom>
          <a:ln w="12700">
            <a:miter lim="400000"/>
          </a:ln>
        </p:spPr>
      </p:pic>
    </p:spTree>
  </p:cSld>
  <p:clrMapOvr>
    <a:masterClrMapping/>
  </p:clrMapOvr>
  <p:transition xmlns:p14="http://schemas.microsoft.com/office/powerpoint/2010/main" spd="med" advClick="1"/>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9"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30" name="За четене съдържанието на файла, се използва f.read(size). Методът чете size броя данни и ги връща като низ (в текстов режим) или като байтов обект (в двоичен режим). Параметърът size е незадължителен. Когато не е зададен или е отрицателно число, се проч"/>
          <p:cNvSpPr txBox="1"/>
          <p:nvPr>
            <p:ph type="body" idx="1"/>
          </p:nvPr>
        </p:nvSpPr>
        <p:spPr>
          <a:prstGeom prst="rect">
            <a:avLst/>
          </a:prstGeom>
        </p:spPr>
        <p:txBody>
          <a:bodyPr/>
          <a:lstStyle>
            <a:lvl1pPr marL="404495" indent="-404495" defTabSz="531622">
              <a:spcBef>
                <a:spcPts val="3800"/>
              </a:spcBef>
              <a:defRPr sz="3276"/>
            </a:lvl1pPr>
          </a:lstStyle>
          <a:p>
            <a:pPr/>
            <a:r>
              <a:t>За четене съдържанието на файла, се използва f.read(size). Методът чете size броя данни и ги връща като низ (в текстов режим) или като байтов обект (в двоичен режим). Параметърът size е незадължителен. Когато не е зададен или е отрицателно число, се прочита целия файл и се връща неговото съдържание. Проблем ще настъпи, ако размерът на файла е по-голям от оперативната памет. В противен случай се четат и връщат size символа (в текстов режим) or size байта (в двоичен режим). Ако краят на файла (the end of the file, EOF) се достигне, f.read() ще върне празен низ ('').</a:t>
            </a:r>
          </a:p>
        </p:txBody>
      </p:sp>
    </p:spTree>
  </p:cSld>
  <p:clrMapOvr>
    <a:masterClrMapping/>
  </p:clrMapOvr>
  <p:transition xmlns:p14="http://schemas.microsoft.com/office/powerpoint/2010/main" spd="med" advClick="1"/>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2"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33" name="Пример:…"/>
          <p:cNvSpPr txBox="1"/>
          <p:nvPr>
            <p:ph type="body" idx="1"/>
          </p:nvPr>
        </p:nvSpPr>
        <p:spPr>
          <a:prstGeom prst="rect">
            <a:avLst/>
          </a:prstGeom>
        </p:spPr>
        <p:txBody>
          <a:bodyPr/>
          <a:lstStyle/>
          <a:p>
            <a:pPr marL="413384" indent="-413384" defTabSz="543305">
              <a:spcBef>
                <a:spcPts val="3900"/>
              </a:spcBef>
              <a:defRPr sz="3348"/>
            </a:pPr>
            <a:r>
              <a:t>Пример:</a:t>
            </a:r>
          </a:p>
          <a:p>
            <a:pPr marL="413384" indent="-413384" defTabSz="543305">
              <a:spcBef>
                <a:spcPts val="3900"/>
              </a:spcBef>
              <a:defRPr sz="3348"/>
            </a:pPr>
          </a:p>
          <a:p>
            <a:pPr marL="413384" indent="-413384" defTabSz="543305">
              <a:spcBef>
                <a:spcPts val="3900"/>
              </a:spcBef>
              <a:defRPr sz="3348"/>
            </a:pPr>
          </a:p>
          <a:p>
            <a:pPr marL="413384" indent="-413384" defTabSz="543305">
              <a:spcBef>
                <a:spcPts val="3900"/>
              </a:spcBef>
              <a:defRPr sz="3348"/>
            </a:pPr>
            <a:r>
              <a:t>f.readline() чете един ред от файла; символа за нов ред (\n) се оставя в края на низа и липсва само ако е достигнат края на файла и там няма нов ред. Ако f.readline() върне празен низ, значи е достигнат EOF, докато ако се прочете празен низ, върнатият резултат съдържа само ‘\n',.</a:t>
            </a:r>
          </a:p>
        </p:txBody>
      </p:sp>
      <p:pic>
        <p:nvPicPr>
          <p:cNvPr id="534" name="Image" descr="Image"/>
          <p:cNvPicPr>
            <a:picLocks noChangeAspect="1"/>
          </p:cNvPicPr>
          <p:nvPr/>
        </p:nvPicPr>
        <p:blipFill>
          <a:blip r:embed="rId2">
            <a:extLst/>
          </a:blip>
          <a:stretch>
            <a:fillRect/>
          </a:stretch>
        </p:blipFill>
        <p:spPr>
          <a:xfrm>
            <a:off x="3810000" y="2540000"/>
            <a:ext cx="7061200" cy="2540000"/>
          </a:xfrm>
          <a:prstGeom prst="rect">
            <a:avLst/>
          </a:prstGeom>
          <a:ln w="12700">
            <a:miter lim="400000"/>
          </a:ln>
        </p:spPr>
      </p:pic>
    </p:spTree>
  </p:cSld>
  <p:clrMapOvr>
    <a:masterClrMapping/>
  </p:clrMapOvr>
  <p:transition xmlns:p14="http://schemas.microsoft.com/office/powerpoint/2010/main" spd="med" advClick="1"/>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6"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37" name="Пример:"/>
          <p:cNvSpPr txBox="1"/>
          <p:nvPr>
            <p:ph type="body" idx="1"/>
          </p:nvPr>
        </p:nvSpPr>
        <p:spPr>
          <a:prstGeom prst="rect">
            <a:avLst/>
          </a:prstGeom>
        </p:spPr>
        <p:txBody>
          <a:bodyPr/>
          <a:lstStyle/>
          <a:p>
            <a:pPr/>
            <a:r>
              <a:t>Пример:</a:t>
            </a:r>
          </a:p>
          <a:p>
            <a:pPr/>
          </a:p>
          <a:p>
            <a:pPr/>
          </a:p>
          <a:p>
            <a:pPr/>
          </a:p>
          <a:p>
            <a:pPr/>
          </a:p>
        </p:txBody>
      </p:sp>
      <p:pic>
        <p:nvPicPr>
          <p:cNvPr id="538" name="Image" descr="Image"/>
          <p:cNvPicPr>
            <a:picLocks noChangeAspect="1"/>
          </p:cNvPicPr>
          <p:nvPr/>
        </p:nvPicPr>
        <p:blipFill>
          <a:blip r:embed="rId2">
            <a:extLst/>
          </a:blip>
          <a:stretch>
            <a:fillRect/>
          </a:stretch>
        </p:blipFill>
        <p:spPr>
          <a:xfrm>
            <a:off x="1676400" y="3441700"/>
            <a:ext cx="9652000" cy="3251200"/>
          </a:xfrm>
          <a:prstGeom prst="rect">
            <a:avLst/>
          </a:prstGeom>
          <a:ln w="12700">
            <a:miter lim="400000"/>
          </a:ln>
        </p:spPr>
      </p:pic>
    </p:spTree>
  </p:cSld>
  <p:clrMapOvr>
    <a:masterClrMapping/>
  </p:clrMapOvr>
  <p:transition xmlns:p14="http://schemas.microsoft.com/office/powerpoint/2010/main" spd="med" advClick="1"/>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0"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41" name="За четене на редове от файла, може да се използва цикъл за обхождане на файловия обект. Това е ефективно и бързо решение:"/>
          <p:cNvSpPr txBox="1"/>
          <p:nvPr>
            <p:ph type="body" idx="1"/>
          </p:nvPr>
        </p:nvSpPr>
        <p:spPr>
          <a:prstGeom prst="rect">
            <a:avLst/>
          </a:prstGeom>
        </p:spPr>
        <p:txBody>
          <a:bodyPr/>
          <a:lstStyle/>
          <a:p>
            <a:pPr/>
            <a:r>
              <a:t>За четене на редове от файла, може да се използва цикъл за обхождане на файловия обект. Това е ефективно и бързо решение:</a:t>
            </a:r>
          </a:p>
          <a:p>
            <a:pPr/>
          </a:p>
          <a:p>
            <a:pPr/>
          </a:p>
          <a:p>
            <a:pPr/>
          </a:p>
        </p:txBody>
      </p:sp>
      <p:pic>
        <p:nvPicPr>
          <p:cNvPr id="542" name="Image" descr="Image"/>
          <p:cNvPicPr>
            <a:picLocks noChangeAspect="1"/>
          </p:cNvPicPr>
          <p:nvPr/>
        </p:nvPicPr>
        <p:blipFill>
          <a:blip r:embed="rId2">
            <a:extLst/>
          </a:blip>
          <a:stretch>
            <a:fillRect/>
          </a:stretch>
        </p:blipFill>
        <p:spPr>
          <a:xfrm>
            <a:off x="2044700" y="5054600"/>
            <a:ext cx="8915400" cy="2870200"/>
          </a:xfrm>
          <a:prstGeom prst="rect">
            <a:avLst/>
          </a:prstGeom>
          <a:ln w="12700">
            <a:miter lim="400000"/>
          </a:ln>
        </p:spPr>
      </p:pic>
    </p:spTree>
  </p:cSld>
  <p:clrMapOvr>
    <a:masterClrMapping/>
  </p:clrMapOvr>
  <p:transition xmlns:p14="http://schemas.microsoft.com/office/powerpoint/2010/main" spd="med" advClick="1"/>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4"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45" name="Ако трябва да се прочетат всички редове от файла в списък, трябва да се използва list(f) или f.readlines().…"/>
          <p:cNvSpPr txBox="1"/>
          <p:nvPr>
            <p:ph type="body" idx="1"/>
          </p:nvPr>
        </p:nvSpPr>
        <p:spPr>
          <a:prstGeom prst="rect">
            <a:avLst/>
          </a:prstGeom>
        </p:spPr>
        <p:txBody>
          <a:bodyPr/>
          <a:lstStyle/>
          <a:p>
            <a:pPr/>
            <a:r>
              <a:t>Ако трябва да се прочетат всички редове от файла в списък, трябва да се използва list(f) или f.readlines().</a:t>
            </a:r>
          </a:p>
          <a:p>
            <a:pPr/>
            <a:r>
              <a:t>f.write(string) записва съдържанието на низа във файл, връщайки броя на записаните символи:</a:t>
            </a:r>
          </a:p>
          <a:p>
            <a:pPr/>
          </a:p>
        </p:txBody>
      </p:sp>
      <p:pic>
        <p:nvPicPr>
          <p:cNvPr id="546" name="Image" descr="Image"/>
          <p:cNvPicPr>
            <a:picLocks noChangeAspect="1"/>
          </p:cNvPicPr>
          <p:nvPr/>
        </p:nvPicPr>
        <p:blipFill>
          <a:blip r:embed="rId2">
            <a:extLst/>
          </a:blip>
          <a:stretch>
            <a:fillRect/>
          </a:stretch>
        </p:blipFill>
        <p:spPr>
          <a:xfrm>
            <a:off x="2514600" y="6413500"/>
            <a:ext cx="7975600" cy="1422400"/>
          </a:xfrm>
          <a:prstGeom prst="rect">
            <a:avLst/>
          </a:prstGeom>
          <a:ln w="12700">
            <a:miter lim="400000"/>
          </a:ln>
        </p:spPr>
      </p:pic>
    </p:spTree>
  </p:cSld>
  <p:clrMapOvr>
    <a:masterClrMapping/>
  </p:clrMapOvr>
  <p:transition xmlns:p14="http://schemas.microsoft.com/office/powerpoint/2010/main" spd="med" advClick="1"/>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8"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49" name="Други типове обекти трябва да се конвертират - или до string (в текстов режим), или към bytes object (в двоичен режим) – преди да бъдат записани:"/>
          <p:cNvSpPr txBox="1"/>
          <p:nvPr>
            <p:ph type="body" idx="1"/>
          </p:nvPr>
        </p:nvSpPr>
        <p:spPr>
          <a:prstGeom prst="rect">
            <a:avLst/>
          </a:prstGeom>
        </p:spPr>
        <p:txBody>
          <a:bodyPr/>
          <a:lstStyle/>
          <a:p>
            <a:pPr/>
            <a:r>
              <a:t>Други типове обекти трябва да се конвертират - или до string (в текстов режим), или към bytes object (в двоичен режим) – преди да бъдат записани:</a:t>
            </a:r>
          </a:p>
          <a:p>
            <a:pPr/>
          </a:p>
        </p:txBody>
      </p:sp>
      <p:pic>
        <p:nvPicPr>
          <p:cNvPr id="550" name="Image" descr="Image"/>
          <p:cNvPicPr>
            <a:picLocks noChangeAspect="1"/>
          </p:cNvPicPr>
          <p:nvPr/>
        </p:nvPicPr>
        <p:blipFill>
          <a:blip r:embed="rId2">
            <a:extLst/>
          </a:blip>
          <a:stretch>
            <a:fillRect/>
          </a:stretch>
        </p:blipFill>
        <p:spPr>
          <a:xfrm>
            <a:off x="431800" y="5918200"/>
            <a:ext cx="12141200" cy="2336800"/>
          </a:xfrm>
          <a:prstGeom prst="rect">
            <a:avLst/>
          </a:prstGeom>
          <a:ln w="12700">
            <a:miter lim="400000"/>
          </a:ln>
        </p:spPr>
      </p:pic>
    </p:spTree>
  </p:cSld>
  <p:clrMapOvr>
    <a:masterClrMapping/>
  </p:clrMapOvr>
  <p:transition xmlns:p14="http://schemas.microsoft.com/office/powerpoint/2010/main" spd="med" advClick="1"/>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2"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53" name="f.tell() връща цяло число, даващо текущата позиция във файла, т.е. броя байтове от началото на файла при работа в двоичен режим и opaque number в текстов режим.…"/>
          <p:cNvSpPr txBox="1"/>
          <p:nvPr>
            <p:ph type="body" idx="1"/>
          </p:nvPr>
        </p:nvSpPr>
        <p:spPr>
          <a:prstGeom prst="rect">
            <a:avLst/>
          </a:prstGeom>
        </p:spPr>
        <p:txBody>
          <a:bodyPr/>
          <a:lstStyle/>
          <a:p>
            <a:pPr marL="386715" indent="-386715" defTabSz="508254">
              <a:spcBef>
                <a:spcPts val="3600"/>
              </a:spcBef>
              <a:defRPr sz="3132"/>
            </a:pPr>
            <a:r>
              <a:t>f.tell() връща цяло число, даващо текущата позиция във файла, т.е. броя байтове от началото на файла при работа в двоичен режим и opaque number в текстов режим.</a:t>
            </a:r>
          </a:p>
          <a:p>
            <a:pPr marL="386715" indent="-386715" defTabSz="508254">
              <a:spcBef>
                <a:spcPts val="3600"/>
              </a:spcBef>
              <a:defRPr sz="3132"/>
            </a:pPr>
            <a:r>
              <a:t>За промяна на позицията на файловия обект, се използва f.seek(offset, whence). Позицията се изчислява чрез добавяне на offset към отправната точка. Тя се определя от аргумента whence. Когато whence е 0, отправната точка е началото на файла, 1 означава текущата файлова позиция, а 2 е края на файла. Аргументът whence може да се пропусне и се подразбира 0, т.е. отправната точка е началото на файла.</a:t>
            </a:r>
          </a:p>
        </p:txBody>
      </p:sp>
    </p:spTree>
  </p:cSld>
  <p:clrMapOvr>
    <a:masterClrMapping/>
  </p:clrMapOvr>
  <p:transition xmlns:p14="http://schemas.microsoft.com/office/powerpoint/2010/main" spd="med" advClick="1"/>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5"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56" name="Double-click to edit"/>
          <p:cNvSpPr txBox="1"/>
          <p:nvPr>
            <p:ph type="body" idx="1"/>
          </p:nvPr>
        </p:nvSpPr>
        <p:spPr>
          <a:prstGeom prst="rect">
            <a:avLst/>
          </a:prstGeom>
        </p:spPr>
        <p:txBody>
          <a:bodyPr/>
          <a:lstStyle/>
          <a:p>
            <a:pPr/>
          </a:p>
        </p:txBody>
      </p:sp>
      <p:pic>
        <p:nvPicPr>
          <p:cNvPr id="557" name="Image" descr="Image"/>
          <p:cNvPicPr>
            <a:picLocks noChangeAspect="1"/>
          </p:cNvPicPr>
          <p:nvPr/>
        </p:nvPicPr>
        <p:blipFill>
          <a:blip r:embed="rId2">
            <a:extLst/>
          </a:blip>
          <a:stretch>
            <a:fillRect/>
          </a:stretch>
        </p:blipFill>
        <p:spPr>
          <a:xfrm>
            <a:off x="0" y="3357210"/>
            <a:ext cx="13004800" cy="5502981"/>
          </a:xfrm>
          <a:prstGeom prst="rect">
            <a:avLst/>
          </a:prstGeom>
          <a:ln w="12700">
            <a:miter lim="400000"/>
          </a:ln>
        </p:spPr>
      </p:pic>
    </p:spTree>
  </p:cSld>
  <p:clrMapOvr>
    <a:masterClrMapping/>
  </p:clrMapOvr>
  <p:transition xmlns:p14="http://schemas.microsoft.com/office/powerpoint/2010/main" spd="med" advClick="1"/>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9" name="Методи на файлов обект"/>
          <p:cNvSpPr txBox="1"/>
          <p:nvPr>
            <p:ph type="title"/>
          </p:nvPr>
        </p:nvSpPr>
        <p:spPr>
          <a:prstGeom prst="rect">
            <a:avLst/>
          </a:prstGeom>
        </p:spPr>
        <p:txBody>
          <a:bodyPr/>
          <a:lstStyle>
            <a:lvl1pPr defTabSz="549148">
              <a:defRPr sz="7519"/>
            </a:lvl1pPr>
          </a:lstStyle>
          <a:p>
            <a:pPr/>
            <a:r>
              <a:t>Методи на файлов обект</a:t>
            </a:r>
          </a:p>
        </p:txBody>
      </p:sp>
      <p:sp>
        <p:nvSpPr>
          <p:cNvPr id="560" name="В текстовите файлове (отворени без b в параметъра mode) се допуска само позициониране спрямо началото на файла (освен случая, в който се позиционира в края на файла със seek(0, 2)). Единствената валидна стойност за offset е върнатата от f.tell() или нула"/>
          <p:cNvSpPr txBox="1"/>
          <p:nvPr>
            <p:ph type="body" idx="1"/>
          </p:nvPr>
        </p:nvSpPr>
        <p:spPr>
          <a:prstGeom prst="rect">
            <a:avLst/>
          </a:prstGeom>
        </p:spPr>
        <p:txBody>
          <a:bodyPr/>
          <a:lstStyle/>
          <a:p>
            <a:pPr marL="440055" indent="-440055" defTabSz="578358">
              <a:spcBef>
                <a:spcPts val="4100"/>
              </a:spcBef>
              <a:defRPr sz="3564"/>
            </a:pPr>
            <a:r>
              <a:t>В текстовите файлове (отворени без b в параметъра mode) се допуска само позициониране спрямо началото на файла (освен случая, в който се позиционира в края на файла със seek(0, 2)). Единствената валидна стойност за offset е върнатата от f.tell() или нула. Всяка друга стойност се счита неправилна и поведението на метода е недефинирано.</a:t>
            </a:r>
          </a:p>
          <a:p>
            <a:pPr marL="440055" indent="-440055" defTabSz="578358">
              <a:spcBef>
                <a:spcPts val="4100"/>
              </a:spcBef>
              <a:defRPr sz="3564"/>
            </a:pPr>
            <a:r>
              <a:t>File objects имат някои допълнителни методи като isatty() и truncate(), които са по-рядко използвани.</a:t>
            </a:r>
          </a:p>
        </p:txBody>
      </p:sp>
    </p:spTree>
  </p:cSld>
  <p:clrMapOvr>
    <a:masterClrMapping/>
  </p:clrMapOvr>
  <p:transition xmlns:p14="http://schemas.microsoft.com/office/powerpoint/2010/main" spd="med" advClick="1"/>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2" name="Saving structured data with json"/>
          <p:cNvSpPr txBox="1"/>
          <p:nvPr>
            <p:ph type="title"/>
          </p:nvPr>
        </p:nvSpPr>
        <p:spPr>
          <a:prstGeom prst="rect">
            <a:avLst/>
          </a:prstGeom>
        </p:spPr>
        <p:txBody>
          <a:bodyPr/>
          <a:lstStyle>
            <a:lvl1pPr defTabSz="490727">
              <a:defRPr sz="6719"/>
            </a:lvl1pPr>
          </a:lstStyle>
          <a:p>
            <a:pPr/>
            <a:r>
              <a:t>Saving structured data with json</a:t>
            </a:r>
          </a:p>
        </p:txBody>
      </p:sp>
      <p:sp>
        <p:nvSpPr>
          <p:cNvPr id="563" name="Низовете лесно могат да се записват и четат във файл. Числата се нуждаят от преобразуване, защото метода read() връща само strings, след което той трябва да се подаде на функция int(). Когато трябва да се съхранят по-сложни данни като вложени списъци и р"/>
          <p:cNvSpPr txBox="1"/>
          <p:nvPr>
            <p:ph type="body" idx="1"/>
          </p:nvPr>
        </p:nvSpPr>
        <p:spPr>
          <a:prstGeom prst="rect">
            <a:avLst/>
          </a:prstGeom>
        </p:spPr>
        <p:txBody>
          <a:bodyPr/>
          <a:lstStyle/>
          <a:p>
            <a:pPr marL="342264" indent="-342264" defTabSz="449833">
              <a:spcBef>
                <a:spcPts val="3200"/>
              </a:spcBef>
              <a:defRPr sz="2772"/>
            </a:pPr>
            <a:r>
              <a:t>Низовете лесно могат да се записват и четат във файл. Числата се нуждаят от преобразуване, защото метода read() връща само strings, след което той трябва да се подаде на функция int(). Когато трябва да се съхранят по-сложни данни като вложени списъци и речници, операции като parsing и serializing са сложни за изпълнение на ръка.</a:t>
            </a:r>
          </a:p>
          <a:p>
            <a:pPr marL="342264" indent="-342264" defTabSz="449833">
              <a:spcBef>
                <a:spcPts val="3200"/>
              </a:spcBef>
              <a:defRPr sz="2772"/>
            </a:pPr>
            <a:r>
              <a:t>Вместо подобни сложни процедури, Python поддържа работа с формата за обмен на данни JSON (JavaScript Object Notation). Стандартният модул json може да получи йерархични данни на Python и да ги преобразува до string. Този процес се нарича сериализация (serializing). Обратният процес на преобразуване се нарича десериализация (deserializing). Полученият string при сериализация може да бъде съхранен във файл или предаден по мрежата на отдалечена машина.</a:t>
            </a:r>
          </a:p>
        </p:txBody>
      </p:sp>
    </p:spTree>
  </p:cSld>
  <p:clrMapOvr>
    <a:masterClrMapping/>
  </p:clrMapOvr>
  <p:transition xmlns:p14="http://schemas.microsoft.com/office/powerpoint/2010/main" spd="med" advClick="1"/>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Saving structured data with json"/>
          <p:cNvSpPr txBox="1"/>
          <p:nvPr>
            <p:ph type="title"/>
          </p:nvPr>
        </p:nvSpPr>
        <p:spPr>
          <a:prstGeom prst="rect">
            <a:avLst/>
          </a:prstGeom>
        </p:spPr>
        <p:txBody>
          <a:bodyPr/>
          <a:lstStyle>
            <a:lvl1pPr defTabSz="490727">
              <a:defRPr sz="6719"/>
            </a:lvl1pPr>
          </a:lstStyle>
          <a:p>
            <a:pPr/>
            <a:r>
              <a:t>Saving structured data with json</a:t>
            </a:r>
          </a:p>
        </p:txBody>
      </p:sp>
      <p:sp>
        <p:nvSpPr>
          <p:cNvPr id="566" name="Обикновено форматът JSON се използва от съвременни приложения за предаване на данни между тях. Той се поддържа от различни езици и платформи и е често срещан избор от програмистите за информационен обмен.…"/>
          <p:cNvSpPr txBox="1"/>
          <p:nvPr>
            <p:ph type="body" idx="1"/>
          </p:nvPr>
        </p:nvSpPr>
        <p:spPr>
          <a:prstGeom prst="rect">
            <a:avLst/>
          </a:prstGeom>
        </p:spPr>
        <p:txBody>
          <a:bodyPr/>
          <a:lstStyle/>
          <a:p>
            <a:pPr/>
            <a:r>
              <a:t>Обикновено форматът JSON се използва от съвременни приложения за предаване на данни между тях. Той се поддържа от различни езици и платформи и е често срещан избор от програмистите за информационен обмен.</a:t>
            </a:r>
          </a:p>
          <a:p>
            <a:pPr/>
            <a:r>
              <a:t>Ако е даден обект x, може да се покаже неговото JSON string representation по следния начин:</a:t>
            </a:r>
          </a:p>
        </p:txBody>
      </p:sp>
      <p:pic>
        <p:nvPicPr>
          <p:cNvPr id="567" name="Image" descr="Image"/>
          <p:cNvPicPr>
            <a:picLocks noChangeAspect="1"/>
          </p:cNvPicPr>
          <p:nvPr/>
        </p:nvPicPr>
        <p:blipFill>
          <a:blip r:embed="rId2">
            <a:extLst/>
          </a:blip>
          <a:stretch>
            <a:fillRect/>
          </a:stretch>
        </p:blipFill>
        <p:spPr>
          <a:xfrm>
            <a:off x="1562100" y="7493000"/>
            <a:ext cx="9880600" cy="1828800"/>
          </a:xfrm>
          <a:prstGeom prst="rect">
            <a:avLst/>
          </a:prstGeom>
          <a:ln w="12700">
            <a:miter lim="400000"/>
          </a:ln>
        </p:spPr>
      </p:pic>
    </p:spTree>
  </p:cSld>
  <p:clrMapOvr>
    <a:masterClrMapping/>
  </p:clrMapOvr>
  <p:transition xmlns:p14="http://schemas.microsoft.com/office/powerpoint/2010/main" spd="med" advClick="1"/>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9" name="Saving structured data with json"/>
          <p:cNvSpPr txBox="1"/>
          <p:nvPr>
            <p:ph type="title"/>
          </p:nvPr>
        </p:nvSpPr>
        <p:spPr>
          <a:prstGeom prst="rect">
            <a:avLst/>
          </a:prstGeom>
        </p:spPr>
        <p:txBody>
          <a:bodyPr/>
          <a:lstStyle>
            <a:lvl1pPr defTabSz="490727">
              <a:defRPr sz="6719"/>
            </a:lvl1pPr>
          </a:lstStyle>
          <a:p>
            <a:pPr/>
            <a:r>
              <a:t>Saving structured data with json</a:t>
            </a:r>
          </a:p>
        </p:txBody>
      </p:sp>
      <p:sp>
        <p:nvSpPr>
          <p:cNvPr id="570" name="Друг вариант на функцията dumps() е dump(). Тя сериализира обекта в текстов файл. Ако f е текстов файл, отворен за запис, може да се напише:…"/>
          <p:cNvSpPr txBox="1"/>
          <p:nvPr>
            <p:ph type="body" idx="1"/>
          </p:nvPr>
        </p:nvSpPr>
        <p:spPr>
          <a:prstGeom prst="rect">
            <a:avLst/>
          </a:prstGeom>
        </p:spPr>
        <p:txBody>
          <a:bodyPr/>
          <a:lstStyle/>
          <a:p>
            <a:pPr marL="360045" indent="-360045" defTabSz="473201">
              <a:spcBef>
                <a:spcPts val="3400"/>
              </a:spcBef>
              <a:defRPr sz="2916"/>
            </a:pPr>
            <a:r>
              <a:t>Друг вариант на функцията dumps() е dump(). Тя сериализира обекта в текстов файл. Ако f е текстов файл, отворен за запис, може да се напише:</a:t>
            </a:r>
          </a:p>
          <a:p>
            <a:pPr marL="360045" indent="-360045" defTabSz="473201">
              <a:spcBef>
                <a:spcPts val="3400"/>
              </a:spcBef>
              <a:defRPr sz="2916"/>
            </a:pPr>
          </a:p>
          <a:p>
            <a:pPr marL="360045" indent="-360045" defTabSz="473201">
              <a:spcBef>
                <a:spcPts val="3400"/>
              </a:spcBef>
              <a:defRPr sz="2916"/>
            </a:pPr>
            <a:r>
              <a:t>За обратното преобразуване от низ в обект, ако f е текстов файл, отворен за четене:</a:t>
            </a:r>
          </a:p>
          <a:p>
            <a:pPr marL="360045" indent="-360045" defTabSz="473201">
              <a:spcBef>
                <a:spcPts val="3400"/>
              </a:spcBef>
              <a:defRPr sz="2916"/>
            </a:pPr>
          </a:p>
          <a:p>
            <a:pPr marL="360045" indent="-360045" defTabSz="473201">
              <a:spcBef>
                <a:spcPts val="3400"/>
              </a:spcBef>
              <a:defRPr sz="2916"/>
            </a:pPr>
            <a:r>
              <a:t>Тази проста сериализация може да се използва за списъци и речници, но сериализация на произволни класове в JSON изисква допълнителни усилия.</a:t>
            </a:r>
          </a:p>
        </p:txBody>
      </p:sp>
      <p:pic>
        <p:nvPicPr>
          <p:cNvPr id="571" name="Image" descr="Image"/>
          <p:cNvPicPr>
            <a:picLocks noChangeAspect="1"/>
          </p:cNvPicPr>
          <p:nvPr/>
        </p:nvPicPr>
        <p:blipFill>
          <a:blip r:embed="rId2">
            <a:extLst/>
          </a:blip>
          <a:stretch>
            <a:fillRect/>
          </a:stretch>
        </p:blipFill>
        <p:spPr>
          <a:xfrm>
            <a:off x="4495800" y="4038600"/>
            <a:ext cx="4013200" cy="990600"/>
          </a:xfrm>
          <a:prstGeom prst="rect">
            <a:avLst/>
          </a:prstGeom>
          <a:ln w="12700">
            <a:miter lim="400000"/>
          </a:ln>
        </p:spPr>
      </p:pic>
      <p:pic>
        <p:nvPicPr>
          <p:cNvPr id="572" name="Image" descr="Image"/>
          <p:cNvPicPr>
            <a:picLocks noChangeAspect="1"/>
          </p:cNvPicPr>
          <p:nvPr/>
        </p:nvPicPr>
        <p:blipFill>
          <a:blip r:embed="rId3">
            <a:extLst/>
          </a:blip>
          <a:stretch>
            <a:fillRect/>
          </a:stretch>
        </p:blipFill>
        <p:spPr>
          <a:xfrm>
            <a:off x="4432300" y="6057900"/>
            <a:ext cx="4140200" cy="965200"/>
          </a:xfrm>
          <a:prstGeom prst="rect">
            <a:avLst/>
          </a:prstGeom>
          <a:ln w="12700">
            <a:miter lim="400000"/>
          </a:ln>
        </p:spPr>
      </p:pic>
    </p:spTree>
  </p:cSld>
  <p:clrMapOvr>
    <a:masterClrMapping/>
  </p:clrMapOvr>
  <p:transition xmlns:p14="http://schemas.microsoft.com/office/powerpoint/2010/main" spd="med" advClick="1"/>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4" name="Saving structured data with json"/>
          <p:cNvSpPr txBox="1"/>
          <p:nvPr>
            <p:ph type="title"/>
          </p:nvPr>
        </p:nvSpPr>
        <p:spPr>
          <a:prstGeom prst="rect">
            <a:avLst/>
          </a:prstGeom>
        </p:spPr>
        <p:txBody>
          <a:bodyPr/>
          <a:lstStyle>
            <a:lvl1pPr defTabSz="490727">
              <a:defRPr sz="6719"/>
            </a:lvl1pPr>
          </a:lstStyle>
          <a:p>
            <a:pPr/>
            <a:r>
              <a:t>Saving structured data with json</a:t>
            </a:r>
          </a:p>
        </p:txBody>
      </p:sp>
      <p:sp>
        <p:nvSpPr>
          <p:cNvPr id="575" name="pickle - модул pickle…"/>
          <p:cNvSpPr txBox="1"/>
          <p:nvPr>
            <p:ph type="body" idx="1"/>
          </p:nvPr>
        </p:nvSpPr>
        <p:spPr>
          <a:prstGeom prst="rect">
            <a:avLst/>
          </a:prstGeom>
        </p:spPr>
        <p:txBody>
          <a:bodyPr/>
          <a:lstStyle/>
          <a:p>
            <a:pPr/>
            <a:r>
              <a:t> pickle - модул pickle</a:t>
            </a:r>
          </a:p>
          <a:p>
            <a:pPr lvl="1"/>
            <a:r>
              <a:t>За разлика от JSON, pickle е протокол, който позволява сериализация на произволно сложни Python обекти. Те са специфични за Python и не могат да се използват за комуникация с приложения, написани на други езици. По подразбиране тази операция не е сигурна: десериализация на pickle данни от недостоверен източник може да изпълни произволен код, ако данни се счупят.</a:t>
            </a:r>
          </a:p>
        </p:txBody>
      </p:sp>
    </p:spTree>
  </p:cSld>
  <p:clrMapOvr>
    <a:masterClrMapping/>
  </p:clrMapOvr>
  <p:transition xmlns:p14="http://schemas.microsoft.com/office/powerpoint/2010/main" spd="med" advClick="1"/>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Errors и Exceptions"/>
          <p:cNvSpPr txBox="1"/>
          <p:nvPr>
            <p:ph type="title"/>
          </p:nvPr>
        </p:nvSpPr>
        <p:spPr>
          <a:prstGeom prst="rect">
            <a:avLst/>
          </a:prstGeom>
        </p:spPr>
        <p:txBody>
          <a:bodyPr/>
          <a:lstStyle/>
          <a:p>
            <a:pPr/>
            <a:r>
              <a:t>Errors и Exceptions</a:t>
            </a:r>
          </a:p>
        </p:txBody>
      </p:sp>
      <p:sp>
        <p:nvSpPr>
          <p:cNvPr id="578" name="Съществуват два типа грешки:…"/>
          <p:cNvSpPr txBox="1"/>
          <p:nvPr>
            <p:ph type="body" idx="1"/>
          </p:nvPr>
        </p:nvSpPr>
        <p:spPr>
          <a:prstGeom prst="rect">
            <a:avLst/>
          </a:prstGeom>
        </p:spPr>
        <p:txBody>
          <a:bodyPr/>
          <a:lstStyle/>
          <a:p>
            <a:pPr/>
            <a:r>
              <a:t>Съществуват два типа грешки:</a:t>
            </a:r>
          </a:p>
          <a:p>
            <a:pPr lvl="1"/>
            <a:r>
              <a:t>синтактични (syntax errors)</a:t>
            </a:r>
          </a:p>
          <a:p>
            <a:pPr lvl="1"/>
            <a:r>
              <a:t>изключителни ситуации (exceptions).</a:t>
            </a:r>
          </a:p>
        </p:txBody>
      </p:sp>
    </p:spTree>
  </p:cSld>
  <p:clrMapOvr>
    <a:masterClrMapping/>
  </p:clrMapOvr>
  <p:transition xmlns:p14="http://schemas.microsoft.com/office/powerpoint/2010/main" spd="med" advClick="1"/>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0" name="Syntax Errors"/>
          <p:cNvSpPr txBox="1"/>
          <p:nvPr>
            <p:ph type="title"/>
          </p:nvPr>
        </p:nvSpPr>
        <p:spPr>
          <a:prstGeom prst="rect">
            <a:avLst/>
          </a:prstGeom>
        </p:spPr>
        <p:txBody>
          <a:bodyPr/>
          <a:lstStyle/>
          <a:p>
            <a:pPr/>
            <a:r>
              <a:t>Syntax Errors</a:t>
            </a:r>
          </a:p>
        </p:txBody>
      </p:sp>
      <p:sp>
        <p:nvSpPr>
          <p:cNvPr id="581" name="Синтактричните грешки се наричат parsing errors и са най-често срещани, особено при изучаване на Python:"/>
          <p:cNvSpPr txBox="1"/>
          <p:nvPr>
            <p:ph type="body" idx="1"/>
          </p:nvPr>
        </p:nvSpPr>
        <p:spPr>
          <a:prstGeom prst="rect">
            <a:avLst/>
          </a:prstGeom>
        </p:spPr>
        <p:txBody>
          <a:bodyPr/>
          <a:lstStyle/>
          <a:p>
            <a:pPr/>
            <a:r>
              <a:t>Синтактричните грешки се наричат parsing errors и са най-често срещани, особено при изучаване на Python:</a:t>
            </a:r>
          </a:p>
          <a:p>
            <a:pPr/>
          </a:p>
          <a:p>
            <a:pPr/>
          </a:p>
        </p:txBody>
      </p:sp>
      <p:pic>
        <p:nvPicPr>
          <p:cNvPr id="582" name="Image" descr="Image"/>
          <p:cNvPicPr>
            <a:picLocks noChangeAspect="1"/>
          </p:cNvPicPr>
          <p:nvPr/>
        </p:nvPicPr>
        <p:blipFill>
          <a:blip r:embed="rId2">
            <a:extLst/>
          </a:blip>
          <a:stretch>
            <a:fillRect/>
          </a:stretch>
        </p:blipFill>
        <p:spPr>
          <a:xfrm>
            <a:off x="2006600" y="5384800"/>
            <a:ext cx="8991600" cy="2895600"/>
          </a:xfrm>
          <a:prstGeom prst="rect">
            <a:avLst/>
          </a:prstGeom>
          <a:ln w="12700">
            <a:miter lim="400000"/>
          </a:ln>
        </p:spPr>
      </p:pic>
    </p:spTree>
  </p:cSld>
  <p:clrMapOvr>
    <a:masterClrMapping/>
  </p:clrMapOvr>
  <p:transition xmlns:p14="http://schemas.microsoft.com/office/powerpoint/2010/main" spd="med" advClick="1"/>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4" name="Syntax Errors"/>
          <p:cNvSpPr txBox="1"/>
          <p:nvPr>
            <p:ph type="title"/>
          </p:nvPr>
        </p:nvSpPr>
        <p:spPr>
          <a:prstGeom prst="rect">
            <a:avLst/>
          </a:prstGeom>
        </p:spPr>
        <p:txBody>
          <a:bodyPr/>
          <a:lstStyle/>
          <a:p>
            <a:pPr/>
            <a:r>
              <a:t>Syntax Errors</a:t>
            </a:r>
          </a:p>
        </p:txBody>
      </p:sp>
      <p:sp>
        <p:nvSpPr>
          <p:cNvPr id="585" name="Когато срещне грешка, parser отпечатва реда с грешката и с символа ^ показва къде е тя. В предходния пример, грешката е открита във функцията print(), защото липсва двуеточие (':') преди функцията. Отпечатва се и името на файла и номера на реда, за да се"/>
          <p:cNvSpPr txBox="1"/>
          <p:nvPr>
            <p:ph type="body" idx="1"/>
          </p:nvPr>
        </p:nvSpPr>
        <p:spPr>
          <a:xfrm>
            <a:off x="952500" y="2374900"/>
            <a:ext cx="11099800" cy="6286500"/>
          </a:xfrm>
          <a:prstGeom prst="rect">
            <a:avLst/>
          </a:prstGeom>
        </p:spPr>
        <p:txBody>
          <a:bodyPr/>
          <a:lstStyle/>
          <a:p>
            <a:pPr/>
            <a:r>
              <a:t>Когато срещне грешка, parser отпечатва реда с грешката и с символа ^ показва къде е тя. В предходния пример, грешката е открита във функцията print(), защото липсва двуеточие (':') преди функцията. Отпечатва се и името на файла и номера на реда, за да се знае къде е възникнала грешката.</a:t>
            </a:r>
          </a:p>
        </p:txBody>
      </p:sp>
    </p:spTree>
  </p:cSld>
  <p:clrMapOvr>
    <a:masterClrMapping/>
  </p:clrMapOvr>
  <p:transition xmlns:p14="http://schemas.microsoft.com/office/powerpoint/2010/main" spd="med" advClick="1"/>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7" name="Exceptions"/>
          <p:cNvSpPr txBox="1"/>
          <p:nvPr>
            <p:ph type="title"/>
          </p:nvPr>
        </p:nvSpPr>
        <p:spPr>
          <a:prstGeom prst="rect">
            <a:avLst/>
          </a:prstGeom>
        </p:spPr>
        <p:txBody>
          <a:bodyPr/>
          <a:lstStyle/>
          <a:p>
            <a:pPr/>
            <a:r>
              <a:t>Exceptions</a:t>
            </a:r>
          </a:p>
        </p:txBody>
      </p:sp>
      <p:sp>
        <p:nvSpPr>
          <p:cNvPr id="588" name="Дори програмата да е коректно написана, е възможно да възникне грешка при нейното изпълнение. Грешките, открити при изпълнение, се наричат изключителни ситуации (exceptions) и има начин да се прихванат и обработят. Когато това не се случи, се получава сл"/>
          <p:cNvSpPr txBox="1"/>
          <p:nvPr>
            <p:ph type="body" idx="1"/>
          </p:nvPr>
        </p:nvSpPr>
        <p:spPr>
          <a:prstGeom prst="rect">
            <a:avLst/>
          </a:prstGeom>
        </p:spPr>
        <p:txBody>
          <a:bodyPr/>
          <a:lstStyle/>
          <a:p>
            <a:pPr marL="413384" indent="-413384" defTabSz="543305">
              <a:spcBef>
                <a:spcPts val="3900"/>
              </a:spcBef>
              <a:defRPr sz="3348"/>
            </a:pPr>
            <a:r>
              <a:t>Дори програмата да е коректно написана, е възможно да възникне грешка при нейното изпълнение. Грешките, открити при изпълнение, се наричат изключителни ситуации (exceptions) и има начин да се прихванат и обработят. Когато това не се случи, се получава следния резултат:</a:t>
            </a:r>
          </a:p>
          <a:p>
            <a:pPr marL="413384" indent="-413384" defTabSz="543305">
              <a:spcBef>
                <a:spcPts val="3900"/>
              </a:spcBef>
              <a:defRPr sz="3348"/>
            </a:pPr>
          </a:p>
          <a:p>
            <a:pPr marL="413384" indent="-413384" defTabSz="543305">
              <a:spcBef>
                <a:spcPts val="3900"/>
              </a:spcBef>
              <a:defRPr sz="3348"/>
            </a:pPr>
          </a:p>
        </p:txBody>
      </p:sp>
      <p:pic>
        <p:nvPicPr>
          <p:cNvPr id="589" name="Image" descr="Image"/>
          <p:cNvPicPr>
            <a:picLocks noChangeAspect="1"/>
          </p:cNvPicPr>
          <p:nvPr/>
        </p:nvPicPr>
        <p:blipFill>
          <a:blip r:embed="rId2">
            <a:extLst/>
          </a:blip>
          <a:stretch>
            <a:fillRect/>
          </a:stretch>
        </p:blipFill>
        <p:spPr>
          <a:xfrm>
            <a:off x="2661145" y="6178364"/>
            <a:ext cx="7682510" cy="3432301"/>
          </a:xfrm>
          <a:prstGeom prst="rect">
            <a:avLst/>
          </a:prstGeom>
          <a:ln w="12700">
            <a:miter lim="400000"/>
          </a:ln>
        </p:spPr>
      </p:pic>
    </p:spTree>
  </p:cSld>
  <p:clrMapOvr>
    <a:masterClrMapping/>
  </p:clrMapOvr>
  <p:transition xmlns:p14="http://schemas.microsoft.com/office/powerpoint/2010/main" spd="med" advClick="1"/>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1" name="Exceptions"/>
          <p:cNvSpPr txBox="1"/>
          <p:nvPr>
            <p:ph type="title"/>
          </p:nvPr>
        </p:nvSpPr>
        <p:spPr>
          <a:prstGeom prst="rect">
            <a:avLst/>
          </a:prstGeom>
        </p:spPr>
        <p:txBody>
          <a:bodyPr/>
          <a:lstStyle/>
          <a:p>
            <a:pPr/>
            <a:r>
              <a:t>Exceptions</a:t>
            </a:r>
          </a:p>
        </p:txBody>
      </p:sp>
      <p:sp>
        <p:nvSpPr>
          <p:cNvPr id="592" name="Последният ред от грешката показва какво се е случило, т.е. това е съобщението за грешка. Съществуват различни типове exceptions, например: ZeroDivisionError, NameError и TypeError. Низът, отпечатан като тип на изключението, е името на вградената изключи"/>
          <p:cNvSpPr txBox="1"/>
          <p:nvPr>
            <p:ph type="body" idx="1"/>
          </p:nvPr>
        </p:nvSpPr>
        <p:spPr>
          <a:prstGeom prst="rect">
            <a:avLst/>
          </a:prstGeom>
        </p:spPr>
        <p:txBody>
          <a:bodyPr/>
          <a:lstStyle>
            <a:lvl1pPr marL="435609" indent="-435609" defTabSz="572516">
              <a:spcBef>
                <a:spcPts val="4100"/>
              </a:spcBef>
              <a:defRPr sz="3528"/>
            </a:lvl1pPr>
          </a:lstStyle>
          <a:p>
            <a:pPr/>
            <a:r>
              <a:t>Последният ред от грешката показва какво се е случило, т.е. това е съобщението за грешка. Съществуват различни типове exceptions, например: ZeroDivisionError, NameError и TypeError. Низът, отпечатан като тип на изключението, е името на вградената изключителна ситуация (built-in exception). Освен тях същестуват и потребителски дефинирани изключения (user-defined exceptions). Имената на стандартните изключения са вградени идентификатори (built-in identifiers), а не ключови думи в езика.</a:t>
            </a:r>
          </a:p>
        </p:txBody>
      </p:sp>
    </p:spTree>
  </p:cSld>
  <p:clrMapOvr>
    <a:masterClrMapping/>
  </p:clrMapOvr>
  <p:transition xmlns:p14="http://schemas.microsoft.com/office/powerpoint/2010/main" spd="med" advClick="1"/>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4" name="Exceptions"/>
          <p:cNvSpPr txBox="1"/>
          <p:nvPr>
            <p:ph type="title"/>
          </p:nvPr>
        </p:nvSpPr>
        <p:spPr>
          <a:prstGeom prst="rect">
            <a:avLst/>
          </a:prstGeom>
        </p:spPr>
        <p:txBody>
          <a:bodyPr/>
          <a:lstStyle/>
          <a:p>
            <a:pPr/>
            <a:r>
              <a:t>Exceptions</a:t>
            </a:r>
          </a:p>
        </p:txBody>
      </p:sp>
      <p:sp>
        <p:nvSpPr>
          <p:cNvPr id="595" name="Останалата част от този ред предоставя информация за типа на изключението и какво го е предизвикало.…"/>
          <p:cNvSpPr txBox="1"/>
          <p:nvPr>
            <p:ph type="body" idx="1"/>
          </p:nvPr>
        </p:nvSpPr>
        <p:spPr>
          <a:prstGeom prst="rect">
            <a:avLst/>
          </a:prstGeom>
        </p:spPr>
        <p:txBody>
          <a:bodyPr/>
          <a:lstStyle/>
          <a:p>
            <a:pPr/>
            <a:r>
              <a:t>Останалата част от този ред предоставя информация за типа на изключението и какво го е предизвикало.</a:t>
            </a:r>
          </a:p>
          <a:p>
            <a:pPr/>
            <a:r>
              <a:t>Предходният ред показва къде е възникнало изключението във формата на разпечатка на върха на стека в обратен ред (stack traceback). Най-общо показва кода, но не и въведената информация  от клавиатурата.</a:t>
            </a:r>
          </a:p>
        </p:txBody>
      </p:sp>
    </p:spTree>
  </p:cSld>
  <p:clrMapOvr>
    <a:masterClrMapping/>
  </p:clrMapOvr>
  <p:transition xmlns:p14="http://schemas.microsoft.com/office/powerpoint/2010/main" spd="med" advClick="1"/>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7" name="Handling Exceptions"/>
          <p:cNvSpPr txBox="1"/>
          <p:nvPr>
            <p:ph type="title"/>
          </p:nvPr>
        </p:nvSpPr>
        <p:spPr>
          <a:prstGeom prst="rect">
            <a:avLst/>
          </a:prstGeom>
        </p:spPr>
        <p:txBody>
          <a:bodyPr/>
          <a:lstStyle/>
          <a:p>
            <a:pPr/>
            <a:r>
              <a:t>Handling Exceptions</a:t>
            </a:r>
          </a:p>
        </p:txBody>
      </p:sp>
      <p:sp>
        <p:nvSpPr>
          <p:cNvPr id="598" name="Допуска се програмна обработка на изключителни ситуации. Например, ето как ще се прихване грешка от неправилен потребителски вход (невалидно число или използван Control-C):"/>
          <p:cNvSpPr txBox="1"/>
          <p:nvPr>
            <p:ph type="body" idx="1"/>
          </p:nvPr>
        </p:nvSpPr>
        <p:spPr>
          <a:prstGeom prst="rect">
            <a:avLst/>
          </a:prstGeom>
        </p:spPr>
        <p:txBody>
          <a:bodyPr/>
          <a:lstStyle/>
          <a:p>
            <a:pPr/>
            <a:r>
              <a:t>Допуска се програмна обработка на изключителни ситуации. Например, ето как ще се прихване грешка от неправилен потребителски вход (невалидно число или използван Control-C):</a:t>
            </a:r>
          </a:p>
          <a:p>
            <a:pPr/>
          </a:p>
        </p:txBody>
      </p:sp>
      <p:pic>
        <p:nvPicPr>
          <p:cNvPr id="599" name="Image" descr="Image"/>
          <p:cNvPicPr>
            <a:picLocks noChangeAspect="1"/>
          </p:cNvPicPr>
          <p:nvPr/>
        </p:nvPicPr>
        <p:blipFill>
          <a:blip r:embed="rId2">
            <a:extLst/>
          </a:blip>
          <a:stretch>
            <a:fillRect/>
          </a:stretch>
        </p:blipFill>
        <p:spPr>
          <a:xfrm>
            <a:off x="0" y="6136117"/>
            <a:ext cx="13004800" cy="2916966"/>
          </a:xfrm>
          <a:prstGeom prst="rect">
            <a:avLst/>
          </a:prstGeom>
          <a:ln w="12700">
            <a:miter lim="400000"/>
          </a:ln>
        </p:spPr>
      </p:pic>
    </p:spTree>
  </p:cSld>
  <p:clrMapOvr>
    <a:masterClrMapping/>
  </p:clrMapOvr>
  <p:transition xmlns:p14="http://schemas.microsoft.com/office/powerpoint/2010/main" spd="med" advClick="1"/>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1" name="Handling Exceptions"/>
          <p:cNvSpPr txBox="1"/>
          <p:nvPr>
            <p:ph type="title"/>
          </p:nvPr>
        </p:nvSpPr>
        <p:spPr>
          <a:prstGeom prst="rect">
            <a:avLst/>
          </a:prstGeom>
        </p:spPr>
        <p:txBody>
          <a:bodyPr/>
          <a:lstStyle/>
          <a:p>
            <a:pPr/>
            <a:r>
              <a:t>Handling Exceptions</a:t>
            </a:r>
          </a:p>
        </p:txBody>
      </p:sp>
      <p:sp>
        <p:nvSpPr>
          <p:cNvPr id="602" name="Операторът try работи, както слевдва:…"/>
          <p:cNvSpPr txBox="1"/>
          <p:nvPr>
            <p:ph type="body" idx="1"/>
          </p:nvPr>
        </p:nvSpPr>
        <p:spPr>
          <a:prstGeom prst="rect">
            <a:avLst/>
          </a:prstGeom>
        </p:spPr>
        <p:txBody>
          <a:bodyPr/>
          <a:lstStyle/>
          <a:p>
            <a:pPr/>
            <a:r>
              <a:t>Операторът try работи, както слевдва:</a:t>
            </a:r>
          </a:p>
          <a:p>
            <a:pPr lvl="1"/>
            <a:r>
              <a:t>Изпълняват се операторите, заградени от клаузи try и except.</a:t>
            </a:r>
          </a:p>
          <a:p>
            <a:pPr lvl="1"/>
            <a:r>
              <a:t>Ако няма изключение, клаузата except се пропуска и изпълнението продължава след края на оператор try.</a:t>
            </a:r>
          </a:p>
        </p:txBody>
      </p:sp>
    </p:spTree>
  </p:cSld>
  <p:clrMapOvr>
    <a:masterClrMapping/>
  </p:clrMapOvr>
  <p:transition xmlns:p14="http://schemas.microsoft.com/office/powerpoint/2010/main" spd="med" advClick="1"/>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4" name="Handling Exceptions"/>
          <p:cNvSpPr txBox="1"/>
          <p:nvPr>
            <p:ph type="title"/>
          </p:nvPr>
        </p:nvSpPr>
        <p:spPr>
          <a:prstGeom prst="rect">
            <a:avLst/>
          </a:prstGeom>
        </p:spPr>
        <p:txBody>
          <a:bodyPr/>
          <a:lstStyle/>
          <a:p>
            <a:pPr/>
            <a:r>
              <a:t>Handling Exceptions</a:t>
            </a:r>
          </a:p>
        </p:txBody>
      </p:sp>
      <p:sp>
        <p:nvSpPr>
          <p:cNvPr id="605" name="Ако възникне изключителна ситуация по време на изпълнението на клауза try, остатъка от оператори се пропуска и управлението се предава на клауза except като при това се търси съвпадение по типа на възникналата грешка. Ако се намери съвпадение, се изпълня"/>
          <p:cNvSpPr txBox="1"/>
          <p:nvPr>
            <p:ph type="body" idx="1"/>
          </p:nvPr>
        </p:nvSpPr>
        <p:spPr>
          <a:prstGeom prst="rect">
            <a:avLst/>
          </a:prstGeom>
        </p:spPr>
        <p:txBody>
          <a:bodyPr/>
          <a:lstStyle/>
          <a:p>
            <a:pPr lvl="1" marL="737869" indent="-368934" defTabSz="484886">
              <a:spcBef>
                <a:spcPts val="3400"/>
              </a:spcBef>
              <a:defRPr sz="2988"/>
            </a:pPr>
            <a:r>
              <a:t>Ако възникне изключителна ситуация по време на изпълнението на клауза try, остатъка от оператори се пропуска и управлението се предава на клауза except като при това се търси съвпадение по типа на възникналата грешка. Ако се намери съвпадение, се изпълняват операторите след except и след това изпълнението на кода продължава след оператор try.</a:t>
            </a:r>
          </a:p>
          <a:p>
            <a:pPr lvl="1" marL="737869" indent="-368934" defTabSz="484886">
              <a:spcBef>
                <a:spcPts val="3400"/>
              </a:spcBef>
              <a:defRPr sz="2988"/>
            </a:pPr>
            <a:r>
              <a:t>Ако възникне изключение, но неговия тип не съществува в клауза except, изключението се предава на обхващащия оператор try. Ако не се намери обработчик на тази грешка, се счита че е налице unhandled exception и изпълнението спира със съответно съобщение.</a:t>
            </a:r>
          </a:p>
        </p:txBody>
      </p:sp>
    </p:spTree>
  </p:cSld>
  <p:clrMapOvr>
    <a:masterClrMapping/>
  </p:clrMapOvr>
  <p:transition xmlns:p14="http://schemas.microsoft.com/office/powerpoint/2010/main" spd="med" advClick="1"/>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7" name="Handling Exceptions"/>
          <p:cNvSpPr txBox="1"/>
          <p:nvPr>
            <p:ph type="title"/>
          </p:nvPr>
        </p:nvSpPr>
        <p:spPr>
          <a:prstGeom prst="rect">
            <a:avLst/>
          </a:prstGeom>
        </p:spPr>
        <p:txBody>
          <a:bodyPr/>
          <a:lstStyle/>
          <a:p>
            <a:pPr/>
            <a:r>
              <a:t>Handling Exceptions</a:t>
            </a:r>
          </a:p>
        </p:txBody>
      </p:sp>
      <p:sp>
        <p:nvSpPr>
          <p:cNvPr id="608" name="Операторът try може да има повече от една клауза except, за да зададе обработка на различни изключения. В такъв случай поне един handler ще бъде изпълнен. Handlers обработват изключения възникващи само в съответната клауза try, но не и в други обработчиц"/>
          <p:cNvSpPr txBox="1"/>
          <p:nvPr>
            <p:ph type="body" idx="1"/>
          </p:nvPr>
        </p:nvSpPr>
        <p:spPr>
          <a:prstGeom prst="rect">
            <a:avLst/>
          </a:prstGeom>
        </p:spPr>
        <p:txBody>
          <a:bodyPr/>
          <a:lstStyle/>
          <a:p>
            <a:pPr lvl="1" marL="782319" indent="-391159" defTabSz="514095">
              <a:spcBef>
                <a:spcPts val="3600"/>
              </a:spcBef>
              <a:defRPr sz="3168"/>
            </a:pPr>
            <a:r>
              <a:t>Операторът try може да има повече от една клауза except, за да зададе обработка на различни изключения. В такъв случай поне един handler ще бъде изпълнен. Handlers обработват изключения възникващи само в съответната клауза try, но не и в други обработчици (handlers) на същия оператор try. Клаузата except може да обработи множество изключения, които се задават в скоби, разделени със запетая:</a:t>
            </a:r>
          </a:p>
          <a:p>
            <a:pPr lvl="1" marL="782319" indent="-391159" defTabSz="514095">
              <a:spcBef>
                <a:spcPts val="3600"/>
              </a:spcBef>
              <a:defRPr sz="3168"/>
            </a:pPr>
          </a:p>
        </p:txBody>
      </p:sp>
      <p:pic>
        <p:nvPicPr>
          <p:cNvPr id="609" name="Image" descr="Image"/>
          <p:cNvPicPr>
            <a:picLocks noChangeAspect="1"/>
          </p:cNvPicPr>
          <p:nvPr/>
        </p:nvPicPr>
        <p:blipFill>
          <a:blip r:embed="rId2">
            <a:extLst/>
          </a:blip>
          <a:stretch>
            <a:fillRect/>
          </a:stretch>
        </p:blipFill>
        <p:spPr>
          <a:xfrm>
            <a:off x="711200" y="7150100"/>
            <a:ext cx="11963400" cy="1473200"/>
          </a:xfrm>
          <a:prstGeom prst="rect">
            <a:avLst/>
          </a:prstGeom>
          <a:ln w="12700">
            <a:miter lim="400000"/>
          </a:ln>
        </p:spPr>
      </p:pic>
    </p:spTree>
  </p:cSld>
  <p:clrMapOvr>
    <a:masterClrMapping/>
  </p:clrMapOvr>
  <p:transition xmlns:p14="http://schemas.microsoft.com/office/powerpoint/2010/main" spd="med" advClick="1"/>
</p:sld>
</file>

<file path=ppt/slides/slide1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1" name="Handling Exceptions"/>
          <p:cNvSpPr txBox="1"/>
          <p:nvPr>
            <p:ph type="title"/>
          </p:nvPr>
        </p:nvSpPr>
        <p:spPr>
          <a:prstGeom prst="rect">
            <a:avLst/>
          </a:prstGeom>
        </p:spPr>
        <p:txBody>
          <a:bodyPr/>
          <a:lstStyle/>
          <a:p>
            <a:pPr/>
            <a:r>
              <a:t>Handling Exceptions</a:t>
            </a:r>
          </a:p>
        </p:txBody>
      </p:sp>
      <p:sp>
        <p:nvSpPr>
          <p:cNvPr id="612" name="Класът в клауза except е съвместим с изключение, ако е същия клас или негов родител. Това означава, че той трябва да наследи Exception или негов наследник. Например, показаният код ще отпечати B, C, D в този ред:"/>
          <p:cNvSpPr txBox="1"/>
          <p:nvPr>
            <p:ph type="body" sz="half" idx="1"/>
          </p:nvPr>
        </p:nvSpPr>
        <p:spPr>
          <a:prstGeom prst="rect">
            <a:avLst/>
          </a:prstGeom>
        </p:spPr>
        <p:txBody>
          <a:bodyPr/>
          <a:lstStyle/>
          <a:p>
            <a:pPr/>
            <a:r>
              <a:t>Класът в клауза except е съвместим с изключение, ако е същия клас или негов родител. Това означава, че той трябва да наследи Exception или негов наследник. Например, показаният код ще отпечати B, C, D в този ред:</a:t>
            </a:r>
          </a:p>
        </p:txBody>
      </p:sp>
      <p:pic>
        <p:nvPicPr>
          <p:cNvPr id="613" name="Image" descr="Image"/>
          <p:cNvPicPr>
            <a:picLocks noChangeAspect="1"/>
          </p:cNvPicPr>
          <p:nvPr/>
        </p:nvPicPr>
        <p:blipFill>
          <a:blip r:embed="rId2">
            <a:extLst/>
          </a:blip>
          <a:stretch>
            <a:fillRect/>
          </a:stretch>
        </p:blipFill>
        <p:spPr>
          <a:xfrm>
            <a:off x="6565900" y="2604153"/>
            <a:ext cx="5334000" cy="6614926"/>
          </a:xfrm>
          <a:prstGeom prst="rect">
            <a:avLst/>
          </a:prstGeom>
          <a:ln w="12700">
            <a:miter lim="400000"/>
          </a:ln>
        </p:spPr>
      </p:pic>
    </p:spTree>
  </p:cSld>
  <p:clrMapOvr>
    <a:masterClrMapping/>
  </p:clrMapOvr>
  <p:transition xmlns:p14="http://schemas.microsoft.com/office/powerpoint/2010/main" spd="med" advClick="1"/>
</p:sld>
</file>

<file path=ppt/slides/slide1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5" name="Handling Exceptions"/>
          <p:cNvSpPr txBox="1"/>
          <p:nvPr>
            <p:ph type="title"/>
          </p:nvPr>
        </p:nvSpPr>
        <p:spPr>
          <a:prstGeom prst="rect">
            <a:avLst/>
          </a:prstGeom>
        </p:spPr>
        <p:txBody>
          <a:bodyPr/>
          <a:lstStyle/>
          <a:p>
            <a:pPr/>
            <a:r>
              <a:t>Handling Exceptions</a:t>
            </a:r>
          </a:p>
        </p:txBody>
      </p:sp>
      <p:sp>
        <p:nvSpPr>
          <p:cNvPr id="616" name="Последната клауза except може да не показва име(на) на изключения. В този случай тя ще обработва всички останали изключения, не упоменати преди това. Тази опция трябва да се използва внимателно, защото може да маскира реална грешка, която да не се обрабо"/>
          <p:cNvSpPr txBox="1"/>
          <p:nvPr>
            <p:ph type="body" idx="1"/>
          </p:nvPr>
        </p:nvSpPr>
        <p:spPr>
          <a:prstGeom prst="rect">
            <a:avLst/>
          </a:prstGeom>
        </p:spPr>
        <p:txBody>
          <a:bodyPr/>
          <a:lstStyle/>
          <a:p>
            <a:pPr marL="351155" indent="-351155" defTabSz="461518">
              <a:spcBef>
                <a:spcPts val="3300"/>
              </a:spcBef>
              <a:defRPr sz="2844"/>
            </a:pPr>
            <a:r>
              <a:t>Последната клауза except може да не показва име(на) на изключения. В този случай тя ще обработва всички останали изключения, не упоменати преди това. Тази опция трябва да се използва внимателно, защото може да маскира реална грешка, която да не се обработи правилно. Този подход може да бъде използван за разпечатка на съобщение за грешка, например:</a:t>
            </a:r>
          </a:p>
          <a:p>
            <a:pPr marL="351155" indent="-351155" defTabSz="461518">
              <a:spcBef>
                <a:spcPts val="3300"/>
              </a:spcBef>
              <a:defRPr sz="2844"/>
            </a:pPr>
          </a:p>
          <a:p>
            <a:pPr marL="351155" indent="-351155" defTabSz="461518">
              <a:spcBef>
                <a:spcPts val="3300"/>
              </a:spcBef>
              <a:defRPr sz="2844"/>
            </a:pPr>
          </a:p>
          <a:p>
            <a:pPr marL="351155" indent="-351155" defTabSz="461518">
              <a:spcBef>
                <a:spcPts val="3300"/>
              </a:spcBef>
              <a:defRPr sz="2844"/>
            </a:pPr>
          </a:p>
        </p:txBody>
      </p:sp>
      <p:pic>
        <p:nvPicPr>
          <p:cNvPr id="617" name="Image" descr="Image"/>
          <p:cNvPicPr>
            <a:picLocks noChangeAspect="1"/>
          </p:cNvPicPr>
          <p:nvPr/>
        </p:nvPicPr>
        <p:blipFill>
          <a:blip r:embed="rId2">
            <a:extLst/>
          </a:blip>
          <a:stretch>
            <a:fillRect/>
          </a:stretch>
        </p:blipFill>
        <p:spPr>
          <a:xfrm>
            <a:off x="2705099" y="5820850"/>
            <a:ext cx="7594602" cy="3945450"/>
          </a:xfrm>
          <a:prstGeom prst="rect">
            <a:avLst/>
          </a:prstGeom>
          <a:ln w="12700">
            <a:miter lim="400000"/>
          </a:ln>
        </p:spPr>
      </p:pic>
    </p:spTree>
  </p:cSld>
  <p:clrMapOvr>
    <a:masterClrMapping/>
  </p:clrMapOvr>
  <p:transition xmlns:p14="http://schemas.microsoft.com/office/powerpoint/2010/main" spd="med" advClick="1"/>
</p:sld>
</file>

<file path=ppt/slides/slide1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9" name="Handling Exceptions"/>
          <p:cNvSpPr txBox="1"/>
          <p:nvPr>
            <p:ph type="title"/>
          </p:nvPr>
        </p:nvSpPr>
        <p:spPr>
          <a:prstGeom prst="rect">
            <a:avLst/>
          </a:prstGeom>
        </p:spPr>
        <p:txBody>
          <a:bodyPr/>
          <a:lstStyle/>
          <a:p>
            <a:pPr/>
            <a:r>
              <a:t>Handling Exceptions</a:t>
            </a:r>
          </a:p>
        </p:txBody>
      </p:sp>
      <p:sp>
        <p:nvSpPr>
          <p:cNvPr id="620" name="Операторът try … except има опционна клауза else, която трябва да бъде последна except клауза. Полезно е, да се използва, ако кодът не генерира изключение. Например:"/>
          <p:cNvSpPr txBox="1"/>
          <p:nvPr>
            <p:ph type="body" idx="1"/>
          </p:nvPr>
        </p:nvSpPr>
        <p:spPr>
          <a:prstGeom prst="rect">
            <a:avLst/>
          </a:prstGeom>
        </p:spPr>
        <p:txBody>
          <a:bodyPr/>
          <a:lstStyle/>
          <a:p>
            <a:pPr/>
            <a:r>
              <a:t>Операторът try … except има опционна клауза else, която трябва да бъде последна except клауза. Полезно е, да се използва, ако кодът не генерира изключение. Например:</a:t>
            </a:r>
          </a:p>
          <a:p>
            <a:pPr/>
          </a:p>
          <a:p>
            <a:pPr/>
          </a:p>
        </p:txBody>
      </p:sp>
      <p:pic>
        <p:nvPicPr>
          <p:cNvPr id="621" name="Image" descr="Image"/>
          <p:cNvPicPr>
            <a:picLocks noChangeAspect="1"/>
          </p:cNvPicPr>
          <p:nvPr/>
        </p:nvPicPr>
        <p:blipFill>
          <a:blip r:embed="rId2">
            <a:extLst/>
          </a:blip>
          <a:stretch>
            <a:fillRect/>
          </a:stretch>
        </p:blipFill>
        <p:spPr>
          <a:xfrm>
            <a:off x="0" y="5498930"/>
            <a:ext cx="13004800" cy="3988140"/>
          </a:xfrm>
          <a:prstGeom prst="rect">
            <a:avLst/>
          </a:prstGeom>
          <a:ln w="12700">
            <a:miter lim="400000"/>
          </a:ln>
        </p:spPr>
      </p:pic>
    </p:spTree>
  </p:cSld>
  <p:clrMapOvr>
    <a:masterClrMapping/>
  </p:clrMapOvr>
  <p:transition xmlns:p14="http://schemas.microsoft.com/office/powerpoint/2010/main" spd="med" advClick="1"/>
</p:sld>
</file>

<file path=ppt/slides/slide1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3" name="Handling Exceptions"/>
          <p:cNvSpPr txBox="1"/>
          <p:nvPr>
            <p:ph type="title"/>
          </p:nvPr>
        </p:nvSpPr>
        <p:spPr>
          <a:prstGeom prst="rect">
            <a:avLst/>
          </a:prstGeom>
        </p:spPr>
        <p:txBody>
          <a:bodyPr/>
          <a:lstStyle/>
          <a:p>
            <a:pPr/>
            <a:r>
              <a:t>Handling Exceptions</a:t>
            </a:r>
          </a:p>
        </p:txBody>
      </p:sp>
      <p:sp>
        <p:nvSpPr>
          <p:cNvPr id="624" name="Използването на клауза else е по-добро от добавянето на допълнителен код в клауза try, защото не прихваща инцидентно въчникналите изключения, които не са активирани от кода, защитен в оператора try … except.…"/>
          <p:cNvSpPr txBox="1"/>
          <p:nvPr>
            <p:ph type="body" idx="1"/>
          </p:nvPr>
        </p:nvSpPr>
        <p:spPr>
          <a:prstGeom prst="rect">
            <a:avLst/>
          </a:prstGeom>
        </p:spPr>
        <p:txBody>
          <a:bodyPr/>
          <a:lstStyle/>
          <a:p>
            <a:pPr/>
            <a:r>
              <a:t>Използването на клауза else е по-добро от добавянето на допълнителен код в клауза try, защото не прихваща инцидентно въчникналите изключения, които не са активирани от кода, защитен в оператора try … except.</a:t>
            </a:r>
          </a:p>
          <a:p>
            <a:pPr/>
            <a:r>
              <a:t>Когато възникне изключение, то може да има асоциирана стойност, позната като аргумент на изключението. Типа на аргумента и дали изобщо присъства той, зависи от типа на изключението.</a:t>
            </a:r>
          </a:p>
        </p:txBody>
      </p:sp>
    </p:spTree>
  </p:cSld>
  <p:clrMapOvr>
    <a:masterClrMapping/>
  </p:clrMapOvr>
  <p:transition xmlns:p14="http://schemas.microsoft.com/office/powerpoint/2010/main" spd="med" advClick="1"/>
</p:sld>
</file>

<file path=ppt/slides/slide1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6" name="Handling Exceptions"/>
          <p:cNvSpPr txBox="1"/>
          <p:nvPr>
            <p:ph type="title"/>
          </p:nvPr>
        </p:nvSpPr>
        <p:spPr>
          <a:prstGeom prst="rect">
            <a:avLst/>
          </a:prstGeom>
        </p:spPr>
        <p:txBody>
          <a:bodyPr/>
          <a:lstStyle/>
          <a:p>
            <a:pPr/>
            <a:r>
              <a:t>Handling Exceptions</a:t>
            </a:r>
          </a:p>
        </p:txBody>
      </p:sp>
      <p:sp>
        <p:nvSpPr>
          <p:cNvPr id="627" name="Клаузата except може да задава променлива след името на изключението.  Променливата е инстанция на изключението като аргументите й са записани в instance.args. За удобство, инстанцията на изключението дефинира __str__(), така че аргументите могат директн"/>
          <p:cNvSpPr txBox="1"/>
          <p:nvPr>
            <p:ph type="body" idx="1"/>
          </p:nvPr>
        </p:nvSpPr>
        <p:spPr>
          <a:prstGeom prst="rect">
            <a:avLst/>
          </a:prstGeom>
        </p:spPr>
        <p:txBody>
          <a:bodyPr/>
          <a:lstStyle/>
          <a:p>
            <a:pPr/>
            <a:r>
              <a:t>Клаузата except може да задава променлива след името на изключението.  Променливата е инстанция на изключението като аргументите й са записани в instance.args. За удобство, инстанцията на изключението дефинира __str__(), така че аргументите могат директно да се разпечатат без референция към .args. Възможно е инстанциране на exception преди активирането му и добавяне на атрибути, според логиката на кода.</a:t>
            </a:r>
          </a:p>
        </p:txBody>
      </p:sp>
    </p:spTree>
  </p:cSld>
  <p:clrMapOvr>
    <a:masterClrMapping/>
  </p:clrMapOvr>
  <p:transition xmlns:p14="http://schemas.microsoft.com/office/powerpoint/2010/main" spd="med" advClick="1"/>
</p:sld>
</file>

<file path=ppt/slides/slide1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9" name="Handling Exceptions"/>
          <p:cNvSpPr txBox="1"/>
          <p:nvPr>
            <p:ph type="title"/>
          </p:nvPr>
        </p:nvSpPr>
        <p:spPr>
          <a:prstGeom prst="rect">
            <a:avLst/>
          </a:prstGeom>
        </p:spPr>
        <p:txBody>
          <a:bodyPr/>
          <a:lstStyle/>
          <a:p>
            <a:pPr/>
            <a:r>
              <a:t>Handling Exceptions</a:t>
            </a:r>
          </a:p>
        </p:txBody>
      </p:sp>
      <p:sp>
        <p:nvSpPr>
          <p:cNvPr id="630" name="Double-click to edit"/>
          <p:cNvSpPr txBox="1"/>
          <p:nvPr>
            <p:ph type="body" idx="1"/>
          </p:nvPr>
        </p:nvSpPr>
        <p:spPr>
          <a:prstGeom prst="rect">
            <a:avLst/>
          </a:prstGeom>
        </p:spPr>
        <p:txBody>
          <a:bodyPr/>
          <a:lstStyle/>
          <a:p>
            <a:pPr/>
          </a:p>
        </p:txBody>
      </p:sp>
      <p:pic>
        <p:nvPicPr>
          <p:cNvPr id="631" name="Image" descr="Image"/>
          <p:cNvPicPr>
            <a:picLocks noChangeAspect="1"/>
          </p:cNvPicPr>
          <p:nvPr/>
        </p:nvPicPr>
        <p:blipFill>
          <a:blip r:embed="rId2">
            <a:extLst/>
          </a:blip>
          <a:stretch>
            <a:fillRect/>
          </a:stretch>
        </p:blipFill>
        <p:spPr>
          <a:xfrm>
            <a:off x="0" y="2990885"/>
            <a:ext cx="13004800" cy="5511730"/>
          </a:xfrm>
          <a:prstGeom prst="rect">
            <a:avLst/>
          </a:prstGeom>
          <a:ln w="12700">
            <a:miter lim="400000"/>
          </a:ln>
        </p:spPr>
      </p:pic>
    </p:spTree>
  </p:cSld>
  <p:clrMapOvr>
    <a:masterClrMapping/>
  </p:clrMapOvr>
  <p:transition xmlns:p14="http://schemas.microsoft.com/office/powerpoint/2010/main" spd="med" advClick="1"/>
</p:sld>
</file>

<file path=ppt/slides/slide1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3" name="Handling Exceptions"/>
          <p:cNvSpPr txBox="1"/>
          <p:nvPr>
            <p:ph type="title"/>
          </p:nvPr>
        </p:nvSpPr>
        <p:spPr>
          <a:prstGeom prst="rect">
            <a:avLst/>
          </a:prstGeom>
        </p:spPr>
        <p:txBody>
          <a:bodyPr/>
          <a:lstStyle/>
          <a:p>
            <a:pPr/>
            <a:r>
              <a:t>Handling Exceptions</a:t>
            </a:r>
          </a:p>
        </p:txBody>
      </p:sp>
      <p:sp>
        <p:nvSpPr>
          <p:cNvPr id="634" name="Ако изключението има аргументи, те се разпечатват като последна част (‘detail’) на съобщението на unhandled exceptions.…"/>
          <p:cNvSpPr txBox="1"/>
          <p:nvPr>
            <p:ph type="body" idx="1"/>
          </p:nvPr>
        </p:nvSpPr>
        <p:spPr>
          <a:prstGeom prst="rect">
            <a:avLst/>
          </a:prstGeom>
        </p:spPr>
        <p:txBody>
          <a:bodyPr/>
          <a:lstStyle/>
          <a:p>
            <a:pPr marL="413384" indent="-413384" defTabSz="543305">
              <a:spcBef>
                <a:spcPts val="3900"/>
              </a:spcBef>
              <a:defRPr sz="3348"/>
            </a:pPr>
            <a:r>
              <a:t>Ако изключението има аргументи, те се разпечатват като последна част (‘detail’) на съобщението на unhandled exceptions.</a:t>
            </a:r>
          </a:p>
          <a:p>
            <a:pPr marL="413384" indent="-413384" defTabSz="543305">
              <a:spcBef>
                <a:spcPts val="3900"/>
              </a:spcBef>
              <a:defRPr sz="3348"/>
            </a:pPr>
            <a:r>
              <a:t>Exception handlers не само обработват изключения, ако възникнат непосредствено в клауза try clause, но и ако възникнат във функции, които са извикани (дори индиректно) в клауза try. Например:</a:t>
            </a:r>
          </a:p>
          <a:p>
            <a:pPr marL="413384" indent="-413384" defTabSz="543305">
              <a:spcBef>
                <a:spcPts val="3900"/>
              </a:spcBef>
              <a:defRPr sz="3348"/>
            </a:pPr>
          </a:p>
        </p:txBody>
      </p:sp>
      <p:pic>
        <p:nvPicPr>
          <p:cNvPr id="635" name="Image" descr="Image"/>
          <p:cNvPicPr>
            <a:picLocks noChangeAspect="1"/>
          </p:cNvPicPr>
          <p:nvPr/>
        </p:nvPicPr>
        <p:blipFill>
          <a:blip r:embed="rId2">
            <a:extLst/>
          </a:blip>
          <a:stretch>
            <a:fillRect/>
          </a:stretch>
        </p:blipFill>
        <p:spPr>
          <a:xfrm>
            <a:off x="2950881" y="6912397"/>
            <a:ext cx="7103038" cy="2828503"/>
          </a:xfrm>
          <a:prstGeom prst="rect">
            <a:avLst/>
          </a:prstGeom>
          <a:ln w="12700">
            <a:miter lim="400000"/>
          </a:ln>
        </p:spPr>
      </p:pic>
    </p:spTree>
  </p:cSld>
  <p:clrMapOvr>
    <a:masterClrMapping/>
  </p:clrMapOvr>
  <p:transition xmlns:p14="http://schemas.microsoft.com/office/powerpoint/2010/main" spd="med" advClick="1"/>
</p:sld>
</file>

<file path=ppt/slides/slide1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7" name="Raising Exceptions"/>
          <p:cNvSpPr txBox="1"/>
          <p:nvPr>
            <p:ph type="title"/>
          </p:nvPr>
        </p:nvSpPr>
        <p:spPr>
          <a:prstGeom prst="rect">
            <a:avLst/>
          </a:prstGeom>
        </p:spPr>
        <p:txBody>
          <a:bodyPr/>
          <a:lstStyle/>
          <a:p>
            <a:pPr/>
            <a:r>
              <a:t>Raising Exceptions</a:t>
            </a:r>
          </a:p>
        </p:txBody>
      </p:sp>
      <p:sp>
        <p:nvSpPr>
          <p:cNvPr id="638" name="Операторът raise позволява на програмиста да активира определено изключение. Например:"/>
          <p:cNvSpPr txBox="1"/>
          <p:nvPr>
            <p:ph type="body" idx="1"/>
          </p:nvPr>
        </p:nvSpPr>
        <p:spPr>
          <a:prstGeom prst="rect">
            <a:avLst/>
          </a:prstGeom>
        </p:spPr>
        <p:txBody>
          <a:bodyPr/>
          <a:lstStyle/>
          <a:p>
            <a:pPr/>
            <a:r>
              <a:t>Операторът raise позволява на програмиста да активира определено изключение. Например:</a:t>
            </a:r>
          </a:p>
          <a:p>
            <a:pPr/>
          </a:p>
        </p:txBody>
      </p:sp>
      <p:pic>
        <p:nvPicPr>
          <p:cNvPr id="639" name="Image" descr="Image"/>
          <p:cNvPicPr>
            <a:picLocks noChangeAspect="1"/>
          </p:cNvPicPr>
          <p:nvPr/>
        </p:nvPicPr>
        <p:blipFill>
          <a:blip r:embed="rId2">
            <a:extLst/>
          </a:blip>
          <a:stretch>
            <a:fillRect/>
          </a:stretch>
        </p:blipFill>
        <p:spPr>
          <a:xfrm>
            <a:off x="1917700" y="5422900"/>
            <a:ext cx="9169400" cy="2235200"/>
          </a:xfrm>
          <a:prstGeom prst="rect">
            <a:avLst/>
          </a:prstGeom>
          <a:ln w="12700">
            <a:miter lim="400000"/>
          </a:ln>
        </p:spPr>
      </p:pic>
    </p:spTree>
  </p:cSld>
  <p:clrMapOvr>
    <a:masterClrMapping/>
  </p:clrMapOvr>
  <p:transition xmlns:p14="http://schemas.microsoft.com/office/powerpoint/2010/main" spd="med" advClick="1"/>
</p:sld>
</file>

<file path=ppt/slides/slide1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1" name="Raising Exceptions"/>
          <p:cNvSpPr txBox="1"/>
          <p:nvPr>
            <p:ph type="title"/>
          </p:nvPr>
        </p:nvSpPr>
        <p:spPr>
          <a:prstGeom prst="rect">
            <a:avLst/>
          </a:prstGeom>
        </p:spPr>
        <p:txBody>
          <a:bodyPr/>
          <a:lstStyle/>
          <a:p>
            <a:pPr/>
            <a:r>
              <a:t>Raising Exceptions</a:t>
            </a:r>
          </a:p>
        </p:txBody>
      </p:sp>
      <p:sp>
        <p:nvSpPr>
          <p:cNvPr id="642" name="Аргументът на оператор raise показва типа на изключението, което ще се генерира. То трябва да бъде или exception instance или exception class (клас, наследник на Exception). Ако се подаде exception class, той ще бъде неявно инстанциран чрез извикване на "/>
          <p:cNvSpPr txBox="1"/>
          <p:nvPr>
            <p:ph type="body" idx="1"/>
          </p:nvPr>
        </p:nvSpPr>
        <p:spPr>
          <a:prstGeom prst="rect">
            <a:avLst/>
          </a:prstGeom>
        </p:spPr>
        <p:txBody>
          <a:bodyPr/>
          <a:lstStyle/>
          <a:p>
            <a:pPr/>
            <a:r>
              <a:t>Аргументът на оператор raise показва типа на изключението, което ще се генерира. То трябва да бъде или exception instance или exception class (клас, наследник на Exception). Ако се подаде exception class, той ще бъде неявно инстанциран чрез извикване на конструктора без аргументи:</a:t>
            </a:r>
          </a:p>
          <a:p>
            <a:pPr/>
          </a:p>
        </p:txBody>
      </p:sp>
      <p:pic>
        <p:nvPicPr>
          <p:cNvPr id="643" name="Image" descr="Image"/>
          <p:cNvPicPr>
            <a:picLocks noChangeAspect="1"/>
          </p:cNvPicPr>
          <p:nvPr/>
        </p:nvPicPr>
        <p:blipFill>
          <a:blip r:embed="rId2">
            <a:extLst/>
          </a:blip>
          <a:stretch>
            <a:fillRect/>
          </a:stretch>
        </p:blipFill>
        <p:spPr>
          <a:xfrm>
            <a:off x="0" y="6760436"/>
            <a:ext cx="13004800" cy="1033328"/>
          </a:xfrm>
          <a:prstGeom prst="rect">
            <a:avLst/>
          </a:prstGeom>
          <a:ln w="12700">
            <a:miter lim="400000"/>
          </a:ln>
        </p:spPr>
      </p:pic>
    </p:spTree>
  </p:cSld>
  <p:clrMapOvr>
    <a:masterClrMapping/>
  </p:clrMapOvr>
  <p:transition xmlns:p14="http://schemas.microsoft.com/office/powerpoint/2010/main" spd="med" advClick="1"/>
</p:sld>
</file>

<file path=ppt/slides/slide1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5" name="Raising Exceptions"/>
          <p:cNvSpPr txBox="1"/>
          <p:nvPr>
            <p:ph type="title"/>
          </p:nvPr>
        </p:nvSpPr>
        <p:spPr>
          <a:prstGeom prst="rect">
            <a:avLst/>
          </a:prstGeom>
        </p:spPr>
        <p:txBody>
          <a:bodyPr/>
          <a:lstStyle/>
          <a:p>
            <a:pPr/>
            <a:r>
              <a:t>Raising Exceptions</a:t>
            </a:r>
          </a:p>
        </p:txBody>
      </p:sp>
      <p:sp>
        <p:nvSpPr>
          <p:cNvPr id="646" name="Ако трябва да се определи дали е активирано изключение, трябва да се прихване и активира повторно с raise оператор:"/>
          <p:cNvSpPr txBox="1"/>
          <p:nvPr>
            <p:ph type="body" idx="1"/>
          </p:nvPr>
        </p:nvSpPr>
        <p:spPr>
          <a:prstGeom prst="rect">
            <a:avLst/>
          </a:prstGeom>
        </p:spPr>
        <p:txBody>
          <a:bodyPr/>
          <a:lstStyle/>
          <a:p>
            <a:pPr/>
            <a:r>
              <a:t>Ако трябва да се определи дали е активирано изключение, трябва да се прихване и активира повторно с raise оператор:</a:t>
            </a:r>
          </a:p>
          <a:p>
            <a:pPr/>
          </a:p>
          <a:p>
            <a:pPr/>
          </a:p>
        </p:txBody>
      </p:sp>
      <p:pic>
        <p:nvPicPr>
          <p:cNvPr id="647" name="Image" descr="Image"/>
          <p:cNvPicPr>
            <a:picLocks noChangeAspect="1"/>
          </p:cNvPicPr>
          <p:nvPr/>
        </p:nvPicPr>
        <p:blipFill>
          <a:blip r:embed="rId2">
            <a:extLst/>
          </a:blip>
          <a:stretch>
            <a:fillRect/>
          </a:stretch>
        </p:blipFill>
        <p:spPr>
          <a:xfrm>
            <a:off x="2864570" y="5326660"/>
            <a:ext cx="8235230" cy="4223740"/>
          </a:xfrm>
          <a:prstGeom prst="rect">
            <a:avLst/>
          </a:prstGeom>
          <a:ln w="12700">
            <a:miter lim="400000"/>
          </a:ln>
        </p:spPr>
      </p:pic>
    </p:spTree>
  </p:cSld>
  <p:clrMapOvr>
    <a:masterClrMapping/>
  </p:clrMapOvr>
  <p:transition xmlns:p14="http://schemas.microsoft.com/office/powerpoint/2010/main" spd="med" advClick="1"/>
</p:sld>
</file>

<file path=ppt/slides/slide1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9" name="User-defined  Exceptions"/>
          <p:cNvSpPr txBox="1"/>
          <p:nvPr>
            <p:ph type="title"/>
          </p:nvPr>
        </p:nvSpPr>
        <p:spPr>
          <a:prstGeom prst="rect">
            <a:avLst/>
          </a:prstGeom>
        </p:spPr>
        <p:txBody>
          <a:bodyPr/>
          <a:lstStyle>
            <a:lvl1pPr defTabSz="554990">
              <a:defRPr sz="7600"/>
            </a:lvl1pPr>
          </a:lstStyle>
          <a:p>
            <a:pPr/>
            <a:r>
              <a:t>User-defined  Exceptions</a:t>
            </a:r>
          </a:p>
        </p:txBody>
      </p:sp>
      <p:sp>
        <p:nvSpPr>
          <p:cNvPr id="650" name="Програмите могат да създават свои собствени изключения, чрез създаване на нов exception class. Изключенията трябва да наследяват класа Exception, директно или индиректно.…"/>
          <p:cNvSpPr txBox="1"/>
          <p:nvPr>
            <p:ph type="body" idx="1"/>
          </p:nvPr>
        </p:nvSpPr>
        <p:spPr>
          <a:prstGeom prst="rect">
            <a:avLst/>
          </a:prstGeom>
        </p:spPr>
        <p:txBody>
          <a:bodyPr/>
          <a:lstStyle/>
          <a:p>
            <a:pPr/>
            <a:r>
              <a:t>Програмите могат да създават свои собствени изключения, чрез създаване на нов exception class. Изключенията трябва да наследяват класа Exception, директно или индиректно.</a:t>
            </a:r>
          </a:p>
          <a:p>
            <a:pPr/>
            <a:r>
              <a:t>Exception класовете могат да дефинират действия като всеки друг клас, но обикновено се запазват с проста логика, с няколко атрибута, които пренасят важна информация за изключението до потребителя.</a:t>
            </a:r>
          </a:p>
        </p:txBody>
      </p:sp>
    </p:spTree>
  </p:cSld>
  <p:clrMapOvr>
    <a:masterClrMapping/>
  </p:clrMapOvr>
  <p:transition xmlns:p14="http://schemas.microsoft.com/office/powerpoint/2010/main" spd="med" advClick="1"/>
</p:sld>
</file>

<file path=ppt/slides/slide1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User-defined  Exceptions"/>
          <p:cNvSpPr txBox="1"/>
          <p:nvPr>
            <p:ph type="title"/>
          </p:nvPr>
        </p:nvSpPr>
        <p:spPr>
          <a:prstGeom prst="rect">
            <a:avLst/>
          </a:prstGeom>
        </p:spPr>
        <p:txBody>
          <a:bodyPr/>
          <a:lstStyle>
            <a:lvl1pPr defTabSz="554990">
              <a:defRPr sz="7600"/>
            </a:lvl1pPr>
          </a:lstStyle>
          <a:p>
            <a:pPr/>
            <a:r>
              <a:t>User-defined  Exceptions</a:t>
            </a:r>
          </a:p>
        </p:txBody>
      </p:sp>
      <p:sp>
        <p:nvSpPr>
          <p:cNvPr id="653" name="Когато се създава модул, който може да генерира няколко различни грешки, обичайна практика е да се създаде базов клас за изключения, дефиниран от модула и наследник за всеки специален тип изключение за различните грешки. Например:"/>
          <p:cNvSpPr txBox="1"/>
          <p:nvPr>
            <p:ph type="body" idx="1"/>
          </p:nvPr>
        </p:nvSpPr>
        <p:spPr>
          <a:xfrm>
            <a:off x="1384300" y="2609850"/>
            <a:ext cx="11099800" cy="6286500"/>
          </a:xfrm>
          <a:prstGeom prst="rect">
            <a:avLst/>
          </a:prstGeom>
        </p:spPr>
        <p:txBody>
          <a:bodyPr/>
          <a:lstStyle/>
          <a:p>
            <a:pPr/>
            <a:r>
              <a:t>Когато се създава модул, който може да генерира няколко различни грешки, обичайна практика е да се създаде базов клас за изключения, дефиниран от модула и наследник за всеки специален тип изключение за различните грешки. Например:</a:t>
            </a:r>
          </a:p>
        </p:txBody>
      </p:sp>
    </p:spTree>
  </p:cSld>
  <p:clrMapOvr>
    <a:masterClrMapping/>
  </p:clrMapOvr>
  <p:transition xmlns:p14="http://schemas.microsoft.com/office/powerpoint/2010/main" spd="med" advClick="1"/>
</p:sld>
</file>

<file path=ppt/slides/slide1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5" name="User-defined  Exceptions"/>
          <p:cNvSpPr txBox="1"/>
          <p:nvPr>
            <p:ph type="title"/>
          </p:nvPr>
        </p:nvSpPr>
        <p:spPr>
          <a:prstGeom prst="rect">
            <a:avLst/>
          </a:prstGeom>
        </p:spPr>
        <p:txBody>
          <a:bodyPr/>
          <a:lstStyle>
            <a:lvl1pPr defTabSz="554990">
              <a:defRPr sz="7600"/>
            </a:lvl1pPr>
          </a:lstStyle>
          <a:p>
            <a:pPr/>
            <a:r>
              <a:t>User-defined  Exceptions</a:t>
            </a:r>
          </a:p>
        </p:txBody>
      </p:sp>
      <p:sp>
        <p:nvSpPr>
          <p:cNvPr id="656" name="Double-click to edit"/>
          <p:cNvSpPr txBox="1"/>
          <p:nvPr>
            <p:ph type="body" idx="1"/>
          </p:nvPr>
        </p:nvSpPr>
        <p:spPr>
          <a:prstGeom prst="rect">
            <a:avLst/>
          </a:prstGeom>
        </p:spPr>
        <p:txBody>
          <a:bodyPr/>
          <a:lstStyle/>
          <a:p>
            <a:pPr/>
          </a:p>
        </p:txBody>
      </p:sp>
      <p:pic>
        <p:nvPicPr>
          <p:cNvPr id="657" name="Image" descr="Image"/>
          <p:cNvPicPr>
            <a:picLocks noChangeAspect="1"/>
          </p:cNvPicPr>
          <p:nvPr/>
        </p:nvPicPr>
        <p:blipFill>
          <a:blip r:embed="rId2">
            <a:extLst/>
          </a:blip>
          <a:stretch>
            <a:fillRect/>
          </a:stretch>
        </p:blipFill>
        <p:spPr>
          <a:xfrm>
            <a:off x="2288373" y="2232222"/>
            <a:ext cx="9390372" cy="7232256"/>
          </a:xfrm>
          <a:prstGeom prst="rect">
            <a:avLst/>
          </a:prstGeom>
          <a:ln w="12700">
            <a:miter lim="400000"/>
          </a:ln>
        </p:spPr>
      </p:pic>
    </p:spTree>
  </p:cSld>
  <p:clrMapOvr>
    <a:masterClrMapping/>
  </p:clrMapOvr>
  <p:transition xmlns:p14="http://schemas.microsoft.com/office/powerpoint/2010/main" spd="med" advClick="1"/>
</p:sld>
</file>

<file path=ppt/slides/slide1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9" name="User-defined  Exceptions"/>
          <p:cNvSpPr txBox="1"/>
          <p:nvPr>
            <p:ph type="title"/>
          </p:nvPr>
        </p:nvSpPr>
        <p:spPr>
          <a:prstGeom prst="rect">
            <a:avLst/>
          </a:prstGeom>
        </p:spPr>
        <p:txBody>
          <a:bodyPr/>
          <a:lstStyle>
            <a:lvl1pPr defTabSz="554990">
              <a:defRPr sz="7600"/>
            </a:lvl1pPr>
          </a:lstStyle>
          <a:p>
            <a:pPr/>
            <a:r>
              <a:t>User-defined  Exceptions</a:t>
            </a:r>
          </a:p>
        </p:txBody>
      </p:sp>
      <p:sp>
        <p:nvSpPr>
          <p:cNvPr id="660" name="Повечето изключения се дефинират с имена, които завършват на “Error”, по подобие на именоването на стандартните изключения.…"/>
          <p:cNvSpPr txBox="1"/>
          <p:nvPr>
            <p:ph type="body" idx="1"/>
          </p:nvPr>
        </p:nvSpPr>
        <p:spPr>
          <a:prstGeom prst="rect">
            <a:avLst/>
          </a:prstGeom>
        </p:spPr>
        <p:txBody>
          <a:bodyPr/>
          <a:lstStyle/>
          <a:p>
            <a:pPr/>
            <a:r>
              <a:t>Повечето изключения се дефинират с имена, които завършват на “Error”, по подобие на именоването на стандартните изключения.</a:t>
            </a:r>
          </a:p>
          <a:p>
            <a:pPr/>
            <a:r>
              <a:t>Много стандартни модули дефинират техни собствени изключителни ситуации за разпечатване на грешки, които могат да възникнат в дефинираните, в модулите, функции.</a:t>
            </a:r>
          </a:p>
        </p:txBody>
      </p:sp>
    </p:spTree>
  </p:cSld>
  <p:clrMapOvr>
    <a:masterClrMapping/>
  </p:clrMapOvr>
  <p:transition xmlns:p14="http://schemas.microsoft.com/office/powerpoint/2010/main" spd="med" advClick="1"/>
</p:sld>
</file>

<file path=ppt/slides/slide1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2" name="Defining Clean-up Actions"/>
          <p:cNvSpPr txBox="1"/>
          <p:nvPr>
            <p:ph type="title"/>
          </p:nvPr>
        </p:nvSpPr>
        <p:spPr>
          <a:prstGeom prst="rect">
            <a:avLst/>
          </a:prstGeom>
        </p:spPr>
        <p:txBody>
          <a:bodyPr/>
          <a:lstStyle>
            <a:lvl1pPr defTabSz="537463">
              <a:defRPr sz="7360"/>
            </a:lvl1pPr>
          </a:lstStyle>
          <a:p>
            <a:pPr/>
            <a:r>
              <a:t>Defining Clean-up Actions</a:t>
            </a:r>
          </a:p>
        </p:txBody>
      </p:sp>
      <p:sp>
        <p:nvSpPr>
          <p:cNvPr id="663" name="Операторът try има още една опционна клауза finally, която дефинира почистващи (clean-up) действия. Те се изпълняват при всички случаи. Например:"/>
          <p:cNvSpPr txBox="1"/>
          <p:nvPr>
            <p:ph type="body" idx="1"/>
          </p:nvPr>
        </p:nvSpPr>
        <p:spPr>
          <a:prstGeom prst="rect">
            <a:avLst/>
          </a:prstGeom>
        </p:spPr>
        <p:txBody>
          <a:bodyPr/>
          <a:lstStyle/>
          <a:p>
            <a:pPr/>
            <a:r>
              <a:t>Операторът try има още една опционна клауза finally, която дефинира почистващи (clean-up) действия. Те се изпълняват при всички случаи. Например:</a:t>
            </a:r>
          </a:p>
          <a:p>
            <a:pPr/>
          </a:p>
          <a:p>
            <a:pPr/>
          </a:p>
        </p:txBody>
      </p:sp>
      <p:pic>
        <p:nvPicPr>
          <p:cNvPr id="664" name="Image" descr="Image"/>
          <p:cNvPicPr>
            <a:picLocks noChangeAspect="1"/>
          </p:cNvPicPr>
          <p:nvPr/>
        </p:nvPicPr>
        <p:blipFill>
          <a:blip r:embed="rId2">
            <a:extLst/>
          </a:blip>
          <a:stretch>
            <a:fillRect/>
          </a:stretch>
        </p:blipFill>
        <p:spPr>
          <a:xfrm>
            <a:off x="2305550" y="5279660"/>
            <a:ext cx="8870450" cy="4423140"/>
          </a:xfrm>
          <a:prstGeom prst="rect">
            <a:avLst/>
          </a:prstGeom>
          <a:ln w="12700">
            <a:miter lim="400000"/>
          </a:ln>
        </p:spPr>
      </p:pic>
    </p:spTree>
  </p:cSld>
  <p:clrMapOvr>
    <a:masterClrMapping/>
  </p:clrMapOvr>
  <p:transition xmlns:p14="http://schemas.microsoft.com/office/powerpoint/2010/main" spd="med" advClick="1"/>
</p:sld>
</file>

<file path=ppt/slides/slide1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6" name="Defining Clean-up Actions"/>
          <p:cNvSpPr txBox="1"/>
          <p:nvPr>
            <p:ph type="title"/>
          </p:nvPr>
        </p:nvSpPr>
        <p:spPr>
          <a:prstGeom prst="rect">
            <a:avLst/>
          </a:prstGeom>
        </p:spPr>
        <p:txBody>
          <a:bodyPr/>
          <a:lstStyle>
            <a:lvl1pPr defTabSz="537463">
              <a:defRPr sz="7360"/>
            </a:lvl1pPr>
          </a:lstStyle>
          <a:p>
            <a:pPr/>
            <a:r>
              <a:t>Defining Clean-up Actions</a:t>
            </a:r>
          </a:p>
        </p:txBody>
      </p:sp>
      <p:sp>
        <p:nvSpPr>
          <p:cNvPr id="667" name="Ако клаузата finally присъства, тя ще се изпълни последна, преди приключване на оператор try. Клаузата finally се стартира независимо дали има изключение или не. Ето как се изпълнява finally, в зависимост от изключението - има ли го или не:…"/>
          <p:cNvSpPr txBox="1"/>
          <p:nvPr>
            <p:ph type="body" idx="1"/>
          </p:nvPr>
        </p:nvSpPr>
        <p:spPr>
          <a:prstGeom prst="rect">
            <a:avLst/>
          </a:prstGeom>
        </p:spPr>
        <p:txBody>
          <a:bodyPr/>
          <a:lstStyle/>
          <a:p>
            <a:pPr/>
            <a:r>
              <a:t>Ако клаузата finally присъства, тя ще се изпълни последна, преди приключване на оператор try. Клаузата finally се стартира независимо дали има изключение или не. Ето как се изпълнява finally, в зависимост от изключението - има ли го или не:</a:t>
            </a:r>
          </a:p>
          <a:p>
            <a:pPr lvl="1"/>
            <a:r>
              <a:t>Ако има изключение при изпълнение на клаузата try, изключението може да се прихване пт клауза except. Ако изключението не се прихване, то то се активира отново (re-raised) след изпълнението на клаузата finally.</a:t>
            </a:r>
          </a:p>
        </p:txBody>
      </p:sp>
    </p:spTree>
  </p:cSld>
  <p:clrMapOvr>
    <a:masterClrMapping/>
  </p:clrMapOvr>
  <p:transition xmlns:p14="http://schemas.microsoft.com/office/powerpoint/2010/main" spd="med" advClick="1"/>
</p:sld>
</file>

<file path=ppt/slides/slide1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9" name="Defining Clean-up Actions"/>
          <p:cNvSpPr txBox="1"/>
          <p:nvPr>
            <p:ph type="title"/>
          </p:nvPr>
        </p:nvSpPr>
        <p:spPr>
          <a:prstGeom prst="rect">
            <a:avLst/>
          </a:prstGeom>
        </p:spPr>
        <p:txBody>
          <a:bodyPr/>
          <a:lstStyle>
            <a:lvl1pPr defTabSz="537463">
              <a:defRPr sz="7360"/>
            </a:lvl1pPr>
          </a:lstStyle>
          <a:p>
            <a:pPr/>
            <a:r>
              <a:t>Defining Clean-up Actions</a:t>
            </a:r>
          </a:p>
        </p:txBody>
      </p:sp>
      <p:sp>
        <p:nvSpPr>
          <p:cNvPr id="670" name="Ако изключението възникне по време на изпълнение на клауза except или else, то се активира отново след изпълнение на клауза finally.…"/>
          <p:cNvSpPr txBox="1"/>
          <p:nvPr>
            <p:ph type="body" idx="1"/>
          </p:nvPr>
        </p:nvSpPr>
        <p:spPr>
          <a:prstGeom prst="rect">
            <a:avLst/>
          </a:prstGeom>
        </p:spPr>
        <p:txBody>
          <a:bodyPr/>
          <a:lstStyle/>
          <a:p>
            <a:pPr lvl="1" marL="791209" indent="-395604" defTabSz="519937">
              <a:spcBef>
                <a:spcPts val="3700"/>
              </a:spcBef>
              <a:defRPr sz="3204"/>
            </a:pPr>
            <a:r>
              <a:t>Ако изключението възникне по време на изпълнение на клауза except или else, то се активира отново след изпълнение на клауза finally.</a:t>
            </a:r>
          </a:p>
          <a:p>
            <a:pPr lvl="1" marL="791209" indent="-395604" defTabSz="519937">
              <a:spcBef>
                <a:spcPts val="3700"/>
              </a:spcBef>
              <a:defRPr sz="3204"/>
            </a:pPr>
            <a:r>
              <a:t>Ако операторът try достигне оператор break, continue или return, клаузата finally ще се изпълни точно преди изпълнението на break, continue или return.</a:t>
            </a:r>
          </a:p>
          <a:p>
            <a:pPr lvl="1" marL="791209" indent="-395604" defTabSz="519937">
              <a:spcBef>
                <a:spcPts val="3700"/>
              </a:spcBef>
              <a:defRPr sz="3204"/>
            </a:pPr>
            <a:r>
              <a:t>Ако клауза finally включва оператор return, връщаната стойност ще бъде тази от оператора return statement във finally, а не стойността в оператора return на клауза try.</a:t>
            </a:r>
          </a:p>
        </p:txBody>
      </p:sp>
    </p:spTree>
  </p:cSld>
  <p:clrMapOvr>
    <a:masterClrMapping/>
  </p:clrMapOvr>
  <p:transition xmlns:p14="http://schemas.microsoft.com/office/powerpoint/2010/main" spd="med" advClick="1"/>
</p:sld>
</file>

<file path=ppt/slides/slide1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2" name="Defining Clean-up Actions"/>
          <p:cNvSpPr txBox="1"/>
          <p:nvPr>
            <p:ph type="title"/>
          </p:nvPr>
        </p:nvSpPr>
        <p:spPr>
          <a:prstGeom prst="rect">
            <a:avLst/>
          </a:prstGeom>
        </p:spPr>
        <p:txBody>
          <a:bodyPr/>
          <a:lstStyle>
            <a:lvl1pPr defTabSz="537463">
              <a:defRPr sz="7360"/>
            </a:lvl1pPr>
          </a:lstStyle>
          <a:p>
            <a:pPr/>
            <a:r>
              <a:t>Defining Clean-up Actions</a:t>
            </a:r>
          </a:p>
        </p:txBody>
      </p:sp>
      <p:sp>
        <p:nvSpPr>
          <p:cNvPr id="673" name="Пример:"/>
          <p:cNvSpPr txBox="1"/>
          <p:nvPr>
            <p:ph type="body" idx="1"/>
          </p:nvPr>
        </p:nvSpPr>
        <p:spPr>
          <a:prstGeom prst="rect">
            <a:avLst/>
          </a:prstGeom>
        </p:spPr>
        <p:txBody>
          <a:bodyPr/>
          <a:lstStyle/>
          <a:p>
            <a:pPr/>
            <a:r>
              <a:t>Пример:</a:t>
            </a:r>
          </a:p>
          <a:p>
            <a:pPr/>
          </a:p>
          <a:p>
            <a:pPr/>
          </a:p>
          <a:p>
            <a:pPr/>
          </a:p>
          <a:p>
            <a:pPr/>
          </a:p>
        </p:txBody>
      </p:sp>
      <p:pic>
        <p:nvPicPr>
          <p:cNvPr id="674" name="Image" descr="Image"/>
          <p:cNvPicPr>
            <a:picLocks noChangeAspect="1"/>
          </p:cNvPicPr>
          <p:nvPr/>
        </p:nvPicPr>
        <p:blipFill>
          <a:blip r:embed="rId2">
            <a:extLst/>
          </a:blip>
          <a:stretch>
            <a:fillRect/>
          </a:stretch>
        </p:blipFill>
        <p:spPr>
          <a:xfrm>
            <a:off x="3378200" y="3390900"/>
            <a:ext cx="6248400" cy="4064000"/>
          </a:xfrm>
          <a:prstGeom prst="rect">
            <a:avLst/>
          </a:prstGeom>
          <a:ln w="12700">
            <a:miter lim="400000"/>
          </a:ln>
        </p:spPr>
      </p:pic>
    </p:spTree>
  </p:cSld>
  <p:clrMapOvr>
    <a:masterClrMapping/>
  </p:clrMapOvr>
  <p:transition xmlns:p14="http://schemas.microsoft.com/office/powerpoint/2010/main" spd="med" advClick="1"/>
</p:sld>
</file>

<file path=ppt/slides/slide1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6" name="Defining Clean-up Actions"/>
          <p:cNvSpPr txBox="1"/>
          <p:nvPr>
            <p:ph type="title"/>
          </p:nvPr>
        </p:nvSpPr>
        <p:spPr>
          <a:prstGeom prst="rect">
            <a:avLst/>
          </a:prstGeom>
        </p:spPr>
        <p:txBody>
          <a:bodyPr/>
          <a:lstStyle>
            <a:lvl1pPr defTabSz="537463">
              <a:defRPr sz="7360"/>
            </a:lvl1pPr>
          </a:lstStyle>
          <a:p>
            <a:pPr/>
            <a:r>
              <a:t>Defining Clean-up Actions</a:t>
            </a:r>
          </a:p>
        </p:txBody>
      </p:sp>
      <p:sp>
        <p:nvSpPr>
          <p:cNvPr id="677" name="По-сложен пример:"/>
          <p:cNvSpPr txBox="1"/>
          <p:nvPr>
            <p:ph type="body" idx="1"/>
          </p:nvPr>
        </p:nvSpPr>
        <p:spPr>
          <a:prstGeom prst="rect">
            <a:avLst/>
          </a:prstGeom>
        </p:spPr>
        <p:txBody>
          <a:bodyPr/>
          <a:lstStyle/>
          <a:p>
            <a:pPr marL="391159" indent="-391159" defTabSz="514095">
              <a:spcBef>
                <a:spcPts val="3600"/>
              </a:spcBef>
              <a:defRPr sz="3168"/>
            </a:pPr>
            <a:r>
              <a:t>По-сложен пример:</a:t>
            </a: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p>
          <a:p>
            <a:pPr marL="391159" indent="-391159" defTabSz="514095">
              <a:spcBef>
                <a:spcPts val="3600"/>
              </a:spcBef>
              <a:defRPr sz="3168"/>
            </a:pPr>
          </a:p>
        </p:txBody>
      </p:sp>
      <p:pic>
        <p:nvPicPr>
          <p:cNvPr id="678" name="Image" descr="Image"/>
          <p:cNvPicPr>
            <a:picLocks noChangeAspect="1"/>
          </p:cNvPicPr>
          <p:nvPr/>
        </p:nvPicPr>
        <p:blipFill>
          <a:blip r:embed="rId2">
            <a:extLst/>
          </a:blip>
          <a:stretch>
            <a:fillRect/>
          </a:stretch>
        </p:blipFill>
        <p:spPr>
          <a:xfrm>
            <a:off x="2247900" y="3391115"/>
            <a:ext cx="8509000" cy="6130617"/>
          </a:xfrm>
          <a:prstGeom prst="rect">
            <a:avLst/>
          </a:prstGeom>
          <a:ln w="12700">
            <a:miter lim="400000"/>
          </a:ln>
        </p:spPr>
      </p:pic>
    </p:spTree>
  </p:cSld>
  <p:clrMapOvr>
    <a:masterClrMapping/>
  </p:clrMapOvr>
  <p:transition xmlns:p14="http://schemas.microsoft.com/office/powerpoint/2010/main" spd="med" advClick="1"/>
</p:sld>
</file>

<file path=ppt/slides/slide1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0" name="Defining Clean-up Actions"/>
          <p:cNvSpPr txBox="1"/>
          <p:nvPr>
            <p:ph type="title"/>
          </p:nvPr>
        </p:nvSpPr>
        <p:spPr>
          <a:prstGeom prst="rect">
            <a:avLst/>
          </a:prstGeom>
        </p:spPr>
        <p:txBody>
          <a:bodyPr/>
          <a:lstStyle>
            <a:lvl1pPr defTabSz="537463">
              <a:defRPr sz="7360"/>
            </a:lvl1pPr>
          </a:lstStyle>
          <a:p>
            <a:pPr/>
            <a:r>
              <a:t>Defining Clean-up Actions</a:t>
            </a:r>
          </a:p>
        </p:txBody>
      </p:sp>
      <p:sp>
        <p:nvSpPr>
          <p:cNvPr id="681" name="Примерите показват, че клаузата finally се изпълнява при всяко събитие. Изключението TypeError се активира при операция делене, ако са подадени параметри низове, вместо числа. То възниква след изпълнението на клауза finally.…"/>
          <p:cNvSpPr txBox="1"/>
          <p:nvPr>
            <p:ph type="body" idx="1"/>
          </p:nvPr>
        </p:nvSpPr>
        <p:spPr>
          <a:prstGeom prst="rect">
            <a:avLst/>
          </a:prstGeom>
        </p:spPr>
        <p:txBody>
          <a:bodyPr/>
          <a:lstStyle/>
          <a:p>
            <a:pPr/>
            <a:r>
              <a:t>Примерите показват, че клаузата finally се изпълнява при всяко събитие. Изключението TypeError се активира при операция делене, ако са подадени параметри низове, вместо числа. То възниква след изпълнението на клауза finally.</a:t>
            </a:r>
          </a:p>
          <a:p>
            <a:pPr/>
            <a:r>
              <a:t>При реалните приложения, клаузата finally е полезна за освобождаване на външни ресурси като файлове или мрежови връзки, независимо дали използването на ресурсите е успешно или не.</a:t>
            </a:r>
          </a:p>
        </p:txBody>
      </p:sp>
    </p:spTree>
  </p:cSld>
  <p:clrMapOvr>
    <a:masterClrMapping/>
  </p:clrMapOvr>
  <p:transition xmlns:p14="http://schemas.microsoft.com/office/powerpoint/2010/main" spd="med" advClick="1"/>
</p:sld>
</file>

<file path=ppt/slides/slide1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3" name="Predefined Clean-up Actions"/>
          <p:cNvSpPr txBox="1"/>
          <p:nvPr>
            <p:ph type="title"/>
          </p:nvPr>
        </p:nvSpPr>
        <p:spPr>
          <a:prstGeom prst="rect">
            <a:avLst/>
          </a:prstGeom>
        </p:spPr>
        <p:txBody>
          <a:bodyPr/>
          <a:lstStyle>
            <a:lvl1pPr defTabSz="490727">
              <a:defRPr sz="6719"/>
            </a:lvl1pPr>
          </a:lstStyle>
          <a:p>
            <a:pPr/>
            <a:r>
              <a:t>Predefined Clean-up Actions</a:t>
            </a:r>
          </a:p>
        </p:txBody>
      </p:sp>
      <p:sp>
        <p:nvSpPr>
          <p:cNvPr id="684" name="Някои обекти изискват стандартни почистващи действия, когато обекта повече не е необходим, независимо дали операцията по използване на обекта е успешна или не. Например, отваряне на файл и отпечатване на неговото съдържание:"/>
          <p:cNvSpPr txBox="1"/>
          <p:nvPr>
            <p:ph type="body" idx="1"/>
          </p:nvPr>
        </p:nvSpPr>
        <p:spPr>
          <a:prstGeom prst="rect">
            <a:avLst/>
          </a:prstGeom>
        </p:spPr>
        <p:txBody>
          <a:bodyPr/>
          <a:lstStyle/>
          <a:p>
            <a:pPr/>
            <a:r>
              <a:t>Някои обекти изискват стандартни почистващи действия, когато обекта повече не е необходим, независимо дали операцията по използване на обекта е успешна или не. Например, отваряне на файл и отпечатване на неговото съдържание:</a:t>
            </a:r>
          </a:p>
          <a:p>
            <a:pPr/>
          </a:p>
        </p:txBody>
      </p:sp>
      <p:pic>
        <p:nvPicPr>
          <p:cNvPr id="685" name="Image" descr="Image"/>
          <p:cNvPicPr>
            <a:picLocks noChangeAspect="1"/>
          </p:cNvPicPr>
          <p:nvPr/>
        </p:nvPicPr>
        <p:blipFill>
          <a:blip r:embed="rId2">
            <a:extLst/>
          </a:blip>
          <a:stretch>
            <a:fillRect/>
          </a:stretch>
        </p:blipFill>
        <p:spPr>
          <a:xfrm>
            <a:off x="2654300" y="6807200"/>
            <a:ext cx="7696200" cy="1320800"/>
          </a:xfrm>
          <a:prstGeom prst="rect">
            <a:avLst/>
          </a:prstGeom>
          <a:ln w="12700">
            <a:miter lim="400000"/>
          </a:ln>
        </p:spPr>
      </p:pic>
    </p:spTree>
  </p:cSld>
  <p:clrMapOvr>
    <a:masterClrMapping/>
  </p:clrMapOvr>
  <p:transition xmlns:p14="http://schemas.microsoft.com/office/powerpoint/2010/main" spd="med" advClick="1"/>
</p:sld>
</file>

<file path=ppt/slides/slide1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7" name="Predefined Clean-up Actions"/>
          <p:cNvSpPr txBox="1"/>
          <p:nvPr>
            <p:ph type="title"/>
          </p:nvPr>
        </p:nvSpPr>
        <p:spPr>
          <a:prstGeom prst="rect">
            <a:avLst/>
          </a:prstGeom>
        </p:spPr>
        <p:txBody>
          <a:bodyPr/>
          <a:lstStyle>
            <a:lvl1pPr defTabSz="490727">
              <a:defRPr sz="6719"/>
            </a:lvl1pPr>
          </a:lstStyle>
          <a:p>
            <a:pPr/>
            <a:r>
              <a:t>Predefined Clean-up Actions</a:t>
            </a:r>
          </a:p>
        </p:txBody>
      </p:sp>
      <p:sp>
        <p:nvSpPr>
          <p:cNvPr id="688" name="Проблемът с посочения код е, че той оставя файла отворен неопределено време след приключване на работата с него. Това няма да бъде проблем при малки програми, но не така стои въпроса с големи и сложни пролижения. Операторът with позволява на обектите кат"/>
          <p:cNvSpPr txBox="1"/>
          <p:nvPr>
            <p:ph type="body" idx="1"/>
          </p:nvPr>
        </p:nvSpPr>
        <p:spPr>
          <a:prstGeom prst="rect">
            <a:avLst/>
          </a:prstGeom>
        </p:spPr>
        <p:txBody>
          <a:bodyPr/>
          <a:lstStyle/>
          <a:p>
            <a:pPr/>
            <a:r>
              <a:t>Проблемът с посочения код е, че той оставя файла отворен неопределено време след приключване на работата с него. Това няма да бъде проблем при малки програми, но не така стои въпроса с големи и сложни пролижения. Операторът with позволява на обектите като файлове, да се използват по начин, с който се гарантира правилното им почистване от паметта след края на работата с тях.</a:t>
            </a:r>
          </a:p>
        </p:txBody>
      </p:sp>
    </p:spTree>
  </p:cSld>
  <p:clrMapOvr>
    <a:masterClrMapping/>
  </p:clrMapOvr>
  <p:transition xmlns:p14="http://schemas.microsoft.com/office/powerpoint/2010/main" spd="med" advClick="1"/>
</p:sld>
</file>

<file path=ppt/slides/slide1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0" name="Predefined Clean-up Actions"/>
          <p:cNvSpPr txBox="1"/>
          <p:nvPr>
            <p:ph type="title"/>
          </p:nvPr>
        </p:nvSpPr>
        <p:spPr>
          <a:prstGeom prst="rect">
            <a:avLst/>
          </a:prstGeom>
        </p:spPr>
        <p:txBody>
          <a:bodyPr/>
          <a:lstStyle>
            <a:lvl1pPr defTabSz="490727">
              <a:defRPr sz="6719"/>
            </a:lvl1pPr>
          </a:lstStyle>
          <a:p>
            <a:pPr/>
            <a:r>
              <a:t>Predefined Clean-up Actions</a:t>
            </a:r>
          </a:p>
        </p:txBody>
      </p:sp>
      <p:sp>
        <p:nvSpPr>
          <p:cNvPr id="691" name="След изпълнението на примера, файлът f винаги се затваря, дори да е възникнал проблем при неговата обработка. Обектите като файлове, които предоставят предефинирани почистващи действия (predefined clean-up actions), показват това в тяхната документация."/>
          <p:cNvSpPr txBox="1"/>
          <p:nvPr>
            <p:ph type="body" idx="1"/>
          </p:nvPr>
        </p:nvSpPr>
        <p:spPr>
          <a:prstGeom prst="rect">
            <a:avLst/>
          </a:prstGeom>
        </p:spPr>
        <p:txBody>
          <a:bodyPr/>
          <a:lstStyle/>
          <a:p>
            <a:pPr/>
            <a:r>
              <a:t>След изпълнението на примера, файлът f винаги се затваря, дори да е възникнал проблем при неговата обработка. Обектите като файлове, които предоставят предефинирани почистващи действия (predefined clean-up actions), показват това в тяхната документация.</a:t>
            </a:r>
          </a:p>
        </p:txBody>
      </p:sp>
      <p:pic>
        <p:nvPicPr>
          <p:cNvPr id="692" name="Image" descr="Image"/>
          <p:cNvPicPr>
            <a:picLocks noChangeAspect="1"/>
          </p:cNvPicPr>
          <p:nvPr/>
        </p:nvPicPr>
        <p:blipFill>
          <a:blip r:embed="rId2">
            <a:extLst/>
          </a:blip>
          <a:stretch>
            <a:fillRect/>
          </a:stretch>
        </p:blipFill>
        <p:spPr>
          <a:xfrm>
            <a:off x="2755900" y="2311400"/>
            <a:ext cx="7493000" cy="1905000"/>
          </a:xfrm>
          <a:prstGeom prst="rect">
            <a:avLst/>
          </a:prstGeom>
          <a:ln w="12700">
            <a:miter lim="400000"/>
          </a:ln>
        </p:spPr>
      </p:pic>
    </p:spTree>
  </p:cSld>
  <p:clrMapOvr>
    <a:masterClrMapping/>
  </p:clrMapOvr>
  <p:transition xmlns:p14="http://schemas.microsoft.com/office/powerpoint/2010/main" spd="med" advClick="1"/>
</p:sld>
</file>

<file path=ppt/theme/_rels/theme1.xml.rels><?xml version="1.0" encoding="UTF-8"?>
<Relationships xmlns="http://schemas.openxmlformats.org/package/2006/relationships"><Relationship Id="rId1" Type="http://schemas.openxmlformats.org/officeDocument/2006/relationships/image" Target="../media/image1.png"/></Relationships>

</file>

<file path=ppt/theme/_rels/theme2.xml.rels><?xml version="1.0" encoding="UTF-8"?>
<Relationships xmlns="http://schemas.openxmlformats.org/package/2006/relationships"><Relationship Id="rId1" Type="http://schemas.openxmlformats.org/officeDocument/2006/relationships/image" Target="../media/image2.png"/></Relationships>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